
<file path=[Content_Types].xml><?xml version="1.0" encoding="utf-8"?>
<Types xmlns="http://schemas.openxmlformats.org/package/2006/content-types">
  <Default Extension="fntdata" ContentType="application/x-fontdata"/>
  <Default Extension="jfif" ContentType="image/jpeg"/>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8"/>
  </p:notesMasterIdLst>
  <p:sldIdLst>
    <p:sldId id="256" r:id="rId2"/>
    <p:sldId id="257" r:id="rId3"/>
    <p:sldId id="258" r:id="rId4"/>
    <p:sldId id="260" r:id="rId5"/>
    <p:sldId id="269" r:id="rId6"/>
    <p:sldId id="267" r:id="rId7"/>
    <p:sldId id="268" r:id="rId8"/>
    <p:sldId id="270" r:id="rId9"/>
    <p:sldId id="261" r:id="rId10"/>
    <p:sldId id="265" r:id="rId11"/>
    <p:sldId id="262" r:id="rId12"/>
    <p:sldId id="276" r:id="rId13"/>
    <p:sldId id="271" r:id="rId14"/>
    <p:sldId id="272" r:id="rId15"/>
    <p:sldId id="273" r:id="rId16"/>
    <p:sldId id="275" r:id="rId17"/>
  </p:sldIdLst>
  <p:sldSz cx="12192000" cy="6858000"/>
  <p:notesSz cx="6858000" cy="9144000"/>
  <p:embeddedFontLst>
    <p:embeddedFont>
      <p:font typeface="Poppins"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8">
          <p15:clr>
            <a:srgbClr val="A4A3A4"/>
          </p15:clr>
        </p15:guide>
        <p15:guide id="2" pos="666">
          <p15:clr>
            <a:srgbClr val="A4A3A4"/>
          </p15:clr>
        </p15:guide>
        <p15:guide id="3" pos="5972">
          <p15:clr>
            <a:srgbClr val="A4A3A4"/>
          </p15:clr>
        </p15:guide>
        <p15:guide id="4" pos="4271">
          <p15:clr>
            <a:srgbClr val="A4A3A4"/>
          </p15:clr>
        </p15:guide>
        <p15:guide id="5" orient="horz" pos="1842">
          <p15:clr>
            <a:srgbClr val="A4A3A4"/>
          </p15:clr>
        </p15:guide>
        <p15:guide id="6" orient="horz" pos="1638">
          <p15:clr>
            <a:srgbClr val="A4A3A4"/>
          </p15:clr>
        </p15:guide>
        <p15:guide id="7" pos="834">
          <p15:clr>
            <a:srgbClr val="747775"/>
          </p15:clr>
        </p15:guide>
        <p15:guide id="8" orient="horz" pos="581">
          <p15:clr>
            <a:srgbClr val="747775"/>
          </p15:clr>
        </p15:guide>
        <p15:guide id="9" pos="393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4178"/>
        <p:guide pos="666"/>
        <p:guide pos="5972"/>
        <p:guide pos="4271"/>
        <p:guide orient="horz" pos="1842"/>
        <p:guide orient="horz" pos="1638"/>
        <p:guide pos="834"/>
        <p:guide orient="horz" pos="581"/>
        <p:guide pos="39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Lbls>
            <c:dLbl>
              <c:idx val="0"/>
              <c:tx>
                <c:rich>
                  <a:bodyPr/>
                  <a:lstStyle/>
                  <a:p>
                    <a:fld id="{6A77D851-3328-4597-9C50-5F36E7DD4F3D}" type="VALUE">
                      <a:rPr lang="en-US" smtClean="0"/>
                      <a:pPr/>
                      <a:t>[VALUE]</a:t>
                    </a:fld>
                    <a:r>
                      <a:rPr lang="en-US"/>
                      <a:t>M</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5079-4753-8B24-1D4CDDE6D2D0}"/>
                </c:ext>
              </c:extLst>
            </c:dLbl>
            <c:dLbl>
              <c:idx val="1"/>
              <c:tx>
                <c:rich>
                  <a:bodyPr/>
                  <a:lstStyle/>
                  <a:p>
                    <a:fld id="{217B7CB6-9599-44BB-BFE0-432270F4B6FD}" type="VALUE">
                      <a:rPr lang="en-US" smtClean="0"/>
                      <a:pPr/>
                      <a:t>[VALUE]</a:t>
                    </a:fld>
                    <a:r>
                      <a:rPr lang="en-US"/>
                      <a:t>M</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5079-4753-8B24-1D4CDDE6D2D0}"/>
                </c:ext>
              </c:extLst>
            </c:dLbl>
            <c:dLbl>
              <c:idx val="2"/>
              <c:tx>
                <c:rich>
                  <a:bodyPr/>
                  <a:lstStyle/>
                  <a:p>
                    <a:fld id="{F6B27408-BE65-41F5-9ED9-D0FA702767DD}" type="VALUE">
                      <a:rPr lang="en-US" smtClean="0"/>
                      <a:pPr/>
                      <a:t>[VALUE]</a:t>
                    </a:fld>
                    <a:r>
                      <a:rPr lang="en-US"/>
                      <a:t>M</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5079-4753-8B24-1D4CDDE6D2D0}"/>
                </c:ext>
              </c:extLst>
            </c:dLbl>
            <c:dLbl>
              <c:idx val="3"/>
              <c:tx>
                <c:rich>
                  <a:bodyPr/>
                  <a:lstStyle/>
                  <a:p>
                    <a:fld id="{B21372BD-146B-45C1-A00F-1E9E01D4E32E}" type="VALUE">
                      <a:rPr lang="en-US" smtClean="0"/>
                      <a:pPr/>
                      <a:t>[VALUE]</a:t>
                    </a:fld>
                    <a:r>
                      <a:rPr lang="en-US"/>
                      <a:t>M</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079-4753-8B24-1D4CDDE6D2D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Youtube</c:v>
                </c:pt>
                <c:pt idx="1">
                  <c:v>Facebook</c:v>
                </c:pt>
                <c:pt idx="2">
                  <c:v>Twitter</c:v>
                </c:pt>
                <c:pt idx="3">
                  <c:v>Instagram</c:v>
                </c:pt>
              </c:strCache>
            </c:strRef>
          </c:cat>
          <c:val>
            <c:numRef>
              <c:f>Sheet1!$B$2:$B$5</c:f>
              <c:numCache>
                <c:formatCode>General</c:formatCode>
                <c:ptCount val="4"/>
                <c:pt idx="0">
                  <c:v>0.5</c:v>
                </c:pt>
                <c:pt idx="1">
                  <c:v>1.9</c:v>
                </c:pt>
                <c:pt idx="2">
                  <c:v>1.8</c:v>
                </c:pt>
                <c:pt idx="3">
                  <c:v>1.5</c:v>
                </c:pt>
              </c:numCache>
            </c:numRef>
          </c:val>
          <c:extLst>
            <c:ext xmlns:c16="http://schemas.microsoft.com/office/drawing/2014/chart" uri="{C3380CC4-5D6E-409C-BE32-E72D297353CC}">
              <c16:uniqueId val="{00000000-5079-4753-8B24-1D4CDDE6D2D0}"/>
            </c:ext>
          </c:extLst>
        </c:ser>
        <c:dLbls>
          <c:dLblPos val="inEnd"/>
          <c:showLegendKey val="0"/>
          <c:showVal val="1"/>
          <c:showCatName val="0"/>
          <c:showSerName val="0"/>
          <c:showPercent val="0"/>
          <c:showBubbleSize val="0"/>
        </c:dLbls>
        <c:gapWidth val="182"/>
        <c:axId val="708254304"/>
        <c:axId val="708253344"/>
      </c:barChart>
      <c:catAx>
        <c:axId val="70825430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rgbClr val="FF0000"/>
                </a:solidFill>
                <a:latin typeface="+mn-lt"/>
                <a:ea typeface="+mn-ea"/>
                <a:cs typeface="+mn-cs"/>
              </a:defRPr>
            </a:pPr>
            <a:endParaRPr lang="en-US"/>
          </a:p>
        </c:txPr>
        <c:crossAx val="708253344"/>
        <c:crosses val="autoZero"/>
        <c:auto val="1"/>
        <c:lblAlgn val="ctr"/>
        <c:lblOffset val="100"/>
        <c:noMultiLvlLbl val="0"/>
      </c:catAx>
      <c:valAx>
        <c:axId val="708253344"/>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7082543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CC0E3E13-690A-96B6-486C-CD73E31AB849}"/>
            </a:ext>
          </a:extLst>
        </p:cNvPr>
        <p:cNvGrpSpPr/>
        <p:nvPr/>
      </p:nvGrpSpPr>
      <p:grpSpPr>
        <a:xfrm>
          <a:off x="0" y="0"/>
          <a:ext cx="0" cy="0"/>
          <a:chOff x="0" y="0"/>
          <a:chExt cx="0" cy="0"/>
        </a:xfrm>
      </p:grpSpPr>
      <p:sp>
        <p:nvSpPr>
          <p:cNvPr id="123" name="Google Shape;123;p2:notes">
            <a:extLst>
              <a:ext uri="{FF2B5EF4-FFF2-40B4-BE49-F238E27FC236}">
                <a16:creationId xmlns:a16="http://schemas.microsoft.com/office/drawing/2014/main" id="{9FF05462-A565-BDA9-F129-345E736907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2:notes">
            <a:extLst>
              <a:ext uri="{FF2B5EF4-FFF2-40B4-BE49-F238E27FC236}">
                <a16:creationId xmlns:a16="http://schemas.microsoft.com/office/drawing/2014/main" id="{78765768-A240-5D94-778F-1A3E2954CC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2611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a:extLst>
            <a:ext uri="{FF2B5EF4-FFF2-40B4-BE49-F238E27FC236}">
              <a16:creationId xmlns:a16="http://schemas.microsoft.com/office/drawing/2014/main" id="{0A592107-731E-07FE-051E-D5A6B24A86B7}"/>
            </a:ext>
          </a:extLst>
        </p:cNvPr>
        <p:cNvGrpSpPr/>
        <p:nvPr/>
      </p:nvGrpSpPr>
      <p:grpSpPr>
        <a:xfrm>
          <a:off x="0" y="0"/>
          <a:ext cx="0" cy="0"/>
          <a:chOff x="0" y="0"/>
          <a:chExt cx="0" cy="0"/>
        </a:xfrm>
      </p:grpSpPr>
      <p:sp>
        <p:nvSpPr>
          <p:cNvPr id="273" name="Google Shape;273;p7:notes">
            <a:extLst>
              <a:ext uri="{FF2B5EF4-FFF2-40B4-BE49-F238E27FC236}">
                <a16:creationId xmlns:a16="http://schemas.microsoft.com/office/drawing/2014/main" id="{E9A567FE-D94E-6EEF-9D8C-6E93BB87A0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7:notes">
            <a:extLst>
              <a:ext uri="{FF2B5EF4-FFF2-40B4-BE49-F238E27FC236}">
                <a16:creationId xmlns:a16="http://schemas.microsoft.com/office/drawing/2014/main" id="{F0CE811B-B9C4-84A7-3124-44D191D926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1171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703BBF74-3E43-98AE-5CFE-D9AF970F2D33}"/>
            </a:ext>
          </a:extLst>
        </p:cNvPr>
        <p:cNvGrpSpPr/>
        <p:nvPr/>
      </p:nvGrpSpPr>
      <p:grpSpPr>
        <a:xfrm>
          <a:off x="0" y="0"/>
          <a:ext cx="0" cy="0"/>
          <a:chOff x="0" y="0"/>
          <a:chExt cx="0" cy="0"/>
        </a:xfrm>
      </p:grpSpPr>
      <p:sp>
        <p:nvSpPr>
          <p:cNvPr id="368" name="Google Shape;368;p10:notes">
            <a:extLst>
              <a:ext uri="{FF2B5EF4-FFF2-40B4-BE49-F238E27FC236}">
                <a16:creationId xmlns:a16="http://schemas.microsoft.com/office/drawing/2014/main" id="{A6F44722-C18A-8192-57F1-C87BC7AA07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a:extLst>
              <a:ext uri="{FF2B5EF4-FFF2-40B4-BE49-F238E27FC236}">
                <a16:creationId xmlns:a16="http://schemas.microsoft.com/office/drawing/2014/main" id="{3A1390BD-5C30-206F-2F1D-10D10E975B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0:notes">
            <a:extLst>
              <a:ext uri="{FF2B5EF4-FFF2-40B4-BE49-F238E27FC236}">
                <a16:creationId xmlns:a16="http://schemas.microsoft.com/office/drawing/2014/main" id="{D1A8ED90-E19F-CFEF-200F-0741F8DB61E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312534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5A2FE501-4903-88A6-F835-0B9CC2D7E355}"/>
            </a:ext>
          </a:extLst>
        </p:cNvPr>
        <p:cNvGrpSpPr/>
        <p:nvPr/>
      </p:nvGrpSpPr>
      <p:grpSpPr>
        <a:xfrm>
          <a:off x="0" y="0"/>
          <a:ext cx="0" cy="0"/>
          <a:chOff x="0" y="0"/>
          <a:chExt cx="0" cy="0"/>
        </a:xfrm>
      </p:grpSpPr>
      <p:sp>
        <p:nvSpPr>
          <p:cNvPr id="368" name="Google Shape;368;p10:notes">
            <a:extLst>
              <a:ext uri="{FF2B5EF4-FFF2-40B4-BE49-F238E27FC236}">
                <a16:creationId xmlns:a16="http://schemas.microsoft.com/office/drawing/2014/main" id="{32D04677-4646-7E5D-C994-FAA966DB3F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a:extLst>
              <a:ext uri="{FF2B5EF4-FFF2-40B4-BE49-F238E27FC236}">
                <a16:creationId xmlns:a16="http://schemas.microsoft.com/office/drawing/2014/main" id="{CF8B2478-FD80-B2C8-0EB6-1E4A1EAF48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0:notes">
            <a:extLst>
              <a:ext uri="{FF2B5EF4-FFF2-40B4-BE49-F238E27FC236}">
                <a16:creationId xmlns:a16="http://schemas.microsoft.com/office/drawing/2014/main" id="{5709D193-1626-239A-B6D4-8D11359385C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656789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6B61B565-E0B5-49FB-1565-F42E3CC2F95D}"/>
            </a:ext>
          </a:extLst>
        </p:cNvPr>
        <p:cNvGrpSpPr/>
        <p:nvPr/>
      </p:nvGrpSpPr>
      <p:grpSpPr>
        <a:xfrm>
          <a:off x="0" y="0"/>
          <a:ext cx="0" cy="0"/>
          <a:chOff x="0" y="0"/>
          <a:chExt cx="0" cy="0"/>
        </a:xfrm>
      </p:grpSpPr>
      <p:sp>
        <p:nvSpPr>
          <p:cNvPr id="368" name="Google Shape;368;p10:notes">
            <a:extLst>
              <a:ext uri="{FF2B5EF4-FFF2-40B4-BE49-F238E27FC236}">
                <a16:creationId xmlns:a16="http://schemas.microsoft.com/office/drawing/2014/main" id="{4024F60B-24BA-97BA-6550-F0B35CEB39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a:extLst>
              <a:ext uri="{FF2B5EF4-FFF2-40B4-BE49-F238E27FC236}">
                <a16:creationId xmlns:a16="http://schemas.microsoft.com/office/drawing/2014/main" id="{20265B38-815D-78B9-C9B5-BE317C3AB3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0:notes">
            <a:extLst>
              <a:ext uri="{FF2B5EF4-FFF2-40B4-BE49-F238E27FC236}">
                <a16:creationId xmlns:a16="http://schemas.microsoft.com/office/drawing/2014/main" id="{68B3C662-EB2A-1FFB-8E8F-A108C5E0F0C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504304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91F92C7C-2A44-08B7-27E7-1FC5D4CB06F0}"/>
            </a:ext>
          </a:extLst>
        </p:cNvPr>
        <p:cNvGrpSpPr/>
        <p:nvPr/>
      </p:nvGrpSpPr>
      <p:grpSpPr>
        <a:xfrm>
          <a:off x="0" y="0"/>
          <a:ext cx="0" cy="0"/>
          <a:chOff x="0" y="0"/>
          <a:chExt cx="0" cy="0"/>
        </a:xfrm>
      </p:grpSpPr>
      <p:sp>
        <p:nvSpPr>
          <p:cNvPr id="368" name="Google Shape;368;p10:notes">
            <a:extLst>
              <a:ext uri="{FF2B5EF4-FFF2-40B4-BE49-F238E27FC236}">
                <a16:creationId xmlns:a16="http://schemas.microsoft.com/office/drawing/2014/main" id="{667F104A-1FA0-F342-8B5E-2D4CFD6777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10:notes">
            <a:extLst>
              <a:ext uri="{FF2B5EF4-FFF2-40B4-BE49-F238E27FC236}">
                <a16:creationId xmlns:a16="http://schemas.microsoft.com/office/drawing/2014/main" id="{37D0B062-0A96-456F-3E5A-351BC73971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10:notes">
            <a:extLst>
              <a:ext uri="{FF2B5EF4-FFF2-40B4-BE49-F238E27FC236}">
                <a16:creationId xmlns:a16="http://schemas.microsoft.com/office/drawing/2014/main" id="{CBF8923C-DE19-9C2F-52F3-B7F741D4F14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176936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8C469F10-A2FD-D5A4-7808-56F12E88696D}"/>
            </a:ext>
          </a:extLst>
        </p:cNvPr>
        <p:cNvGrpSpPr/>
        <p:nvPr/>
      </p:nvGrpSpPr>
      <p:grpSpPr>
        <a:xfrm>
          <a:off x="0" y="0"/>
          <a:ext cx="0" cy="0"/>
          <a:chOff x="0" y="0"/>
          <a:chExt cx="0" cy="0"/>
        </a:xfrm>
      </p:grpSpPr>
      <p:sp>
        <p:nvSpPr>
          <p:cNvPr id="123" name="Google Shape;123;p2:notes">
            <a:extLst>
              <a:ext uri="{FF2B5EF4-FFF2-40B4-BE49-F238E27FC236}">
                <a16:creationId xmlns:a16="http://schemas.microsoft.com/office/drawing/2014/main" id="{27BC1995-E46D-CDB5-1492-7530902AFD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2:notes">
            <a:extLst>
              <a:ext uri="{FF2B5EF4-FFF2-40B4-BE49-F238E27FC236}">
                <a16:creationId xmlns:a16="http://schemas.microsoft.com/office/drawing/2014/main" id="{C09C80B4-1AB0-02CF-1D18-D595358EF1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4940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3"/>
        <p:cNvGrpSpPr/>
        <p:nvPr/>
      </p:nvGrpSpPr>
      <p:grpSpPr>
        <a:xfrm>
          <a:off x="0" y="0"/>
          <a:ext cx="0" cy="0"/>
          <a:chOff x="0" y="0"/>
          <a:chExt cx="0" cy="0"/>
        </a:xfrm>
      </p:grpSpPr>
      <p:sp>
        <p:nvSpPr>
          <p:cNvPr id="44" name="Google Shape;44;p2"/>
          <p:cNvSpPr txBox="1">
            <a:spLocks noGrp="1"/>
          </p:cNvSpPr>
          <p:nvPr>
            <p:ph type="title"/>
          </p:nvPr>
        </p:nvSpPr>
        <p:spPr>
          <a:xfrm>
            <a:off x="971550" y="1327150"/>
            <a:ext cx="4328429" cy="1887696"/>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6000"/>
              <a:buFont typeface="Poppins"/>
              <a:buNone/>
              <a:defRPr sz="6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5"/>
        <p:cNvGrpSpPr/>
        <p:nvPr/>
      </p:nvGrpSpPr>
      <p:grpSpPr>
        <a:xfrm>
          <a:off x="0" y="0"/>
          <a:ext cx="0" cy="0"/>
          <a:chOff x="0" y="0"/>
          <a:chExt cx="0" cy="0"/>
        </a:xfrm>
      </p:grpSpPr>
      <p:sp>
        <p:nvSpPr>
          <p:cNvPr id="46" name="Google Shape;46;p3"/>
          <p:cNvSpPr txBox="1">
            <a:spLocks noGrp="1"/>
          </p:cNvSpPr>
          <p:nvPr>
            <p:ph type="title"/>
          </p:nvPr>
        </p:nvSpPr>
        <p:spPr>
          <a:xfrm>
            <a:off x="713072" y="653882"/>
            <a:ext cx="3810802"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3"/>
          <p:cNvSpPr txBox="1">
            <a:spLocks noGrp="1"/>
          </p:cNvSpPr>
          <p:nvPr>
            <p:ph type="body" idx="1"/>
          </p:nvPr>
        </p:nvSpPr>
        <p:spPr>
          <a:xfrm>
            <a:off x="1375977" y="1636046"/>
            <a:ext cx="3330776"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3"/>
          <p:cNvSpPr txBox="1">
            <a:spLocks noGrp="1"/>
          </p:cNvSpPr>
          <p:nvPr>
            <p:ph type="body" idx="2"/>
          </p:nvPr>
        </p:nvSpPr>
        <p:spPr>
          <a:xfrm>
            <a:off x="1383998" y="2394836"/>
            <a:ext cx="3330776"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9" name="Google Shape;49;p3"/>
          <p:cNvSpPr txBox="1">
            <a:spLocks noGrp="1"/>
          </p:cNvSpPr>
          <p:nvPr>
            <p:ph type="body" idx="3"/>
          </p:nvPr>
        </p:nvSpPr>
        <p:spPr>
          <a:xfrm>
            <a:off x="1382393" y="3150597"/>
            <a:ext cx="4084756"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3"/>
          <p:cNvSpPr txBox="1">
            <a:spLocks noGrp="1"/>
          </p:cNvSpPr>
          <p:nvPr>
            <p:ph type="body" idx="4"/>
          </p:nvPr>
        </p:nvSpPr>
        <p:spPr>
          <a:xfrm>
            <a:off x="1380788" y="3909389"/>
            <a:ext cx="2392314"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1" name="Google Shape;51;p3"/>
          <p:cNvSpPr txBox="1">
            <a:spLocks noGrp="1"/>
          </p:cNvSpPr>
          <p:nvPr>
            <p:ph type="body" idx="5"/>
          </p:nvPr>
        </p:nvSpPr>
        <p:spPr>
          <a:xfrm>
            <a:off x="1376997" y="4668181"/>
            <a:ext cx="4465538"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3"/>
          <p:cNvSpPr txBox="1">
            <a:spLocks noGrp="1"/>
          </p:cNvSpPr>
          <p:nvPr>
            <p:ph type="body" idx="6"/>
          </p:nvPr>
        </p:nvSpPr>
        <p:spPr>
          <a:xfrm>
            <a:off x="1385018" y="5417347"/>
            <a:ext cx="3206233" cy="288028"/>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0"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53"/>
        <p:cNvGrpSpPr/>
        <p:nvPr/>
      </p:nvGrpSpPr>
      <p:grpSpPr>
        <a:xfrm>
          <a:off x="0" y="0"/>
          <a:ext cx="0" cy="0"/>
          <a:chOff x="0" y="0"/>
          <a:chExt cx="0" cy="0"/>
        </a:xfrm>
      </p:grpSpPr>
      <p:sp>
        <p:nvSpPr>
          <p:cNvPr id="54" name="Google Shape;54;p4"/>
          <p:cNvSpPr txBox="1">
            <a:spLocks noGrp="1"/>
          </p:cNvSpPr>
          <p:nvPr>
            <p:ph type="title"/>
          </p:nvPr>
        </p:nvSpPr>
        <p:spPr>
          <a:xfrm>
            <a:off x="711200" y="1825625"/>
            <a:ext cx="20701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57"/>
        <p:cNvGrpSpPr/>
        <p:nvPr/>
      </p:nvGrpSpPr>
      <p:grpSpPr>
        <a:xfrm>
          <a:off x="0" y="0"/>
          <a:ext cx="0" cy="0"/>
          <a:chOff x="0" y="0"/>
          <a:chExt cx="0" cy="0"/>
        </a:xfrm>
      </p:grpSpPr>
      <p:sp>
        <p:nvSpPr>
          <p:cNvPr id="58" name="Google Shape;58;p6"/>
          <p:cNvSpPr txBox="1">
            <a:spLocks noGrp="1"/>
          </p:cNvSpPr>
          <p:nvPr>
            <p:ph type="title"/>
          </p:nvPr>
        </p:nvSpPr>
        <p:spPr>
          <a:xfrm>
            <a:off x="698500" y="592137"/>
            <a:ext cx="62230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59"/>
        <p:cNvGrpSpPr/>
        <p:nvPr/>
      </p:nvGrpSpPr>
      <p:grpSpPr>
        <a:xfrm>
          <a:off x="0" y="0"/>
          <a:ext cx="0" cy="0"/>
          <a:chOff x="0" y="0"/>
          <a:chExt cx="0" cy="0"/>
        </a:xfrm>
      </p:grpSpPr>
      <p:sp>
        <p:nvSpPr>
          <p:cNvPr id="60" name="Google Shape;60;p7"/>
          <p:cNvSpPr txBox="1">
            <a:spLocks noGrp="1"/>
          </p:cNvSpPr>
          <p:nvPr>
            <p:ph type="title"/>
          </p:nvPr>
        </p:nvSpPr>
        <p:spPr>
          <a:xfrm>
            <a:off x="714375" y="501650"/>
            <a:ext cx="5305425"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1" name="Google Shape;61;p7"/>
          <p:cNvSpPr txBox="1">
            <a:spLocks noGrp="1"/>
          </p:cNvSpPr>
          <p:nvPr>
            <p:ph type="body" idx="1"/>
          </p:nvPr>
        </p:nvSpPr>
        <p:spPr>
          <a:xfrm>
            <a:off x="1296889" y="2499861"/>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2" name="Google Shape;62;p7"/>
          <p:cNvSpPr txBox="1">
            <a:spLocks noGrp="1"/>
          </p:cNvSpPr>
          <p:nvPr>
            <p:ph type="body" idx="2"/>
          </p:nvPr>
        </p:nvSpPr>
        <p:spPr>
          <a:xfrm>
            <a:off x="4784294" y="2493493"/>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7"/>
          <p:cNvSpPr txBox="1">
            <a:spLocks noGrp="1"/>
          </p:cNvSpPr>
          <p:nvPr>
            <p:ph type="body" idx="3"/>
          </p:nvPr>
        </p:nvSpPr>
        <p:spPr>
          <a:xfrm>
            <a:off x="4785549" y="4722166"/>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4" name="Google Shape;64;p7"/>
          <p:cNvSpPr txBox="1">
            <a:spLocks noGrp="1"/>
          </p:cNvSpPr>
          <p:nvPr>
            <p:ph type="body" idx="4"/>
          </p:nvPr>
        </p:nvSpPr>
        <p:spPr>
          <a:xfrm>
            <a:off x="1289080" y="4729310"/>
            <a:ext cx="2270910" cy="3231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1" i="0" u="none" strike="noStrike" cap="none">
                <a:solidFill>
                  <a:schemeClr val="l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693823" y="721260"/>
            <a:ext cx="7612781"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8"/>
          <p:cNvSpPr txBox="1">
            <a:spLocks noGrp="1"/>
          </p:cNvSpPr>
          <p:nvPr>
            <p:ph type="body" idx="1"/>
          </p:nvPr>
        </p:nvSpPr>
        <p:spPr>
          <a:xfrm>
            <a:off x="972921" y="3715585"/>
            <a:ext cx="1548898" cy="308546"/>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200"/>
              <a:buFont typeface="Arial"/>
              <a:buNone/>
              <a:defRPr sz="12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8" name="Google Shape;68;p8"/>
          <p:cNvSpPr txBox="1">
            <a:spLocks noGrp="1"/>
          </p:cNvSpPr>
          <p:nvPr>
            <p:ph type="body" idx="2"/>
          </p:nvPr>
        </p:nvSpPr>
        <p:spPr>
          <a:xfrm>
            <a:off x="3213201" y="3723205"/>
            <a:ext cx="1548898" cy="308546"/>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200"/>
              <a:buFont typeface="Arial"/>
              <a:buNone/>
              <a:defRPr sz="12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8"/>
          <p:cNvSpPr txBox="1">
            <a:spLocks noGrp="1"/>
          </p:cNvSpPr>
          <p:nvPr>
            <p:ph type="body" idx="3"/>
          </p:nvPr>
        </p:nvSpPr>
        <p:spPr>
          <a:xfrm>
            <a:off x="759560" y="5536765"/>
            <a:ext cx="1976019" cy="308546"/>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200"/>
              <a:buFont typeface="Arial"/>
              <a:buNone/>
              <a:defRPr sz="12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 name="Google Shape;70;p8"/>
          <p:cNvSpPr txBox="1">
            <a:spLocks noGrp="1"/>
          </p:cNvSpPr>
          <p:nvPr>
            <p:ph type="body" idx="4"/>
          </p:nvPr>
        </p:nvSpPr>
        <p:spPr>
          <a:xfrm>
            <a:off x="2999840" y="5536765"/>
            <a:ext cx="1976019" cy="308546"/>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200"/>
              <a:buFont typeface="Arial"/>
              <a:buNone/>
              <a:defRPr sz="12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685800" y="530225"/>
            <a:ext cx="40386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11"/>
          <p:cNvSpPr txBox="1">
            <a:spLocks noGrp="1"/>
          </p:cNvSpPr>
          <p:nvPr>
            <p:ph type="body" idx="1"/>
          </p:nvPr>
        </p:nvSpPr>
        <p:spPr>
          <a:xfrm>
            <a:off x="3380740" y="1788160"/>
            <a:ext cx="1427480" cy="34394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11"/>
          <p:cNvSpPr txBox="1">
            <a:spLocks noGrp="1"/>
          </p:cNvSpPr>
          <p:nvPr>
            <p:ph type="body" idx="2"/>
          </p:nvPr>
        </p:nvSpPr>
        <p:spPr>
          <a:xfrm>
            <a:off x="3380740" y="3283180"/>
            <a:ext cx="1427480" cy="34394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1"/>
          <p:cNvSpPr txBox="1">
            <a:spLocks noGrp="1"/>
          </p:cNvSpPr>
          <p:nvPr>
            <p:ph type="body" idx="3"/>
          </p:nvPr>
        </p:nvSpPr>
        <p:spPr>
          <a:xfrm>
            <a:off x="3380740" y="4778200"/>
            <a:ext cx="1427480" cy="34394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accent1"/>
              </a:buClr>
              <a:buSzPts val="1800"/>
              <a:buFont typeface="Arial"/>
              <a:buNone/>
              <a:defRPr sz="1800" b="1" i="0" u="none" strike="noStrike" cap="none">
                <a:solidFill>
                  <a:schemeClr val="accent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86"/>
        <p:cNvGrpSpPr/>
        <p:nvPr/>
      </p:nvGrpSpPr>
      <p:grpSpPr>
        <a:xfrm>
          <a:off x="0" y="0"/>
          <a:ext cx="0" cy="0"/>
          <a:chOff x="0" y="0"/>
          <a:chExt cx="0" cy="0"/>
        </a:xfrm>
      </p:grpSpPr>
      <p:sp>
        <p:nvSpPr>
          <p:cNvPr id="87" name="Google Shape;87;p13"/>
          <p:cNvSpPr txBox="1">
            <a:spLocks noGrp="1"/>
          </p:cNvSpPr>
          <p:nvPr>
            <p:ph type="title"/>
          </p:nvPr>
        </p:nvSpPr>
        <p:spPr>
          <a:xfrm>
            <a:off x="685800" y="579437"/>
            <a:ext cx="66548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711200" y="823118"/>
            <a:ext cx="6464300" cy="511679"/>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accent1"/>
              </a:buClr>
              <a:buSzPts val="3000"/>
              <a:buFont typeface="Poppins"/>
              <a:buNone/>
              <a:defRPr sz="3000" b="1" i="0" u="none" strike="noStrike" cap="none">
                <a:solidFill>
                  <a:schemeClr val="accent1"/>
                </a:solidFill>
                <a:latin typeface="Poppins"/>
                <a:ea typeface="Poppins"/>
                <a:cs typeface="Poppins"/>
                <a:sym typeface="Poppi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0" name="Google Shape;90;p14"/>
          <p:cNvSpPr txBox="1">
            <a:spLocks noGrp="1"/>
          </p:cNvSpPr>
          <p:nvPr>
            <p:ph type="body" idx="1"/>
          </p:nvPr>
        </p:nvSpPr>
        <p:spPr>
          <a:xfrm>
            <a:off x="67818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14"/>
          <p:cNvSpPr txBox="1">
            <a:spLocks noGrp="1"/>
          </p:cNvSpPr>
          <p:nvPr>
            <p:ph type="body" idx="2"/>
          </p:nvPr>
        </p:nvSpPr>
        <p:spPr>
          <a:xfrm>
            <a:off x="264414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14"/>
          <p:cNvSpPr txBox="1">
            <a:spLocks noGrp="1"/>
          </p:cNvSpPr>
          <p:nvPr>
            <p:ph type="body" idx="3"/>
          </p:nvPr>
        </p:nvSpPr>
        <p:spPr>
          <a:xfrm>
            <a:off x="463296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3" name="Google Shape;93;p14"/>
          <p:cNvSpPr txBox="1">
            <a:spLocks noGrp="1"/>
          </p:cNvSpPr>
          <p:nvPr>
            <p:ph type="body" idx="4"/>
          </p:nvPr>
        </p:nvSpPr>
        <p:spPr>
          <a:xfrm>
            <a:off x="6606540" y="4175760"/>
            <a:ext cx="1714500" cy="546560"/>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0C0C0C"/>
              </a:buClr>
              <a:buSzPts val="1400"/>
              <a:buFont typeface="Arial"/>
              <a:buNone/>
              <a:defRPr sz="1400" b="1" i="0" u="none" strike="noStrike" cap="none">
                <a:solidFill>
                  <a:srgbClr val="0C0C0C"/>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9"/>
        <p:cNvGrpSpPr/>
        <p:nvPr/>
      </p:nvGrpSpPr>
      <p:grpSpPr>
        <a:xfrm>
          <a:off x="0" y="0"/>
          <a:ext cx="0" cy="0"/>
          <a:chOff x="0" y="0"/>
          <a:chExt cx="0" cy="0"/>
        </a:xfrm>
      </p:grpSpPr>
      <p:sp>
        <p:nvSpPr>
          <p:cNvPr id="10" name="Google Shape;10;p1"/>
          <p:cNvSpPr/>
          <p:nvPr/>
        </p:nvSpPr>
        <p:spPr>
          <a:xfrm rot="10800000" flipH="1">
            <a:off x="-4763" y="6308632"/>
            <a:ext cx="24521" cy="277906"/>
          </a:xfrm>
          <a:custGeom>
            <a:avLst/>
            <a:gdLst/>
            <a:ahLst/>
            <a:cxnLst/>
            <a:rect l="l" t="t" r="r" b="b"/>
            <a:pathLst>
              <a:path w="24521" h="277906" extrusionOk="0">
                <a:moveTo>
                  <a:pt x="24522" y="0"/>
                </a:moveTo>
                <a:cubicBezTo>
                  <a:pt x="24069" y="5605"/>
                  <a:pt x="23263" y="11249"/>
                  <a:pt x="23263" y="16854"/>
                </a:cubicBezTo>
                <a:cubicBezTo>
                  <a:pt x="23213" y="285793"/>
                  <a:pt x="23213" y="-9087"/>
                  <a:pt x="23213" y="259852"/>
                </a:cubicBezTo>
                <a:lnTo>
                  <a:pt x="23213" y="276826"/>
                </a:lnTo>
                <a:cubicBezTo>
                  <a:pt x="14149" y="277266"/>
                  <a:pt x="7100" y="277586"/>
                  <a:pt x="0" y="277906"/>
                </a:cubicBezTo>
                <a:cubicBezTo>
                  <a:pt x="0" y="-2682"/>
                  <a:pt x="0" y="280589"/>
                  <a:pt x="0" y="0"/>
                </a:cubicBezTo>
                <a:cubicBezTo>
                  <a:pt x="8157" y="0"/>
                  <a:pt x="16314" y="0"/>
                  <a:pt x="2447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p:nvPr/>
        </p:nvSpPr>
        <p:spPr>
          <a:xfrm rot="10800000" flipH="1">
            <a:off x="151482" y="6309834"/>
            <a:ext cx="24521" cy="276745"/>
          </a:xfrm>
          <a:custGeom>
            <a:avLst/>
            <a:gdLst/>
            <a:ahLst/>
            <a:cxnLst/>
            <a:rect l="l" t="t" r="r" b="b"/>
            <a:pathLst>
              <a:path w="24521" h="276745" extrusionOk="0">
                <a:moveTo>
                  <a:pt x="24472" y="40"/>
                </a:moveTo>
                <a:cubicBezTo>
                  <a:pt x="24270" y="5284"/>
                  <a:pt x="23867" y="10569"/>
                  <a:pt x="23867" y="15813"/>
                </a:cubicBezTo>
                <a:cubicBezTo>
                  <a:pt x="23867" y="285312"/>
                  <a:pt x="23867" y="-9047"/>
                  <a:pt x="23867" y="260452"/>
                </a:cubicBezTo>
                <a:cubicBezTo>
                  <a:pt x="23867" y="265656"/>
                  <a:pt x="23867" y="270861"/>
                  <a:pt x="23867" y="276745"/>
                </a:cubicBezTo>
                <a:lnTo>
                  <a:pt x="1057" y="276745"/>
                </a:lnTo>
                <a:cubicBezTo>
                  <a:pt x="1057" y="271741"/>
                  <a:pt x="1057" y="266657"/>
                  <a:pt x="1057" y="261573"/>
                </a:cubicBezTo>
                <a:cubicBezTo>
                  <a:pt x="1057" y="-7926"/>
                  <a:pt x="1057" y="286433"/>
                  <a:pt x="1057" y="16934"/>
                </a:cubicBezTo>
                <a:cubicBezTo>
                  <a:pt x="1057" y="11289"/>
                  <a:pt x="352" y="5645"/>
                  <a:pt x="0" y="0"/>
                </a:cubicBezTo>
                <a:lnTo>
                  <a:pt x="24522"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1"/>
          <p:cNvSpPr/>
          <p:nvPr/>
        </p:nvSpPr>
        <p:spPr>
          <a:xfrm rot="10800000" flipH="1">
            <a:off x="387437" y="6309873"/>
            <a:ext cx="24521" cy="276665"/>
          </a:xfrm>
          <a:custGeom>
            <a:avLst/>
            <a:gdLst/>
            <a:ahLst/>
            <a:cxnLst/>
            <a:rect l="l" t="t" r="r" b="b"/>
            <a:pathLst>
              <a:path w="24521" h="276665" extrusionOk="0">
                <a:moveTo>
                  <a:pt x="24421" y="0"/>
                </a:moveTo>
                <a:cubicBezTo>
                  <a:pt x="24119" y="5244"/>
                  <a:pt x="23565" y="10489"/>
                  <a:pt x="23565" y="15733"/>
                </a:cubicBezTo>
                <a:cubicBezTo>
                  <a:pt x="23565" y="285232"/>
                  <a:pt x="23565" y="-9127"/>
                  <a:pt x="23565" y="260372"/>
                </a:cubicBezTo>
                <a:lnTo>
                  <a:pt x="23565" y="276665"/>
                </a:lnTo>
                <a:lnTo>
                  <a:pt x="705" y="276665"/>
                </a:lnTo>
                <a:lnTo>
                  <a:pt x="705" y="261613"/>
                </a:lnTo>
                <a:cubicBezTo>
                  <a:pt x="705" y="-8287"/>
                  <a:pt x="705" y="285673"/>
                  <a:pt x="705" y="15773"/>
                </a:cubicBezTo>
                <a:cubicBezTo>
                  <a:pt x="705" y="10529"/>
                  <a:pt x="252" y="5284"/>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rot="10800000" flipH="1">
            <a:off x="623240" y="6309913"/>
            <a:ext cx="24521" cy="276625"/>
          </a:xfrm>
          <a:custGeom>
            <a:avLst/>
            <a:gdLst/>
            <a:ahLst/>
            <a:cxnLst/>
            <a:rect l="l" t="t" r="r" b="b"/>
            <a:pathLst>
              <a:path w="24521" h="276625" extrusionOk="0">
                <a:moveTo>
                  <a:pt x="24472" y="0"/>
                </a:moveTo>
                <a:cubicBezTo>
                  <a:pt x="24018" y="5645"/>
                  <a:pt x="23213" y="11249"/>
                  <a:pt x="23213" y="16894"/>
                </a:cubicBezTo>
                <a:cubicBezTo>
                  <a:pt x="23162" y="285953"/>
                  <a:pt x="23162" y="-8847"/>
                  <a:pt x="23162" y="260212"/>
                </a:cubicBezTo>
                <a:lnTo>
                  <a:pt x="23162" y="276625"/>
                </a:lnTo>
                <a:lnTo>
                  <a:pt x="504" y="276625"/>
                </a:lnTo>
                <a:cubicBezTo>
                  <a:pt x="504" y="271781"/>
                  <a:pt x="504" y="266657"/>
                  <a:pt x="504" y="261533"/>
                </a:cubicBezTo>
                <a:cubicBezTo>
                  <a:pt x="504" y="-8327"/>
                  <a:pt x="504" y="285633"/>
                  <a:pt x="504" y="15773"/>
                </a:cubicBezTo>
                <a:cubicBezTo>
                  <a:pt x="504" y="10529"/>
                  <a:pt x="151" y="5244"/>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1"/>
          <p:cNvSpPr/>
          <p:nvPr/>
        </p:nvSpPr>
        <p:spPr>
          <a:xfrm rot="10800000" flipH="1">
            <a:off x="779435" y="6309834"/>
            <a:ext cx="24521" cy="276745"/>
          </a:xfrm>
          <a:custGeom>
            <a:avLst/>
            <a:gdLst/>
            <a:ahLst/>
            <a:cxnLst/>
            <a:rect l="l" t="t" r="r" b="b"/>
            <a:pathLst>
              <a:path w="24521" h="276745" extrusionOk="0">
                <a:moveTo>
                  <a:pt x="24472" y="40"/>
                </a:moveTo>
                <a:cubicBezTo>
                  <a:pt x="24270" y="5284"/>
                  <a:pt x="23867" y="10569"/>
                  <a:pt x="23867" y="15813"/>
                </a:cubicBezTo>
                <a:cubicBezTo>
                  <a:pt x="23867" y="285312"/>
                  <a:pt x="23867" y="-9047"/>
                  <a:pt x="23867" y="260452"/>
                </a:cubicBezTo>
                <a:cubicBezTo>
                  <a:pt x="23867" y="265656"/>
                  <a:pt x="23867" y="270861"/>
                  <a:pt x="23867" y="276745"/>
                </a:cubicBezTo>
                <a:lnTo>
                  <a:pt x="1057" y="276745"/>
                </a:lnTo>
                <a:lnTo>
                  <a:pt x="1057" y="261573"/>
                </a:lnTo>
                <a:cubicBezTo>
                  <a:pt x="1057" y="-7926"/>
                  <a:pt x="1057" y="286433"/>
                  <a:pt x="1057" y="16934"/>
                </a:cubicBezTo>
                <a:cubicBezTo>
                  <a:pt x="1057" y="11289"/>
                  <a:pt x="352" y="5645"/>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rot="10800000" flipH="1">
            <a:off x="1015390" y="6309873"/>
            <a:ext cx="24521" cy="276665"/>
          </a:xfrm>
          <a:custGeom>
            <a:avLst/>
            <a:gdLst/>
            <a:ahLst/>
            <a:cxnLst/>
            <a:rect l="l" t="t" r="r" b="b"/>
            <a:pathLst>
              <a:path w="24521" h="276665" extrusionOk="0">
                <a:moveTo>
                  <a:pt x="24421" y="0"/>
                </a:moveTo>
                <a:cubicBezTo>
                  <a:pt x="24069" y="5645"/>
                  <a:pt x="23364" y="11289"/>
                  <a:pt x="23364" y="16934"/>
                </a:cubicBezTo>
                <a:cubicBezTo>
                  <a:pt x="23313" y="285993"/>
                  <a:pt x="23364" y="-8767"/>
                  <a:pt x="23364" y="260292"/>
                </a:cubicBezTo>
                <a:lnTo>
                  <a:pt x="23364" y="276665"/>
                </a:lnTo>
                <a:lnTo>
                  <a:pt x="705" y="276665"/>
                </a:lnTo>
                <a:lnTo>
                  <a:pt x="705" y="261573"/>
                </a:lnTo>
                <a:cubicBezTo>
                  <a:pt x="705" y="-8287"/>
                  <a:pt x="705" y="285673"/>
                  <a:pt x="705" y="15813"/>
                </a:cubicBezTo>
                <a:cubicBezTo>
                  <a:pt x="705" y="10569"/>
                  <a:pt x="252" y="5324"/>
                  <a:pt x="0" y="40"/>
                </a:cubicBezTo>
                <a:cubicBezTo>
                  <a:pt x="8157" y="40"/>
                  <a:pt x="16314" y="40"/>
                  <a:pt x="24522"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1407439" y="6309873"/>
            <a:ext cx="24521" cy="276665"/>
          </a:xfrm>
          <a:custGeom>
            <a:avLst/>
            <a:gdLst/>
            <a:ahLst/>
            <a:cxnLst/>
            <a:rect l="l" t="t" r="r" b="b"/>
            <a:pathLst>
              <a:path w="24521" h="276665" extrusionOk="0">
                <a:moveTo>
                  <a:pt x="24421" y="0"/>
                </a:moveTo>
                <a:cubicBezTo>
                  <a:pt x="24170" y="5244"/>
                  <a:pt x="23716" y="10489"/>
                  <a:pt x="23716" y="15773"/>
                </a:cubicBezTo>
                <a:cubicBezTo>
                  <a:pt x="23716" y="285232"/>
                  <a:pt x="23716" y="-9127"/>
                  <a:pt x="23716" y="260332"/>
                </a:cubicBezTo>
                <a:cubicBezTo>
                  <a:pt x="23716" y="265536"/>
                  <a:pt x="23716" y="270741"/>
                  <a:pt x="23716" y="276665"/>
                </a:cubicBezTo>
                <a:lnTo>
                  <a:pt x="1058" y="276665"/>
                </a:lnTo>
                <a:lnTo>
                  <a:pt x="1058" y="261493"/>
                </a:lnTo>
                <a:cubicBezTo>
                  <a:pt x="1058" y="-7966"/>
                  <a:pt x="1058" y="286393"/>
                  <a:pt x="1058" y="16934"/>
                </a:cubicBezTo>
                <a:cubicBezTo>
                  <a:pt x="1058" y="11289"/>
                  <a:pt x="353" y="5645"/>
                  <a:pt x="0" y="0"/>
                </a:cubicBezTo>
                <a:cubicBezTo>
                  <a:pt x="8157" y="0"/>
                  <a:pt x="16315"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7;p1"/>
          <p:cNvSpPr/>
          <p:nvPr/>
        </p:nvSpPr>
        <p:spPr>
          <a:xfrm rot="10800000" flipH="1">
            <a:off x="1643293" y="6309873"/>
            <a:ext cx="24522" cy="276665"/>
          </a:xfrm>
          <a:custGeom>
            <a:avLst/>
            <a:gdLst/>
            <a:ahLst/>
            <a:cxnLst/>
            <a:rect l="l" t="t" r="r" b="b"/>
            <a:pathLst>
              <a:path w="24522" h="276665" extrusionOk="0">
                <a:moveTo>
                  <a:pt x="24472" y="0"/>
                </a:moveTo>
                <a:cubicBezTo>
                  <a:pt x="24119" y="5645"/>
                  <a:pt x="23414" y="11289"/>
                  <a:pt x="23414" y="16934"/>
                </a:cubicBezTo>
                <a:cubicBezTo>
                  <a:pt x="23364" y="286033"/>
                  <a:pt x="23414" y="-8727"/>
                  <a:pt x="23414" y="260332"/>
                </a:cubicBezTo>
                <a:lnTo>
                  <a:pt x="23414" y="276665"/>
                </a:lnTo>
                <a:lnTo>
                  <a:pt x="604" y="276665"/>
                </a:lnTo>
                <a:lnTo>
                  <a:pt x="604" y="261613"/>
                </a:lnTo>
                <a:cubicBezTo>
                  <a:pt x="604" y="-8287"/>
                  <a:pt x="604" y="285673"/>
                  <a:pt x="604" y="15773"/>
                </a:cubicBezTo>
                <a:cubicBezTo>
                  <a:pt x="604" y="10529"/>
                  <a:pt x="201" y="5244"/>
                  <a:pt x="0" y="0"/>
                </a:cubicBezTo>
                <a:cubicBezTo>
                  <a:pt x="8157" y="0"/>
                  <a:pt x="16315"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8;p1"/>
          <p:cNvSpPr/>
          <p:nvPr/>
        </p:nvSpPr>
        <p:spPr>
          <a:xfrm rot="10800000" flipH="1">
            <a:off x="1799488" y="6309874"/>
            <a:ext cx="24521" cy="276705"/>
          </a:xfrm>
          <a:custGeom>
            <a:avLst/>
            <a:gdLst/>
            <a:ahLst/>
            <a:cxnLst/>
            <a:rect l="l" t="t" r="r" b="b"/>
            <a:pathLst>
              <a:path w="24521" h="276705" extrusionOk="0">
                <a:moveTo>
                  <a:pt x="24472" y="40"/>
                </a:moveTo>
                <a:cubicBezTo>
                  <a:pt x="24270" y="5284"/>
                  <a:pt x="23968" y="10569"/>
                  <a:pt x="23968" y="15813"/>
                </a:cubicBezTo>
                <a:cubicBezTo>
                  <a:pt x="23968" y="285272"/>
                  <a:pt x="23968" y="-9127"/>
                  <a:pt x="23968" y="260332"/>
                </a:cubicBezTo>
                <a:lnTo>
                  <a:pt x="23968" y="276705"/>
                </a:lnTo>
                <a:lnTo>
                  <a:pt x="1309" y="276705"/>
                </a:lnTo>
                <a:cubicBezTo>
                  <a:pt x="1309" y="271261"/>
                  <a:pt x="1309" y="265736"/>
                  <a:pt x="1309" y="260212"/>
                </a:cubicBezTo>
                <a:cubicBezTo>
                  <a:pt x="1309" y="-8847"/>
                  <a:pt x="1309" y="285953"/>
                  <a:pt x="1259" y="16894"/>
                </a:cubicBezTo>
                <a:cubicBezTo>
                  <a:pt x="1259" y="11249"/>
                  <a:pt x="453" y="5645"/>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19;p1"/>
          <p:cNvSpPr/>
          <p:nvPr/>
        </p:nvSpPr>
        <p:spPr>
          <a:xfrm rot="10800000" flipH="1">
            <a:off x="2035442" y="6309833"/>
            <a:ext cx="24521" cy="276705"/>
          </a:xfrm>
          <a:custGeom>
            <a:avLst/>
            <a:gdLst/>
            <a:ahLst/>
            <a:cxnLst/>
            <a:rect l="l" t="t" r="r" b="b"/>
            <a:pathLst>
              <a:path w="24521" h="276705" extrusionOk="0">
                <a:moveTo>
                  <a:pt x="24421" y="0"/>
                </a:moveTo>
                <a:cubicBezTo>
                  <a:pt x="24170" y="5244"/>
                  <a:pt x="23716" y="10489"/>
                  <a:pt x="23716" y="15773"/>
                </a:cubicBezTo>
                <a:cubicBezTo>
                  <a:pt x="23716" y="285272"/>
                  <a:pt x="23716" y="-9087"/>
                  <a:pt x="23716" y="260412"/>
                </a:cubicBezTo>
                <a:cubicBezTo>
                  <a:pt x="23716" y="265616"/>
                  <a:pt x="23716" y="270781"/>
                  <a:pt x="23716" y="276705"/>
                </a:cubicBezTo>
                <a:lnTo>
                  <a:pt x="856" y="276705"/>
                </a:lnTo>
                <a:lnTo>
                  <a:pt x="856" y="261613"/>
                </a:lnTo>
                <a:cubicBezTo>
                  <a:pt x="856" y="-8287"/>
                  <a:pt x="856" y="285673"/>
                  <a:pt x="856" y="15773"/>
                </a:cubicBezTo>
                <a:cubicBezTo>
                  <a:pt x="856" y="10529"/>
                  <a:pt x="302" y="5284"/>
                  <a:pt x="0" y="40"/>
                </a:cubicBezTo>
                <a:cubicBezTo>
                  <a:pt x="8157" y="40"/>
                  <a:pt x="16315" y="40"/>
                  <a:pt x="24522"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20;p1"/>
          <p:cNvSpPr/>
          <p:nvPr/>
        </p:nvSpPr>
        <p:spPr>
          <a:xfrm rot="10800000" flipH="1">
            <a:off x="2271246" y="6309873"/>
            <a:ext cx="24521" cy="276665"/>
          </a:xfrm>
          <a:custGeom>
            <a:avLst/>
            <a:gdLst/>
            <a:ahLst/>
            <a:cxnLst/>
            <a:rect l="l" t="t" r="r" b="b"/>
            <a:pathLst>
              <a:path w="24521" h="276665" extrusionOk="0">
                <a:moveTo>
                  <a:pt x="24472" y="0"/>
                </a:moveTo>
                <a:cubicBezTo>
                  <a:pt x="24119" y="5645"/>
                  <a:pt x="23414" y="11289"/>
                  <a:pt x="23414" y="16934"/>
                </a:cubicBezTo>
                <a:cubicBezTo>
                  <a:pt x="23364" y="286033"/>
                  <a:pt x="23414" y="-8727"/>
                  <a:pt x="23414" y="260332"/>
                </a:cubicBezTo>
                <a:lnTo>
                  <a:pt x="23414" y="276665"/>
                </a:lnTo>
                <a:lnTo>
                  <a:pt x="604" y="276665"/>
                </a:lnTo>
                <a:lnTo>
                  <a:pt x="604" y="261613"/>
                </a:lnTo>
                <a:cubicBezTo>
                  <a:pt x="604" y="-8287"/>
                  <a:pt x="604" y="285673"/>
                  <a:pt x="604" y="15773"/>
                </a:cubicBezTo>
                <a:cubicBezTo>
                  <a:pt x="604" y="10529"/>
                  <a:pt x="201" y="5244"/>
                  <a:pt x="0" y="0"/>
                </a:cubicBezTo>
                <a:cubicBezTo>
                  <a:pt x="8157" y="0"/>
                  <a:pt x="16314"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21;p1"/>
          <p:cNvSpPr/>
          <p:nvPr/>
        </p:nvSpPr>
        <p:spPr>
          <a:xfrm rot="10800000" flipH="1">
            <a:off x="2427391" y="6309874"/>
            <a:ext cx="24522" cy="276705"/>
          </a:xfrm>
          <a:custGeom>
            <a:avLst/>
            <a:gdLst/>
            <a:ahLst/>
            <a:cxnLst/>
            <a:rect l="l" t="t" r="r" b="b"/>
            <a:pathLst>
              <a:path w="24522" h="276705" extrusionOk="0">
                <a:moveTo>
                  <a:pt x="24522" y="40"/>
                </a:moveTo>
                <a:cubicBezTo>
                  <a:pt x="24321" y="5284"/>
                  <a:pt x="23918" y="10569"/>
                  <a:pt x="23918" y="15813"/>
                </a:cubicBezTo>
                <a:cubicBezTo>
                  <a:pt x="23918" y="285272"/>
                  <a:pt x="23918" y="-9127"/>
                  <a:pt x="23918" y="260332"/>
                </a:cubicBezTo>
                <a:cubicBezTo>
                  <a:pt x="23918" y="265536"/>
                  <a:pt x="23918" y="270741"/>
                  <a:pt x="23918" y="276705"/>
                </a:cubicBezTo>
                <a:lnTo>
                  <a:pt x="1309" y="276705"/>
                </a:lnTo>
                <a:cubicBezTo>
                  <a:pt x="1309" y="271261"/>
                  <a:pt x="1309" y="265736"/>
                  <a:pt x="1309" y="260212"/>
                </a:cubicBezTo>
                <a:cubicBezTo>
                  <a:pt x="1309" y="-8847"/>
                  <a:pt x="1309" y="285953"/>
                  <a:pt x="1259" y="16894"/>
                </a:cubicBezTo>
                <a:cubicBezTo>
                  <a:pt x="1259" y="11249"/>
                  <a:pt x="453" y="5645"/>
                  <a:pt x="0" y="0"/>
                </a:cubicBezTo>
                <a:cubicBezTo>
                  <a:pt x="8157" y="0"/>
                  <a:pt x="16315" y="0"/>
                  <a:pt x="2452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1"/>
          <p:cNvSpPr/>
          <p:nvPr/>
        </p:nvSpPr>
        <p:spPr>
          <a:xfrm rot="10800000" flipH="1">
            <a:off x="74895"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23;p1"/>
          <p:cNvSpPr/>
          <p:nvPr/>
        </p:nvSpPr>
        <p:spPr>
          <a:xfrm rot="10800000" flipH="1">
            <a:off x="231090" y="6309833"/>
            <a:ext cx="22306" cy="276705"/>
          </a:xfrm>
          <a:custGeom>
            <a:avLst/>
            <a:gdLst/>
            <a:ahLst/>
            <a:cxnLst/>
            <a:rect l="l" t="t" r="r" b="b"/>
            <a:pathLst>
              <a:path w="22306" h="276705" extrusionOk="0">
                <a:moveTo>
                  <a:pt x="21450" y="0"/>
                </a:moveTo>
                <a:cubicBezTo>
                  <a:pt x="21753" y="5244"/>
                  <a:pt x="22306" y="10489"/>
                  <a:pt x="22306" y="15773"/>
                </a:cubicBezTo>
                <a:cubicBezTo>
                  <a:pt x="22306" y="284872"/>
                  <a:pt x="22306" y="-9888"/>
                  <a:pt x="22306" y="259211"/>
                </a:cubicBezTo>
                <a:lnTo>
                  <a:pt x="22306" y="276705"/>
                </a:lnTo>
                <a:lnTo>
                  <a:pt x="403" y="276705"/>
                </a:lnTo>
                <a:cubicBezTo>
                  <a:pt x="403" y="271901"/>
                  <a:pt x="403" y="266777"/>
                  <a:pt x="403" y="261693"/>
                </a:cubicBezTo>
                <a:cubicBezTo>
                  <a:pt x="403" y="-7806"/>
                  <a:pt x="403" y="286553"/>
                  <a:pt x="403" y="17054"/>
                </a:cubicBezTo>
                <a:cubicBezTo>
                  <a:pt x="403" y="11369"/>
                  <a:pt x="151" y="5725"/>
                  <a:pt x="0" y="40"/>
                </a:cubicBezTo>
                <a:lnTo>
                  <a:pt x="21450" y="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24;p1"/>
          <p:cNvSpPr/>
          <p:nvPr/>
        </p:nvSpPr>
        <p:spPr>
          <a:xfrm rot="10800000" flipH="1">
            <a:off x="310245" y="6309873"/>
            <a:ext cx="22004" cy="276665"/>
          </a:xfrm>
          <a:custGeom>
            <a:avLst/>
            <a:gdLst/>
            <a:ahLst/>
            <a:cxnLst/>
            <a:rect l="l" t="t" r="r" b="b"/>
            <a:pathLst>
              <a:path w="22004" h="276665" extrusionOk="0">
                <a:moveTo>
                  <a:pt x="21954" y="0"/>
                </a:moveTo>
                <a:cubicBezTo>
                  <a:pt x="21853" y="17014"/>
                  <a:pt x="21652" y="34028"/>
                  <a:pt x="21652" y="51042"/>
                </a:cubicBezTo>
                <a:cubicBezTo>
                  <a:pt x="21652" y="308772"/>
                  <a:pt x="21652" y="2642"/>
                  <a:pt x="21652" y="260372"/>
                </a:cubicBezTo>
                <a:cubicBezTo>
                  <a:pt x="21652" y="265576"/>
                  <a:pt x="21652" y="270741"/>
                  <a:pt x="21652" y="276665"/>
                </a:cubicBezTo>
                <a:lnTo>
                  <a:pt x="957" y="276665"/>
                </a:lnTo>
                <a:cubicBezTo>
                  <a:pt x="655" y="272582"/>
                  <a:pt x="0" y="268299"/>
                  <a:pt x="0" y="263975"/>
                </a:cubicBezTo>
                <a:cubicBezTo>
                  <a:pt x="0" y="-8727"/>
                  <a:pt x="0" y="282390"/>
                  <a:pt x="0" y="9688"/>
                </a:cubicBezTo>
                <a:cubicBezTo>
                  <a:pt x="0" y="6445"/>
                  <a:pt x="352" y="3203"/>
                  <a:pt x="554" y="0"/>
                </a:cubicBezTo>
                <a:lnTo>
                  <a:pt x="2200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25;p1"/>
          <p:cNvSpPr/>
          <p:nvPr/>
        </p:nvSpPr>
        <p:spPr>
          <a:xfrm rot="10800000" flipH="1">
            <a:off x="466944" y="6309914"/>
            <a:ext cx="21752" cy="276665"/>
          </a:xfrm>
          <a:custGeom>
            <a:avLst/>
            <a:gdLst/>
            <a:ahLst/>
            <a:cxnLst/>
            <a:rect l="l" t="t" r="r" b="b"/>
            <a:pathLst>
              <a:path w="21752" h="276665" extrusionOk="0">
                <a:moveTo>
                  <a:pt x="21450" y="40"/>
                </a:moveTo>
                <a:cubicBezTo>
                  <a:pt x="21551" y="11770"/>
                  <a:pt x="21753" y="23539"/>
                  <a:pt x="21753" y="35269"/>
                </a:cubicBezTo>
                <a:cubicBezTo>
                  <a:pt x="21753" y="297843"/>
                  <a:pt x="21753" y="-3443"/>
                  <a:pt x="21753" y="259131"/>
                </a:cubicBezTo>
                <a:lnTo>
                  <a:pt x="21753" y="276665"/>
                </a:lnTo>
                <a:lnTo>
                  <a:pt x="0" y="276665"/>
                </a:lnTo>
                <a:cubicBezTo>
                  <a:pt x="0" y="-336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 name="Google Shape;26;p1"/>
          <p:cNvSpPr/>
          <p:nvPr/>
        </p:nvSpPr>
        <p:spPr>
          <a:xfrm rot="10800000" flipH="1">
            <a:off x="545356" y="6309793"/>
            <a:ext cx="22746" cy="276745"/>
          </a:xfrm>
          <a:custGeom>
            <a:avLst/>
            <a:gdLst/>
            <a:ahLst/>
            <a:cxnLst/>
            <a:rect l="l" t="t" r="r" b="b"/>
            <a:pathLst>
              <a:path w="22746" h="276745" extrusionOk="0">
                <a:moveTo>
                  <a:pt x="22697" y="0"/>
                </a:moveTo>
                <a:cubicBezTo>
                  <a:pt x="22546" y="5244"/>
                  <a:pt x="22243" y="10529"/>
                  <a:pt x="22243" y="15773"/>
                </a:cubicBezTo>
                <a:cubicBezTo>
                  <a:pt x="22243" y="285312"/>
                  <a:pt x="22243" y="-9007"/>
                  <a:pt x="22243" y="260532"/>
                </a:cubicBezTo>
                <a:lnTo>
                  <a:pt x="22243" y="276745"/>
                </a:lnTo>
                <a:lnTo>
                  <a:pt x="1297" y="276745"/>
                </a:lnTo>
                <a:cubicBezTo>
                  <a:pt x="843" y="272182"/>
                  <a:pt x="38" y="267538"/>
                  <a:pt x="38" y="262894"/>
                </a:cubicBezTo>
                <a:cubicBezTo>
                  <a:pt x="-13" y="-8647"/>
                  <a:pt x="-13" y="283631"/>
                  <a:pt x="38" y="12050"/>
                </a:cubicBezTo>
                <a:cubicBezTo>
                  <a:pt x="38" y="8047"/>
                  <a:pt x="843" y="4003"/>
                  <a:pt x="1297" y="0"/>
                </a:cubicBezTo>
                <a:cubicBezTo>
                  <a:pt x="8447" y="0"/>
                  <a:pt x="15597" y="0"/>
                  <a:pt x="22747"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 name="Google Shape;27;p1"/>
          <p:cNvSpPr/>
          <p:nvPr/>
        </p:nvSpPr>
        <p:spPr>
          <a:xfrm rot="10800000" flipH="1">
            <a:off x="702848"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28;p1"/>
          <p:cNvSpPr/>
          <p:nvPr/>
        </p:nvSpPr>
        <p:spPr>
          <a:xfrm rot="10800000" flipH="1">
            <a:off x="859043" y="6309833"/>
            <a:ext cx="22306" cy="276705"/>
          </a:xfrm>
          <a:custGeom>
            <a:avLst/>
            <a:gdLst/>
            <a:ahLst/>
            <a:cxnLst/>
            <a:rect l="l" t="t" r="r" b="b"/>
            <a:pathLst>
              <a:path w="22306" h="276705" extrusionOk="0">
                <a:moveTo>
                  <a:pt x="21450" y="0"/>
                </a:moveTo>
                <a:cubicBezTo>
                  <a:pt x="21752" y="5244"/>
                  <a:pt x="22306" y="10489"/>
                  <a:pt x="22306" y="15773"/>
                </a:cubicBezTo>
                <a:cubicBezTo>
                  <a:pt x="22306" y="284872"/>
                  <a:pt x="22306" y="-9888"/>
                  <a:pt x="22306" y="259211"/>
                </a:cubicBezTo>
                <a:lnTo>
                  <a:pt x="22306" y="276705"/>
                </a:lnTo>
                <a:lnTo>
                  <a:pt x="403" y="276705"/>
                </a:lnTo>
                <a:lnTo>
                  <a:pt x="403" y="261693"/>
                </a:lnTo>
                <a:cubicBezTo>
                  <a:pt x="403" y="-7806"/>
                  <a:pt x="403" y="286553"/>
                  <a:pt x="403" y="17054"/>
                </a:cubicBezTo>
                <a:cubicBezTo>
                  <a:pt x="403" y="11369"/>
                  <a:pt x="151" y="5725"/>
                  <a:pt x="0" y="40"/>
                </a:cubicBezTo>
                <a:lnTo>
                  <a:pt x="21450" y="4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29;p1"/>
          <p:cNvSpPr/>
          <p:nvPr/>
        </p:nvSpPr>
        <p:spPr>
          <a:xfrm rot="10800000" flipH="1">
            <a:off x="938199" y="6309833"/>
            <a:ext cx="22004" cy="276705"/>
          </a:xfrm>
          <a:custGeom>
            <a:avLst/>
            <a:gdLst/>
            <a:ahLst/>
            <a:cxnLst/>
            <a:rect l="l" t="t" r="r" b="b"/>
            <a:pathLst>
              <a:path w="22004" h="276705" extrusionOk="0">
                <a:moveTo>
                  <a:pt x="21954" y="0"/>
                </a:moveTo>
                <a:cubicBezTo>
                  <a:pt x="21803" y="5685"/>
                  <a:pt x="21551" y="11329"/>
                  <a:pt x="21551" y="17014"/>
                </a:cubicBezTo>
                <a:cubicBezTo>
                  <a:pt x="21551" y="286073"/>
                  <a:pt x="21551" y="-8687"/>
                  <a:pt x="21551" y="260372"/>
                </a:cubicBezTo>
                <a:lnTo>
                  <a:pt x="21551" y="276705"/>
                </a:lnTo>
                <a:lnTo>
                  <a:pt x="957" y="276705"/>
                </a:lnTo>
                <a:cubicBezTo>
                  <a:pt x="655" y="272582"/>
                  <a:pt x="0" y="268299"/>
                  <a:pt x="0" y="264015"/>
                </a:cubicBezTo>
                <a:cubicBezTo>
                  <a:pt x="0" y="-8687"/>
                  <a:pt x="0" y="282430"/>
                  <a:pt x="0" y="9728"/>
                </a:cubicBezTo>
                <a:cubicBezTo>
                  <a:pt x="0" y="6485"/>
                  <a:pt x="352" y="3243"/>
                  <a:pt x="554" y="40"/>
                </a:cubicBezTo>
                <a:cubicBezTo>
                  <a:pt x="7704" y="40"/>
                  <a:pt x="14854" y="40"/>
                  <a:pt x="22004"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0;p1"/>
          <p:cNvSpPr/>
          <p:nvPr/>
        </p:nvSpPr>
        <p:spPr>
          <a:xfrm rot="10800000" flipH="1">
            <a:off x="1094897" y="6309673"/>
            <a:ext cx="21450" cy="276865"/>
          </a:xfrm>
          <a:custGeom>
            <a:avLst/>
            <a:gdLst/>
            <a:ahLst/>
            <a:cxnLst/>
            <a:rect l="l" t="t" r="r" b="b"/>
            <a:pathLst>
              <a:path w="21450" h="276865" extrusionOk="0">
                <a:moveTo>
                  <a:pt x="21450" y="0"/>
                </a:moveTo>
                <a:cubicBezTo>
                  <a:pt x="21450" y="280068"/>
                  <a:pt x="21450" y="-3723"/>
                  <a:pt x="21450" y="276866"/>
                </a:cubicBezTo>
                <a:lnTo>
                  <a:pt x="201" y="276866"/>
                </a:lnTo>
                <a:lnTo>
                  <a:pt x="201" y="259652"/>
                </a:lnTo>
                <a:cubicBezTo>
                  <a:pt x="201" y="-9167"/>
                  <a:pt x="201" y="285833"/>
                  <a:pt x="201" y="17014"/>
                </a:cubicBezTo>
                <a:cubicBezTo>
                  <a:pt x="201" y="11329"/>
                  <a:pt x="101" y="564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Google Shape;31;p1"/>
          <p:cNvSpPr/>
          <p:nvPr/>
        </p:nvSpPr>
        <p:spPr>
          <a:xfrm rot="10800000" flipH="1">
            <a:off x="1173310" y="6309793"/>
            <a:ext cx="22746" cy="276745"/>
          </a:xfrm>
          <a:custGeom>
            <a:avLst/>
            <a:gdLst/>
            <a:ahLst/>
            <a:cxnLst/>
            <a:rect l="l" t="t" r="r" b="b"/>
            <a:pathLst>
              <a:path w="22746" h="276745" extrusionOk="0">
                <a:moveTo>
                  <a:pt x="22697" y="0"/>
                </a:moveTo>
                <a:cubicBezTo>
                  <a:pt x="22495" y="5244"/>
                  <a:pt x="22193" y="10529"/>
                  <a:pt x="22193" y="15773"/>
                </a:cubicBezTo>
                <a:cubicBezTo>
                  <a:pt x="22193" y="285312"/>
                  <a:pt x="22193" y="-9007"/>
                  <a:pt x="22193" y="260532"/>
                </a:cubicBezTo>
                <a:lnTo>
                  <a:pt x="22193" y="276745"/>
                </a:lnTo>
                <a:lnTo>
                  <a:pt x="1297" y="276745"/>
                </a:lnTo>
                <a:cubicBezTo>
                  <a:pt x="843" y="272182"/>
                  <a:pt x="38" y="267538"/>
                  <a:pt x="38" y="262894"/>
                </a:cubicBezTo>
                <a:cubicBezTo>
                  <a:pt x="-13" y="-8647"/>
                  <a:pt x="-13" y="283631"/>
                  <a:pt x="38" y="12090"/>
                </a:cubicBezTo>
                <a:cubicBezTo>
                  <a:pt x="38" y="8087"/>
                  <a:pt x="843" y="4043"/>
                  <a:pt x="1297" y="40"/>
                </a:cubicBezTo>
                <a:cubicBezTo>
                  <a:pt x="8447" y="40"/>
                  <a:pt x="15597" y="40"/>
                  <a:pt x="22747" y="4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32;p1"/>
          <p:cNvSpPr/>
          <p:nvPr/>
        </p:nvSpPr>
        <p:spPr>
          <a:xfrm rot="10800000" flipH="1">
            <a:off x="1330801" y="6309714"/>
            <a:ext cx="21450" cy="276865"/>
          </a:xfrm>
          <a:custGeom>
            <a:avLst/>
            <a:gdLst/>
            <a:ahLst/>
            <a:cxnLst/>
            <a:rect l="l" t="t" r="r" b="b"/>
            <a:pathLst>
              <a:path w="21450" h="276865" extrusionOk="0">
                <a:moveTo>
                  <a:pt x="21450" y="40"/>
                </a:moveTo>
                <a:cubicBezTo>
                  <a:pt x="21400" y="225904"/>
                  <a:pt x="21249" y="13371"/>
                  <a:pt x="21249" y="113733"/>
                </a:cubicBezTo>
                <a:cubicBezTo>
                  <a:pt x="21249" y="163613"/>
                  <a:pt x="21249" y="213494"/>
                  <a:pt x="21249" y="263335"/>
                </a:cubicBezTo>
                <a:lnTo>
                  <a:pt x="21249" y="276866"/>
                </a:lnTo>
                <a:lnTo>
                  <a:pt x="0" y="276866"/>
                </a:lnTo>
                <a:cubicBezTo>
                  <a:pt x="0" y="-3723"/>
                  <a:pt x="0" y="28006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1"/>
          <p:cNvSpPr/>
          <p:nvPr/>
        </p:nvSpPr>
        <p:spPr>
          <a:xfrm rot="10800000" flipH="1">
            <a:off x="1486997" y="6309873"/>
            <a:ext cx="22004" cy="276665"/>
          </a:xfrm>
          <a:custGeom>
            <a:avLst/>
            <a:gdLst/>
            <a:ahLst/>
            <a:cxnLst/>
            <a:rect l="l" t="t" r="r" b="b"/>
            <a:pathLst>
              <a:path w="22004" h="276665" extrusionOk="0">
                <a:moveTo>
                  <a:pt x="21450" y="0"/>
                </a:moveTo>
                <a:cubicBezTo>
                  <a:pt x="21652" y="5244"/>
                  <a:pt x="22004" y="10529"/>
                  <a:pt x="22004" y="15773"/>
                </a:cubicBezTo>
                <a:cubicBezTo>
                  <a:pt x="22004" y="284832"/>
                  <a:pt x="22004" y="-9928"/>
                  <a:pt x="22004" y="259131"/>
                </a:cubicBezTo>
                <a:cubicBezTo>
                  <a:pt x="22004" y="264736"/>
                  <a:pt x="22004" y="270300"/>
                  <a:pt x="22004" y="276665"/>
                </a:cubicBezTo>
                <a:lnTo>
                  <a:pt x="403" y="276665"/>
                </a:lnTo>
                <a:lnTo>
                  <a:pt x="403" y="261573"/>
                </a:lnTo>
                <a:cubicBezTo>
                  <a:pt x="403" y="-7886"/>
                  <a:pt x="403" y="286473"/>
                  <a:pt x="403" y="17014"/>
                </a:cubicBezTo>
                <a:cubicBezTo>
                  <a:pt x="403" y="11329"/>
                  <a:pt x="151" y="568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34;p1"/>
          <p:cNvSpPr/>
          <p:nvPr/>
        </p:nvSpPr>
        <p:spPr>
          <a:xfrm rot="10800000" flipH="1">
            <a:off x="1565827" y="6309833"/>
            <a:ext cx="22328" cy="276705"/>
          </a:xfrm>
          <a:custGeom>
            <a:avLst/>
            <a:gdLst/>
            <a:ahLst/>
            <a:cxnLst/>
            <a:rect l="l" t="t" r="r" b="b"/>
            <a:pathLst>
              <a:path w="22328" h="276705" extrusionOk="0">
                <a:moveTo>
                  <a:pt x="22278" y="0"/>
                </a:moveTo>
                <a:cubicBezTo>
                  <a:pt x="22127" y="5685"/>
                  <a:pt x="21876" y="11329"/>
                  <a:pt x="21876" y="17014"/>
                </a:cubicBezTo>
                <a:cubicBezTo>
                  <a:pt x="21876" y="286113"/>
                  <a:pt x="21876" y="-8647"/>
                  <a:pt x="21876" y="260452"/>
                </a:cubicBezTo>
                <a:lnTo>
                  <a:pt x="21876" y="276705"/>
                </a:lnTo>
                <a:lnTo>
                  <a:pt x="1080" y="276705"/>
                </a:lnTo>
                <a:cubicBezTo>
                  <a:pt x="727" y="272582"/>
                  <a:pt x="22" y="268339"/>
                  <a:pt x="22" y="264055"/>
                </a:cubicBezTo>
                <a:cubicBezTo>
                  <a:pt x="-28" y="-8287"/>
                  <a:pt x="22" y="283231"/>
                  <a:pt x="22" y="10889"/>
                </a:cubicBezTo>
                <a:cubicBezTo>
                  <a:pt x="22" y="7246"/>
                  <a:pt x="576" y="3643"/>
                  <a:pt x="878" y="0"/>
                </a:cubicBezTo>
                <a:cubicBezTo>
                  <a:pt x="8029" y="0"/>
                  <a:pt x="15179" y="0"/>
                  <a:pt x="22329"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35;p1"/>
          <p:cNvSpPr/>
          <p:nvPr/>
        </p:nvSpPr>
        <p:spPr>
          <a:xfrm rot="10800000" flipH="1">
            <a:off x="1722901"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1"/>
          <p:cNvSpPr/>
          <p:nvPr/>
        </p:nvSpPr>
        <p:spPr>
          <a:xfrm rot="10800000" flipH="1">
            <a:off x="1879146" y="6309873"/>
            <a:ext cx="22709" cy="276665"/>
          </a:xfrm>
          <a:custGeom>
            <a:avLst/>
            <a:gdLst/>
            <a:ahLst/>
            <a:cxnLst/>
            <a:rect l="l" t="t" r="r" b="b"/>
            <a:pathLst>
              <a:path w="22709" h="276665" extrusionOk="0">
                <a:moveTo>
                  <a:pt x="21400" y="0"/>
                </a:moveTo>
                <a:cubicBezTo>
                  <a:pt x="21853" y="4844"/>
                  <a:pt x="22659" y="9648"/>
                  <a:pt x="22659" y="14492"/>
                </a:cubicBezTo>
                <a:cubicBezTo>
                  <a:pt x="22709" y="284432"/>
                  <a:pt x="22709" y="-9488"/>
                  <a:pt x="22709" y="260452"/>
                </a:cubicBezTo>
                <a:lnTo>
                  <a:pt x="22709" y="276665"/>
                </a:lnTo>
                <a:lnTo>
                  <a:pt x="453" y="276665"/>
                </a:lnTo>
                <a:lnTo>
                  <a:pt x="453" y="261773"/>
                </a:lnTo>
                <a:cubicBezTo>
                  <a:pt x="453" y="-7766"/>
                  <a:pt x="453" y="286553"/>
                  <a:pt x="453" y="17014"/>
                </a:cubicBezTo>
                <a:cubicBezTo>
                  <a:pt x="453" y="11329"/>
                  <a:pt x="151" y="568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 name="Google Shape;37;p1"/>
          <p:cNvSpPr/>
          <p:nvPr/>
        </p:nvSpPr>
        <p:spPr>
          <a:xfrm rot="10800000" flipH="1">
            <a:off x="1958503" y="6309873"/>
            <a:ext cx="21702" cy="276665"/>
          </a:xfrm>
          <a:custGeom>
            <a:avLst/>
            <a:gdLst/>
            <a:ahLst/>
            <a:cxnLst/>
            <a:rect l="l" t="t" r="r" b="b"/>
            <a:pathLst>
              <a:path w="21702" h="276665" extrusionOk="0">
                <a:moveTo>
                  <a:pt x="21702" y="0"/>
                </a:moveTo>
                <a:cubicBezTo>
                  <a:pt x="21652" y="225704"/>
                  <a:pt x="21551" y="-112452"/>
                  <a:pt x="21501" y="113252"/>
                </a:cubicBezTo>
                <a:cubicBezTo>
                  <a:pt x="21501" y="163093"/>
                  <a:pt x="21501" y="212933"/>
                  <a:pt x="21501" y="262774"/>
                </a:cubicBezTo>
                <a:cubicBezTo>
                  <a:pt x="21501" y="267138"/>
                  <a:pt x="21501" y="271541"/>
                  <a:pt x="21501" y="276665"/>
                </a:cubicBezTo>
                <a:lnTo>
                  <a:pt x="1158" y="276665"/>
                </a:lnTo>
                <a:cubicBezTo>
                  <a:pt x="755" y="273383"/>
                  <a:pt x="0" y="269900"/>
                  <a:pt x="0" y="266417"/>
                </a:cubicBezTo>
                <a:cubicBezTo>
                  <a:pt x="0" y="-9127"/>
                  <a:pt x="0" y="279187"/>
                  <a:pt x="0" y="3643"/>
                </a:cubicBezTo>
                <a:cubicBezTo>
                  <a:pt x="0" y="2442"/>
                  <a:pt x="151" y="1201"/>
                  <a:pt x="252" y="0"/>
                </a:cubicBezTo>
                <a:cubicBezTo>
                  <a:pt x="7402" y="0"/>
                  <a:pt x="14552" y="0"/>
                  <a:pt x="2170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1"/>
          <p:cNvSpPr/>
          <p:nvPr/>
        </p:nvSpPr>
        <p:spPr>
          <a:xfrm rot="10800000" flipH="1">
            <a:off x="2114950" y="6309914"/>
            <a:ext cx="22004" cy="276665"/>
          </a:xfrm>
          <a:custGeom>
            <a:avLst/>
            <a:gdLst/>
            <a:ahLst/>
            <a:cxnLst/>
            <a:rect l="l" t="t" r="r" b="b"/>
            <a:pathLst>
              <a:path w="22004" h="276665" extrusionOk="0">
                <a:moveTo>
                  <a:pt x="21450" y="40"/>
                </a:moveTo>
                <a:cubicBezTo>
                  <a:pt x="21652" y="5284"/>
                  <a:pt x="22004" y="10569"/>
                  <a:pt x="22004" y="15813"/>
                </a:cubicBezTo>
                <a:cubicBezTo>
                  <a:pt x="22004" y="284872"/>
                  <a:pt x="22004" y="-9888"/>
                  <a:pt x="22004" y="259171"/>
                </a:cubicBezTo>
                <a:cubicBezTo>
                  <a:pt x="22004" y="264776"/>
                  <a:pt x="22004" y="270340"/>
                  <a:pt x="22004" y="276665"/>
                </a:cubicBezTo>
                <a:lnTo>
                  <a:pt x="302" y="276665"/>
                </a:lnTo>
                <a:lnTo>
                  <a:pt x="302" y="260372"/>
                </a:lnTo>
                <a:cubicBezTo>
                  <a:pt x="302" y="-8687"/>
                  <a:pt x="302" y="286073"/>
                  <a:pt x="302" y="17014"/>
                </a:cubicBezTo>
                <a:cubicBezTo>
                  <a:pt x="302" y="11329"/>
                  <a:pt x="101" y="5685"/>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1"/>
          <p:cNvSpPr/>
          <p:nvPr/>
        </p:nvSpPr>
        <p:spPr>
          <a:xfrm rot="10800000" flipH="1">
            <a:off x="2193765" y="6309833"/>
            <a:ext cx="22344" cy="276705"/>
          </a:xfrm>
          <a:custGeom>
            <a:avLst/>
            <a:gdLst/>
            <a:ahLst/>
            <a:cxnLst/>
            <a:rect l="l" t="t" r="r" b="b"/>
            <a:pathLst>
              <a:path w="22344" h="276705" extrusionOk="0">
                <a:moveTo>
                  <a:pt x="22294" y="0"/>
                </a:moveTo>
                <a:cubicBezTo>
                  <a:pt x="22143" y="5685"/>
                  <a:pt x="21891" y="11329"/>
                  <a:pt x="21891" y="17014"/>
                </a:cubicBezTo>
                <a:cubicBezTo>
                  <a:pt x="21891" y="286113"/>
                  <a:pt x="21891" y="-8647"/>
                  <a:pt x="21891" y="260452"/>
                </a:cubicBezTo>
                <a:lnTo>
                  <a:pt x="21891" y="276705"/>
                </a:lnTo>
                <a:lnTo>
                  <a:pt x="1095" y="276705"/>
                </a:lnTo>
                <a:cubicBezTo>
                  <a:pt x="743" y="272582"/>
                  <a:pt x="38" y="268339"/>
                  <a:pt x="38" y="264055"/>
                </a:cubicBezTo>
                <a:cubicBezTo>
                  <a:pt x="-13" y="-8287"/>
                  <a:pt x="-13" y="283231"/>
                  <a:pt x="38" y="10889"/>
                </a:cubicBezTo>
                <a:cubicBezTo>
                  <a:pt x="38" y="7246"/>
                  <a:pt x="592" y="3643"/>
                  <a:pt x="894" y="0"/>
                </a:cubicBezTo>
                <a:cubicBezTo>
                  <a:pt x="8044" y="0"/>
                  <a:pt x="15194" y="0"/>
                  <a:pt x="2234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1"/>
          <p:cNvSpPr/>
          <p:nvPr/>
        </p:nvSpPr>
        <p:spPr>
          <a:xfrm rot="10800000" flipH="1">
            <a:off x="2350854" y="6309873"/>
            <a:ext cx="21450" cy="276665"/>
          </a:xfrm>
          <a:custGeom>
            <a:avLst/>
            <a:gdLst/>
            <a:ahLst/>
            <a:cxnLst/>
            <a:rect l="l" t="t" r="r" b="b"/>
            <a:pathLst>
              <a:path w="21450" h="276665" extrusionOk="0">
                <a:moveTo>
                  <a:pt x="21450" y="0"/>
                </a:moveTo>
                <a:cubicBezTo>
                  <a:pt x="21450" y="279908"/>
                  <a:pt x="21450" y="-4043"/>
                  <a:pt x="21450" y="276665"/>
                </a:cubicBezTo>
                <a:lnTo>
                  <a:pt x="0" y="276665"/>
                </a:lnTo>
                <a:cubicBezTo>
                  <a:pt x="0" y="-3403"/>
                  <a:pt x="0" y="280228"/>
                  <a:pt x="0" y="0"/>
                </a:cubicBezTo>
                <a:lnTo>
                  <a:pt x="2145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 name="Google Shape;41;p1"/>
          <p:cNvSpPr/>
          <p:nvPr/>
        </p:nvSpPr>
        <p:spPr>
          <a:xfrm rot="10800000" flipH="1">
            <a:off x="1251193" y="6309873"/>
            <a:ext cx="22709" cy="276665"/>
          </a:xfrm>
          <a:custGeom>
            <a:avLst/>
            <a:gdLst/>
            <a:ahLst/>
            <a:cxnLst/>
            <a:rect l="l" t="t" r="r" b="b"/>
            <a:pathLst>
              <a:path w="22709" h="276665" extrusionOk="0">
                <a:moveTo>
                  <a:pt x="21400" y="0"/>
                </a:moveTo>
                <a:cubicBezTo>
                  <a:pt x="21853" y="4844"/>
                  <a:pt x="22659" y="9648"/>
                  <a:pt x="22659" y="14492"/>
                </a:cubicBezTo>
                <a:cubicBezTo>
                  <a:pt x="22709" y="284432"/>
                  <a:pt x="22709" y="-9488"/>
                  <a:pt x="22709" y="260452"/>
                </a:cubicBezTo>
                <a:cubicBezTo>
                  <a:pt x="22709" y="265616"/>
                  <a:pt x="22709" y="270781"/>
                  <a:pt x="22709" y="276665"/>
                </a:cubicBezTo>
                <a:lnTo>
                  <a:pt x="504" y="276665"/>
                </a:lnTo>
                <a:cubicBezTo>
                  <a:pt x="504" y="271901"/>
                  <a:pt x="504" y="266817"/>
                  <a:pt x="504" y="261733"/>
                </a:cubicBezTo>
                <a:cubicBezTo>
                  <a:pt x="504" y="-8207"/>
                  <a:pt x="504" y="285713"/>
                  <a:pt x="504" y="15773"/>
                </a:cubicBezTo>
                <a:cubicBezTo>
                  <a:pt x="504" y="10529"/>
                  <a:pt x="151" y="5244"/>
                  <a:pt x="0" y="0"/>
                </a:cubicBezTo>
                <a:cubicBezTo>
                  <a:pt x="7150" y="0"/>
                  <a:pt x="14300" y="0"/>
                  <a:pt x="2145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42" name="Google Shape;42;p1"/>
          <p:cNvCxnSpPr/>
          <p:nvPr/>
        </p:nvCxnSpPr>
        <p:spPr>
          <a:xfrm>
            <a:off x="2552700" y="6464300"/>
            <a:ext cx="9639300" cy="0"/>
          </a:xfrm>
          <a:prstGeom prst="straightConnector1">
            <a:avLst/>
          </a:prstGeom>
          <a:noFill/>
          <a:ln w="952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7" r:id="rId7"/>
    <p:sldLayoutId id="2147483659" r:id="rId8"/>
    <p:sldLayoutId id="214748366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chart" Target="../charts/chart1.xml"/><Relationship Id="rId4" Type="http://schemas.openxmlformats.org/officeDocument/2006/relationships/image" Target="../media/image6.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image" Target="../media/image2.png"/><Relationship Id="rId12" Type="http://schemas.openxmlformats.org/officeDocument/2006/relationships/image" Target="../media/image26.png"/><Relationship Id="rId2" Type="http://schemas.openxmlformats.org/officeDocument/2006/relationships/notesSlide" Target="../notesSlides/notesSlide8.xml"/><Relationship Id="rId16"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image" Target="../media/image23.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0.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15.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5.png"/><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8.jpeg"/><Relationship Id="rId11" Type="http://schemas.openxmlformats.org/officeDocument/2006/relationships/image" Target="../media/image43.jpeg"/><Relationship Id="rId5" Type="http://schemas.openxmlformats.org/officeDocument/2006/relationships/image" Target="../media/image37.jpeg"/><Relationship Id="rId10" Type="http://schemas.openxmlformats.org/officeDocument/2006/relationships/image" Target="../media/image42.jpeg"/><Relationship Id="rId4" Type="http://schemas.openxmlformats.org/officeDocument/2006/relationships/image" Target="../media/image36.jpeg"/><Relationship Id="rId9" Type="http://schemas.openxmlformats.org/officeDocument/2006/relationships/image" Target="../media/image41.jpeg"/></Relationships>
</file>

<file path=ppt/slides/_rels/slide16.xml.rels><?xml version="1.0" encoding="UTF-8" standalone="yes"?>
<Relationships xmlns="http://schemas.openxmlformats.org/package/2006/relationships"><Relationship Id="rId8" Type="http://schemas.openxmlformats.org/officeDocument/2006/relationships/image" Target="../media/image48.jfif"/><Relationship Id="rId3" Type="http://schemas.openxmlformats.org/officeDocument/2006/relationships/image" Target="../media/image45.jfif"/><Relationship Id="rId7"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7.jfif"/><Relationship Id="rId5" Type="http://schemas.microsoft.com/office/2007/relationships/hdphoto" Target="../media/hdphoto2.wdp"/><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8"/>
          <p:cNvPicPr preferRelativeResize="0"/>
          <p:nvPr/>
        </p:nvPicPr>
        <p:blipFill>
          <a:blip r:embed="rId3">
            <a:alphaModFix/>
          </a:blip>
          <a:stretch>
            <a:fillRect/>
          </a:stretch>
        </p:blipFill>
        <p:spPr>
          <a:xfrm>
            <a:off x="6248400" y="-15125"/>
            <a:ext cx="5943600" cy="6130093"/>
          </a:xfrm>
          <a:prstGeom prst="rect">
            <a:avLst/>
          </a:prstGeom>
          <a:noFill/>
          <a:ln>
            <a:noFill/>
          </a:ln>
        </p:spPr>
      </p:pic>
      <p:sp>
        <p:nvSpPr>
          <p:cNvPr id="109" name="Google Shape;109;p18"/>
          <p:cNvSpPr/>
          <p:nvPr/>
        </p:nvSpPr>
        <p:spPr>
          <a:xfrm>
            <a:off x="1092200" y="5074898"/>
            <a:ext cx="1703388" cy="383381"/>
          </a:xfrm>
          <a:prstGeom prst="roundRect">
            <a:avLst>
              <a:gd name="adj" fmla="val 16667"/>
            </a:avLst>
          </a:prstGeom>
          <a:solidFill>
            <a:schemeClr val="lt1"/>
          </a:solidFill>
          <a:ln w="9525" cap="flat" cmpd="sng">
            <a:solidFill>
              <a:schemeClr val="accent1"/>
            </a:solidFill>
            <a:prstDash val="solid"/>
            <a:miter lim="800000"/>
            <a:headEnd type="none" w="sm" len="sm"/>
            <a:tailEnd type="none" w="sm" len="sm"/>
          </a:ln>
          <a:effectLst>
            <a:outerShdw blurRad="25400" dist="12700" dir="3960000" algn="tl" rotWithShape="0">
              <a:srgbClr val="000000">
                <a:alpha val="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0" name="Google Shape;110;p18"/>
          <p:cNvPicPr preferRelativeResize="0"/>
          <p:nvPr/>
        </p:nvPicPr>
        <p:blipFill rotWithShape="1">
          <a:blip r:embed="rId4">
            <a:alphaModFix/>
          </a:blip>
          <a:srcRect/>
          <a:stretch/>
        </p:blipFill>
        <p:spPr>
          <a:xfrm>
            <a:off x="8082178" y="1016000"/>
            <a:ext cx="2407580" cy="1207106"/>
          </a:xfrm>
          <a:prstGeom prst="rect">
            <a:avLst/>
          </a:prstGeom>
          <a:noFill/>
          <a:ln>
            <a:noFill/>
          </a:ln>
        </p:spPr>
      </p:pic>
      <p:pic>
        <p:nvPicPr>
          <p:cNvPr id="111" name="Google Shape;111;p18" descr="A cell phone with a hot dog on the screen&#10;&#10;Description automatically generated"/>
          <p:cNvPicPr preferRelativeResize="0"/>
          <p:nvPr/>
        </p:nvPicPr>
        <p:blipFill rotWithShape="1">
          <a:blip r:embed="rId5">
            <a:alphaModFix/>
          </a:blip>
          <a:srcRect/>
          <a:stretch/>
        </p:blipFill>
        <p:spPr>
          <a:xfrm>
            <a:off x="6216327" y="404120"/>
            <a:ext cx="4812421" cy="5878580"/>
          </a:xfrm>
          <a:prstGeom prst="rect">
            <a:avLst/>
          </a:prstGeom>
          <a:noFill/>
          <a:ln>
            <a:noFill/>
          </a:ln>
        </p:spPr>
      </p:pic>
      <p:pic>
        <p:nvPicPr>
          <p:cNvPr id="112" name="Google Shape;112;p18"/>
          <p:cNvPicPr preferRelativeResize="0"/>
          <p:nvPr/>
        </p:nvPicPr>
        <p:blipFill rotWithShape="1">
          <a:blip r:embed="rId6">
            <a:alphaModFix/>
          </a:blip>
          <a:srcRect/>
          <a:stretch/>
        </p:blipFill>
        <p:spPr>
          <a:xfrm rot="5400000">
            <a:off x="370436" y="730795"/>
            <a:ext cx="506904" cy="254150"/>
          </a:xfrm>
          <a:prstGeom prst="rect">
            <a:avLst/>
          </a:prstGeom>
          <a:noFill/>
          <a:ln>
            <a:noFill/>
          </a:ln>
        </p:spPr>
      </p:pic>
      <p:pic>
        <p:nvPicPr>
          <p:cNvPr id="113" name="Google Shape;113;p18"/>
          <p:cNvPicPr preferRelativeResize="0"/>
          <p:nvPr/>
        </p:nvPicPr>
        <p:blipFill rotWithShape="1">
          <a:blip r:embed="rId7">
            <a:alphaModFix/>
          </a:blip>
          <a:srcRect/>
          <a:stretch/>
        </p:blipFill>
        <p:spPr>
          <a:xfrm rot="-605715">
            <a:off x="4743220" y="2457688"/>
            <a:ext cx="292102" cy="228370"/>
          </a:xfrm>
          <a:prstGeom prst="rect">
            <a:avLst/>
          </a:prstGeom>
          <a:noFill/>
          <a:ln>
            <a:noFill/>
          </a:ln>
        </p:spPr>
      </p:pic>
      <p:pic>
        <p:nvPicPr>
          <p:cNvPr id="114" name="Google Shape;114;p18"/>
          <p:cNvPicPr preferRelativeResize="0"/>
          <p:nvPr/>
        </p:nvPicPr>
        <p:blipFill rotWithShape="1">
          <a:blip r:embed="rId8">
            <a:alphaModFix/>
          </a:blip>
          <a:srcRect/>
          <a:stretch/>
        </p:blipFill>
        <p:spPr>
          <a:xfrm rot="-589488">
            <a:off x="549181" y="1710763"/>
            <a:ext cx="512914" cy="401004"/>
          </a:xfrm>
          <a:prstGeom prst="rect">
            <a:avLst/>
          </a:prstGeom>
          <a:noFill/>
          <a:ln>
            <a:noFill/>
          </a:ln>
        </p:spPr>
      </p:pic>
      <p:pic>
        <p:nvPicPr>
          <p:cNvPr id="115" name="Google Shape;115;p18" descr="A black and white sign with white text&#10;&#10;Description automatically generated"/>
          <p:cNvPicPr preferRelativeResize="0"/>
          <p:nvPr/>
        </p:nvPicPr>
        <p:blipFill rotWithShape="1">
          <a:blip r:embed="rId9">
            <a:alphaModFix/>
          </a:blip>
          <a:srcRect/>
          <a:stretch/>
        </p:blipFill>
        <p:spPr>
          <a:xfrm>
            <a:off x="1099438" y="3289436"/>
            <a:ext cx="1410096" cy="410296"/>
          </a:xfrm>
          <a:prstGeom prst="rect">
            <a:avLst/>
          </a:prstGeom>
          <a:noFill/>
          <a:ln>
            <a:noFill/>
          </a:ln>
        </p:spPr>
      </p:pic>
      <p:pic>
        <p:nvPicPr>
          <p:cNvPr id="116" name="Google Shape;116;p18" descr="A black and white sign with white text&#10;&#10;Description automatically generated"/>
          <p:cNvPicPr preferRelativeResize="0"/>
          <p:nvPr/>
        </p:nvPicPr>
        <p:blipFill rotWithShape="1">
          <a:blip r:embed="rId10">
            <a:alphaModFix/>
          </a:blip>
          <a:srcRect/>
          <a:stretch/>
        </p:blipFill>
        <p:spPr>
          <a:xfrm>
            <a:off x="2637246" y="3289436"/>
            <a:ext cx="1410096" cy="410296"/>
          </a:xfrm>
          <a:prstGeom prst="rect">
            <a:avLst/>
          </a:prstGeom>
          <a:noFill/>
          <a:ln>
            <a:noFill/>
          </a:ln>
        </p:spPr>
      </p:pic>
      <p:pic>
        <p:nvPicPr>
          <p:cNvPr id="117" name="Google Shape;117;p18"/>
          <p:cNvPicPr preferRelativeResize="0"/>
          <p:nvPr/>
        </p:nvPicPr>
        <p:blipFill rotWithShape="1">
          <a:blip r:embed="rId11">
            <a:alphaModFix/>
          </a:blip>
          <a:srcRect/>
          <a:stretch/>
        </p:blipFill>
        <p:spPr>
          <a:xfrm>
            <a:off x="2492225" y="5157049"/>
            <a:ext cx="226382" cy="219078"/>
          </a:xfrm>
          <a:prstGeom prst="rect">
            <a:avLst/>
          </a:prstGeom>
          <a:noFill/>
          <a:ln>
            <a:noFill/>
          </a:ln>
        </p:spPr>
      </p:pic>
      <p:sp>
        <p:nvSpPr>
          <p:cNvPr id="118" name="Google Shape;118;p18"/>
          <p:cNvSpPr/>
          <p:nvPr/>
        </p:nvSpPr>
        <p:spPr>
          <a:xfrm>
            <a:off x="1092198" y="5119399"/>
            <a:ext cx="1322388" cy="385230"/>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18"/>
          <p:cNvSpPr txBox="1"/>
          <p:nvPr/>
        </p:nvSpPr>
        <p:spPr>
          <a:xfrm>
            <a:off x="1092199" y="5128088"/>
            <a:ext cx="133350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lt1"/>
                </a:solidFill>
                <a:latin typeface="Poppins"/>
                <a:ea typeface="Poppins"/>
                <a:cs typeface="Poppins"/>
                <a:sym typeface="Poppins"/>
              </a:rPr>
              <a:t>Home Delivery</a:t>
            </a:r>
            <a:endParaRPr sz="1200" b="1" dirty="0">
              <a:solidFill>
                <a:schemeClr val="lt1"/>
              </a:solidFill>
              <a:latin typeface="Poppins"/>
              <a:ea typeface="Poppins"/>
              <a:cs typeface="Poppins"/>
              <a:sym typeface="Poppins"/>
            </a:endParaRPr>
          </a:p>
        </p:txBody>
      </p:sp>
      <p:sp>
        <p:nvSpPr>
          <p:cNvPr id="120" name="Google Shape;120;p18"/>
          <p:cNvSpPr txBox="1">
            <a:spLocks noGrp="1"/>
          </p:cNvSpPr>
          <p:nvPr>
            <p:ph type="title"/>
          </p:nvPr>
        </p:nvSpPr>
        <p:spPr>
          <a:xfrm>
            <a:off x="971549" y="1555750"/>
            <a:ext cx="5429251" cy="2308284"/>
          </a:xfrm>
          <a:prstGeom prst="rect">
            <a:avLst/>
          </a:prstGeom>
          <a:noFill/>
          <a:ln>
            <a:noFill/>
          </a:ln>
        </p:spPr>
        <p:txBody>
          <a:bodyPr spcFirstLastPara="1" wrap="square" lIns="91425" tIns="45700" rIns="91425" bIns="45700" anchor="t" anchorCtr="0">
            <a:spAutoFit/>
          </a:bodyPr>
          <a:lstStyle/>
          <a:p>
            <a:pPr marL="0" lvl="0" indent="0" algn="l" rtl="0">
              <a:lnSpc>
                <a:spcPct val="80000"/>
              </a:lnSpc>
              <a:spcBef>
                <a:spcPts val="0"/>
              </a:spcBef>
              <a:spcAft>
                <a:spcPts val="0"/>
              </a:spcAft>
              <a:buClr>
                <a:schemeClr val="accent1"/>
              </a:buClr>
              <a:buSzPts val="6000"/>
              <a:buFont typeface="Poppins"/>
              <a:buNone/>
            </a:pPr>
            <a:r>
              <a:rPr lang="en-US" sz="6000" b="1" dirty="0">
                <a:solidFill>
                  <a:schemeClr val="accent1"/>
                </a:solidFill>
                <a:latin typeface="Poppins"/>
                <a:ea typeface="Poppins"/>
                <a:cs typeface="Poppins"/>
                <a:sym typeface="Poppins"/>
              </a:rPr>
              <a:t>Zomato Data Analysis</a:t>
            </a:r>
            <a:br>
              <a:rPr lang="en-US" sz="6000" b="1" dirty="0">
                <a:solidFill>
                  <a:schemeClr val="accent1"/>
                </a:solidFill>
                <a:latin typeface="Poppins"/>
                <a:ea typeface="Poppins"/>
                <a:cs typeface="Poppins"/>
                <a:sym typeface="Poppins"/>
              </a:rPr>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19"/>
          <p:cNvPicPr preferRelativeResize="0"/>
          <p:nvPr/>
        </p:nvPicPr>
        <p:blipFill>
          <a:blip r:embed="rId3">
            <a:alphaModFix/>
          </a:blip>
          <a:stretch>
            <a:fillRect/>
          </a:stretch>
        </p:blipFill>
        <p:spPr>
          <a:xfrm>
            <a:off x="6096000" y="-15125"/>
            <a:ext cx="6096001" cy="6287281"/>
          </a:xfrm>
          <a:prstGeom prst="rect">
            <a:avLst/>
          </a:prstGeom>
          <a:noFill/>
          <a:ln>
            <a:noFill/>
          </a:ln>
        </p:spPr>
      </p:pic>
      <p:pic>
        <p:nvPicPr>
          <p:cNvPr id="127" name="Google Shape;127;p19"/>
          <p:cNvPicPr preferRelativeResize="0"/>
          <p:nvPr/>
        </p:nvPicPr>
        <p:blipFill rotWithShape="1">
          <a:blip r:embed="rId4">
            <a:alphaModFix/>
          </a:blip>
          <a:srcRect/>
          <a:stretch/>
        </p:blipFill>
        <p:spPr>
          <a:xfrm rot="10800000">
            <a:off x="4507667" y="316667"/>
            <a:ext cx="356384" cy="178682"/>
          </a:xfrm>
          <a:prstGeom prst="rect">
            <a:avLst/>
          </a:prstGeom>
          <a:noFill/>
          <a:ln>
            <a:noFill/>
          </a:ln>
        </p:spPr>
      </p:pic>
      <p:pic>
        <p:nvPicPr>
          <p:cNvPr id="128" name="Google Shape;128;p19"/>
          <p:cNvPicPr preferRelativeResize="0"/>
          <p:nvPr/>
        </p:nvPicPr>
        <p:blipFill rotWithShape="1">
          <a:blip r:embed="rId5">
            <a:alphaModFix/>
          </a:blip>
          <a:srcRect/>
          <a:stretch/>
        </p:blipFill>
        <p:spPr>
          <a:xfrm rot="-605715">
            <a:off x="4323286" y="850389"/>
            <a:ext cx="124112" cy="97032"/>
          </a:xfrm>
          <a:prstGeom prst="rect">
            <a:avLst/>
          </a:prstGeom>
          <a:noFill/>
          <a:ln>
            <a:noFill/>
          </a:ln>
        </p:spPr>
      </p:pic>
      <p:pic>
        <p:nvPicPr>
          <p:cNvPr id="129" name="Google Shape;129;p19"/>
          <p:cNvPicPr preferRelativeResize="0"/>
          <p:nvPr/>
        </p:nvPicPr>
        <p:blipFill rotWithShape="1">
          <a:blip r:embed="rId6">
            <a:alphaModFix/>
          </a:blip>
          <a:srcRect/>
          <a:stretch/>
        </p:blipFill>
        <p:spPr>
          <a:xfrm rot="-589488">
            <a:off x="593124" y="830278"/>
            <a:ext cx="202415" cy="158251"/>
          </a:xfrm>
          <a:prstGeom prst="rect">
            <a:avLst/>
          </a:prstGeom>
          <a:noFill/>
          <a:ln>
            <a:noFill/>
          </a:ln>
        </p:spPr>
      </p:pic>
      <p:sp>
        <p:nvSpPr>
          <p:cNvPr id="130" name="Google Shape;130;p19"/>
          <p:cNvSpPr/>
          <p:nvPr/>
        </p:nvSpPr>
        <p:spPr>
          <a:xfrm>
            <a:off x="804051" y="1503151"/>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9"/>
          <p:cNvSpPr txBox="1"/>
          <p:nvPr/>
        </p:nvSpPr>
        <p:spPr>
          <a:xfrm>
            <a:off x="808750" y="1607145"/>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01</a:t>
            </a:r>
            <a:endParaRPr sz="1400" b="1">
              <a:solidFill>
                <a:schemeClr val="accent1"/>
              </a:solidFill>
              <a:latin typeface="Poppins"/>
              <a:ea typeface="Poppins"/>
              <a:cs typeface="Poppins"/>
              <a:sym typeface="Poppins"/>
            </a:endParaRPr>
          </a:p>
        </p:txBody>
      </p:sp>
      <p:pic>
        <p:nvPicPr>
          <p:cNvPr id="132" name="Google Shape;132;p19"/>
          <p:cNvPicPr preferRelativeResize="0"/>
          <p:nvPr/>
        </p:nvPicPr>
        <p:blipFill rotWithShape="1">
          <a:blip r:embed="rId7">
            <a:alphaModFix/>
          </a:blip>
          <a:srcRect/>
          <a:stretch/>
        </p:blipFill>
        <p:spPr>
          <a:xfrm>
            <a:off x="10422771" y="0"/>
            <a:ext cx="1544422" cy="774338"/>
          </a:xfrm>
          <a:prstGeom prst="rect">
            <a:avLst/>
          </a:prstGeom>
          <a:noFill/>
          <a:ln>
            <a:noFill/>
          </a:ln>
        </p:spPr>
      </p:pic>
      <p:sp>
        <p:nvSpPr>
          <p:cNvPr id="133" name="Google Shape;133;p19"/>
          <p:cNvSpPr/>
          <p:nvPr/>
        </p:nvSpPr>
        <p:spPr>
          <a:xfrm>
            <a:off x="804051" y="2259548"/>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19"/>
          <p:cNvSpPr txBox="1"/>
          <p:nvPr/>
        </p:nvSpPr>
        <p:spPr>
          <a:xfrm>
            <a:off x="808750" y="2363542"/>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02</a:t>
            </a:r>
            <a:endParaRPr sz="1400" b="1">
              <a:solidFill>
                <a:schemeClr val="accent1"/>
              </a:solidFill>
              <a:latin typeface="Poppins"/>
              <a:ea typeface="Poppins"/>
              <a:cs typeface="Poppins"/>
              <a:sym typeface="Poppins"/>
            </a:endParaRPr>
          </a:p>
        </p:txBody>
      </p:sp>
      <p:sp>
        <p:nvSpPr>
          <p:cNvPr id="135" name="Google Shape;135;p19"/>
          <p:cNvSpPr/>
          <p:nvPr/>
        </p:nvSpPr>
        <p:spPr>
          <a:xfrm>
            <a:off x="804051" y="3015945"/>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19"/>
          <p:cNvSpPr txBox="1"/>
          <p:nvPr/>
        </p:nvSpPr>
        <p:spPr>
          <a:xfrm>
            <a:off x="808750" y="3119939"/>
            <a:ext cx="50636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chemeClr val="accent1"/>
                </a:solidFill>
                <a:latin typeface="Poppins"/>
                <a:ea typeface="Poppins"/>
                <a:cs typeface="Poppins"/>
                <a:sym typeface="Poppins"/>
              </a:rPr>
              <a:t>03</a:t>
            </a:r>
            <a:endParaRPr sz="1400" b="1">
              <a:solidFill>
                <a:schemeClr val="accent1"/>
              </a:solidFill>
              <a:latin typeface="Poppins"/>
              <a:ea typeface="Poppins"/>
              <a:cs typeface="Poppins"/>
              <a:sym typeface="Poppins"/>
            </a:endParaRPr>
          </a:p>
        </p:txBody>
      </p:sp>
      <p:sp>
        <p:nvSpPr>
          <p:cNvPr id="139" name="Google Shape;139;p19"/>
          <p:cNvSpPr/>
          <p:nvPr/>
        </p:nvSpPr>
        <p:spPr>
          <a:xfrm>
            <a:off x="804051" y="3766737"/>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19"/>
          <p:cNvSpPr txBox="1"/>
          <p:nvPr/>
        </p:nvSpPr>
        <p:spPr>
          <a:xfrm>
            <a:off x="842412" y="3870731"/>
            <a:ext cx="439044"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04</a:t>
            </a:r>
            <a:endParaRPr sz="1400" b="1" dirty="0">
              <a:solidFill>
                <a:schemeClr val="accent1"/>
              </a:solidFill>
              <a:latin typeface="Poppins"/>
              <a:ea typeface="Poppins"/>
              <a:cs typeface="Poppins"/>
              <a:sym typeface="Poppins"/>
            </a:endParaRPr>
          </a:p>
        </p:txBody>
      </p:sp>
      <p:sp>
        <p:nvSpPr>
          <p:cNvPr id="141" name="Google Shape;141;p19"/>
          <p:cNvSpPr/>
          <p:nvPr/>
        </p:nvSpPr>
        <p:spPr>
          <a:xfrm>
            <a:off x="813898" y="4523136"/>
            <a:ext cx="515764" cy="515764"/>
          </a:xfrm>
          <a:prstGeom prst="ellipse">
            <a:avLst/>
          </a:prstGeom>
          <a:solidFill>
            <a:srgbClr val="D8D8D8"/>
          </a:solidFill>
          <a:ln>
            <a:noFill/>
          </a:ln>
          <a:effectLst>
            <a:outerShdw blurRad="38100" sx="102000" sy="102000" algn="ctr" rotWithShape="0">
              <a:srgbClr val="000000">
                <a:alpha val="1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19"/>
          <p:cNvSpPr txBox="1"/>
          <p:nvPr/>
        </p:nvSpPr>
        <p:spPr>
          <a:xfrm>
            <a:off x="804051" y="4627130"/>
            <a:ext cx="53545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a:solidFill>
                  <a:schemeClr val="accent1"/>
                </a:solidFill>
                <a:latin typeface="Poppins"/>
                <a:ea typeface="Poppins"/>
                <a:cs typeface="Poppins"/>
                <a:sym typeface="Poppins"/>
              </a:rPr>
              <a:t>05</a:t>
            </a:r>
            <a:endParaRPr sz="1400" b="1" dirty="0">
              <a:solidFill>
                <a:schemeClr val="accent1"/>
              </a:solidFill>
              <a:latin typeface="Poppins"/>
              <a:ea typeface="Poppins"/>
              <a:cs typeface="Poppins"/>
              <a:sym typeface="Poppins"/>
            </a:endParaRPr>
          </a:p>
        </p:txBody>
      </p:sp>
      <p:pic>
        <p:nvPicPr>
          <p:cNvPr id="143" name="Google Shape;143;p19" descr="A burger on a wooden stand&#10;&#10;Description automatically generated"/>
          <p:cNvPicPr preferRelativeResize="0"/>
          <p:nvPr/>
        </p:nvPicPr>
        <p:blipFill rotWithShape="1">
          <a:blip r:embed="rId8">
            <a:alphaModFix/>
          </a:blip>
          <a:srcRect/>
          <a:stretch/>
        </p:blipFill>
        <p:spPr>
          <a:xfrm>
            <a:off x="6263066" y="-1449502"/>
            <a:ext cx="5928934" cy="8893403"/>
          </a:xfrm>
          <a:prstGeom prst="rect">
            <a:avLst/>
          </a:prstGeom>
          <a:noFill/>
          <a:ln>
            <a:noFill/>
          </a:ln>
        </p:spPr>
      </p:pic>
      <p:sp>
        <p:nvSpPr>
          <p:cNvPr id="144" name="Google Shape;144;p19"/>
          <p:cNvSpPr txBox="1">
            <a:spLocks noGrp="1"/>
          </p:cNvSpPr>
          <p:nvPr>
            <p:ph type="title"/>
          </p:nvPr>
        </p:nvSpPr>
        <p:spPr>
          <a:xfrm>
            <a:off x="713072" y="653882"/>
            <a:ext cx="3810802"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Table Of Contents</a:t>
            </a:r>
            <a:endParaRPr dirty="0"/>
          </a:p>
        </p:txBody>
      </p:sp>
      <p:sp>
        <p:nvSpPr>
          <p:cNvPr id="145" name="Google Shape;145;p19"/>
          <p:cNvSpPr txBox="1">
            <a:spLocks noGrp="1"/>
          </p:cNvSpPr>
          <p:nvPr>
            <p:ph type="body" idx="1"/>
          </p:nvPr>
        </p:nvSpPr>
        <p:spPr>
          <a:xfrm>
            <a:off x="1375977" y="1636046"/>
            <a:ext cx="3330776" cy="288028"/>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rgbClr val="0C0C0C"/>
              </a:buClr>
              <a:buSzPts val="1400"/>
              <a:buNone/>
            </a:pPr>
            <a:r>
              <a:rPr lang="en-US" sz="1400" dirty="0">
                <a:solidFill>
                  <a:srgbClr val="0C0C0C"/>
                </a:solidFill>
                <a:latin typeface="Poppins"/>
                <a:ea typeface="Poppins"/>
                <a:cs typeface="Poppins"/>
                <a:sym typeface="Poppins"/>
              </a:rPr>
              <a:t>About Zomato</a:t>
            </a:r>
            <a:endParaRPr sz="1400" dirty="0">
              <a:solidFill>
                <a:srgbClr val="0C0C0C"/>
              </a:solidFill>
              <a:latin typeface="Poppins"/>
              <a:ea typeface="Poppins"/>
              <a:cs typeface="Poppins"/>
              <a:sym typeface="Poppins"/>
            </a:endParaRPr>
          </a:p>
        </p:txBody>
      </p:sp>
      <p:sp>
        <p:nvSpPr>
          <p:cNvPr id="146" name="Google Shape;146;p19"/>
          <p:cNvSpPr txBox="1">
            <a:spLocks noGrp="1"/>
          </p:cNvSpPr>
          <p:nvPr>
            <p:ph type="body" idx="2"/>
          </p:nvPr>
        </p:nvSpPr>
        <p:spPr>
          <a:xfrm>
            <a:off x="1383997" y="2394836"/>
            <a:ext cx="4389273" cy="28619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rgbClr val="0C0C0C"/>
              </a:buClr>
              <a:buSzPts val="1400"/>
              <a:buNone/>
            </a:pPr>
            <a:r>
              <a:rPr lang="it-IT" sz="1400" dirty="0">
                <a:solidFill>
                  <a:srgbClr val="0C0C0C"/>
                </a:solidFill>
                <a:latin typeface="Poppins"/>
                <a:ea typeface="Poppins"/>
                <a:cs typeface="Poppins"/>
                <a:sym typeface="Poppins"/>
              </a:rPr>
              <a:t>Timeline &amp; Zomato Social Media Following</a:t>
            </a:r>
          </a:p>
        </p:txBody>
      </p:sp>
      <p:sp>
        <p:nvSpPr>
          <p:cNvPr id="147" name="Google Shape;147;p19"/>
          <p:cNvSpPr txBox="1">
            <a:spLocks noGrp="1"/>
          </p:cNvSpPr>
          <p:nvPr>
            <p:ph type="body" idx="3"/>
          </p:nvPr>
        </p:nvSpPr>
        <p:spPr>
          <a:xfrm>
            <a:off x="1382400" y="3150600"/>
            <a:ext cx="5125976" cy="28619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rgbClr val="0C0C0C"/>
              </a:buClr>
              <a:buSzPts val="1400"/>
              <a:buNone/>
            </a:pPr>
            <a:r>
              <a:rPr lang="en-US" sz="1400" dirty="0">
                <a:solidFill>
                  <a:srgbClr val="0C0C0C"/>
                </a:solidFill>
                <a:latin typeface="Poppins"/>
                <a:ea typeface="Poppins"/>
                <a:cs typeface="Poppins"/>
                <a:sym typeface="Poppins"/>
              </a:rPr>
              <a:t>Vision</a:t>
            </a:r>
            <a:r>
              <a:rPr lang="en-US" dirty="0"/>
              <a:t> statement and principles &amp; services offered</a:t>
            </a:r>
            <a:endParaRPr lang="en-US" sz="1400" dirty="0">
              <a:solidFill>
                <a:srgbClr val="0C0C0C"/>
              </a:solidFill>
              <a:latin typeface="Poppins"/>
              <a:ea typeface="Poppins"/>
              <a:cs typeface="Poppins"/>
              <a:sym typeface="Poppins"/>
            </a:endParaRPr>
          </a:p>
        </p:txBody>
      </p:sp>
      <p:sp>
        <p:nvSpPr>
          <p:cNvPr id="149" name="Google Shape;149;p19"/>
          <p:cNvSpPr txBox="1">
            <a:spLocks noGrp="1"/>
          </p:cNvSpPr>
          <p:nvPr>
            <p:ph type="body" idx="5"/>
          </p:nvPr>
        </p:nvSpPr>
        <p:spPr>
          <a:xfrm>
            <a:off x="1376998" y="3906173"/>
            <a:ext cx="4467989" cy="28619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rgbClr val="0C0C0C"/>
              </a:buClr>
              <a:buSzPts val="1400"/>
              <a:buNone/>
            </a:pPr>
            <a:r>
              <a:rPr lang="en-US" dirty="0"/>
              <a:t>Zomato Competitors, Services &amp; CSR Activities </a:t>
            </a:r>
            <a:endParaRPr sz="1400" dirty="0">
              <a:solidFill>
                <a:srgbClr val="0C0C0C"/>
              </a:solidFill>
              <a:latin typeface="Poppins"/>
              <a:ea typeface="Poppins"/>
              <a:cs typeface="Poppins"/>
              <a:sym typeface="Poppins"/>
            </a:endParaRPr>
          </a:p>
        </p:txBody>
      </p:sp>
      <p:sp>
        <p:nvSpPr>
          <p:cNvPr id="150" name="Google Shape;150;p19"/>
          <p:cNvSpPr txBox="1">
            <a:spLocks noGrp="1"/>
          </p:cNvSpPr>
          <p:nvPr>
            <p:ph type="body" idx="6"/>
          </p:nvPr>
        </p:nvSpPr>
        <p:spPr>
          <a:xfrm>
            <a:off x="1385018" y="4655345"/>
            <a:ext cx="3206233" cy="288028"/>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rgbClr val="0C0C0C"/>
              </a:buClr>
              <a:buSzPts val="1400"/>
              <a:buNone/>
            </a:pPr>
            <a:r>
              <a:rPr lang="en-US" dirty="0"/>
              <a:t>Analysis</a:t>
            </a:r>
            <a:endParaRPr sz="1400" dirty="0">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anim calcmode="lin" valueType="num">
                                      <p:cBhvr additive="base">
                                        <p:cTn id="7" dur="500" fill="hold"/>
                                        <p:tgtEl>
                                          <p:spTgt spid="14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6">
                                            <p:txEl>
                                              <p:pRg st="0" end="0"/>
                                            </p:txEl>
                                          </p:spTgt>
                                        </p:tgtEl>
                                        <p:attrNameLst>
                                          <p:attrName>style.visibility</p:attrName>
                                        </p:attrNameLst>
                                      </p:cBhvr>
                                      <p:to>
                                        <p:strVal val="visible"/>
                                      </p:to>
                                    </p:set>
                                    <p:anim calcmode="lin" valueType="num">
                                      <p:cBhvr additive="base">
                                        <p:cTn id="11" dur="500" fill="hold"/>
                                        <p:tgtEl>
                                          <p:spTgt spid="14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6">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7">
                                            <p:txEl>
                                              <p:pRg st="0" end="0"/>
                                            </p:txEl>
                                          </p:spTgt>
                                        </p:tgtEl>
                                        <p:attrNameLst>
                                          <p:attrName>style.visibility</p:attrName>
                                        </p:attrNameLst>
                                      </p:cBhvr>
                                      <p:to>
                                        <p:strVal val="visible"/>
                                      </p:to>
                                    </p:set>
                                    <p:anim calcmode="lin" valueType="num">
                                      <p:cBhvr additive="base">
                                        <p:cTn id="15" dur="500" fill="hold"/>
                                        <p:tgtEl>
                                          <p:spTgt spid="147">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7">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9">
                                            <p:txEl>
                                              <p:pRg st="0" end="0"/>
                                            </p:txEl>
                                          </p:spTgt>
                                        </p:tgtEl>
                                        <p:attrNameLst>
                                          <p:attrName>style.visibility</p:attrName>
                                        </p:attrNameLst>
                                      </p:cBhvr>
                                      <p:to>
                                        <p:strVal val="visible"/>
                                      </p:to>
                                    </p:set>
                                    <p:anim calcmode="lin" valueType="num">
                                      <p:cBhvr additive="base">
                                        <p:cTn id="19" dur="500" fill="hold"/>
                                        <p:tgtEl>
                                          <p:spTgt spid="14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9">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0">
                                            <p:txEl>
                                              <p:pRg st="0" end="0"/>
                                            </p:txEl>
                                          </p:spTgt>
                                        </p:tgtEl>
                                        <p:attrNameLst>
                                          <p:attrName>style.visibility</p:attrName>
                                        </p:attrNameLst>
                                      </p:cBhvr>
                                      <p:to>
                                        <p:strVal val="visible"/>
                                      </p:to>
                                    </p:set>
                                    <p:anim calcmode="lin" valueType="num">
                                      <p:cBhvr additive="base">
                                        <p:cTn id="23" dur="500" fill="hold"/>
                                        <p:tgtEl>
                                          <p:spTgt spid="15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build="p"/>
      <p:bldP spid="146" grpId="0" build="p"/>
      <p:bldP spid="147" grpId="0" build="p"/>
      <p:bldP spid="149" grpId="0" build="p"/>
      <p:bldP spid="15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0"/>
          <p:cNvPicPr preferRelativeResize="0"/>
          <p:nvPr/>
        </p:nvPicPr>
        <p:blipFill>
          <a:blip r:embed="rId3">
            <a:alphaModFix/>
          </a:blip>
          <a:stretch>
            <a:fillRect/>
          </a:stretch>
        </p:blipFill>
        <p:spPr>
          <a:xfrm>
            <a:off x="7066204" y="0"/>
            <a:ext cx="5125792" cy="6858001"/>
          </a:xfrm>
          <a:prstGeom prst="rect">
            <a:avLst/>
          </a:prstGeom>
          <a:noFill/>
          <a:ln>
            <a:noFill/>
          </a:ln>
        </p:spPr>
      </p:pic>
      <p:grpSp>
        <p:nvGrpSpPr>
          <p:cNvPr id="156" name="Google Shape;156;p20"/>
          <p:cNvGrpSpPr/>
          <p:nvPr/>
        </p:nvGrpSpPr>
        <p:grpSpPr>
          <a:xfrm>
            <a:off x="5787348" y="1787565"/>
            <a:ext cx="5947452" cy="4497284"/>
            <a:chOff x="5627688" y="1574800"/>
            <a:chExt cx="6107112" cy="4618014"/>
          </a:xfrm>
        </p:grpSpPr>
        <p:pic>
          <p:nvPicPr>
            <p:cNvPr id="157" name="Google Shape;157;p20" descr="A black background with a black square&#10;&#10;Description automatically generated with medium confidence"/>
            <p:cNvPicPr preferRelativeResize="0"/>
            <p:nvPr/>
          </p:nvPicPr>
          <p:blipFill rotWithShape="1">
            <a:blip r:embed="rId4">
              <a:alphaModFix amt="54000"/>
            </a:blip>
            <a:srcRect/>
            <a:stretch/>
          </p:blipFill>
          <p:spPr>
            <a:xfrm flipH="1">
              <a:off x="9240002" y="5650005"/>
              <a:ext cx="2347996" cy="203200"/>
            </a:xfrm>
            <a:prstGeom prst="rect">
              <a:avLst/>
            </a:prstGeom>
            <a:noFill/>
            <a:ln>
              <a:noFill/>
            </a:ln>
          </p:spPr>
        </p:pic>
        <p:pic>
          <p:nvPicPr>
            <p:cNvPr id="158" name="Google Shape;158;p20" descr="A black background with a black square&#10;&#10;Description automatically generated with medium confidence"/>
            <p:cNvPicPr preferRelativeResize="0"/>
            <p:nvPr/>
          </p:nvPicPr>
          <p:blipFill rotWithShape="1">
            <a:blip r:embed="rId4">
              <a:alphaModFix amt="49000"/>
            </a:blip>
            <a:srcRect/>
            <a:stretch/>
          </p:blipFill>
          <p:spPr>
            <a:xfrm flipH="1">
              <a:off x="5627688" y="5657850"/>
              <a:ext cx="2347996" cy="203200"/>
            </a:xfrm>
            <a:prstGeom prst="rect">
              <a:avLst/>
            </a:prstGeom>
            <a:noFill/>
            <a:ln>
              <a:noFill/>
            </a:ln>
          </p:spPr>
        </p:pic>
        <p:pic>
          <p:nvPicPr>
            <p:cNvPr id="159" name="Google Shape;159;p20" descr="A black background with a black square&#10;&#10;Description automatically generated with medium confidence"/>
            <p:cNvPicPr preferRelativeResize="0"/>
            <p:nvPr/>
          </p:nvPicPr>
          <p:blipFill rotWithShape="1">
            <a:blip r:embed="rId4">
              <a:alphaModFix amt="67000"/>
            </a:blip>
            <a:srcRect/>
            <a:stretch/>
          </p:blipFill>
          <p:spPr>
            <a:xfrm flipH="1">
              <a:off x="6619874" y="5868520"/>
              <a:ext cx="4610099" cy="324294"/>
            </a:xfrm>
            <a:prstGeom prst="rect">
              <a:avLst/>
            </a:prstGeom>
            <a:noFill/>
            <a:ln>
              <a:noFill/>
            </a:ln>
          </p:spPr>
        </p:pic>
        <p:pic>
          <p:nvPicPr>
            <p:cNvPr id="160" name="Google Shape;160;p20" descr="A cell phone with a red moped&#10;&#10;Description automatically generated"/>
            <p:cNvPicPr preferRelativeResize="0"/>
            <p:nvPr/>
          </p:nvPicPr>
          <p:blipFill rotWithShape="1">
            <a:blip r:embed="rId5">
              <a:alphaModFix/>
            </a:blip>
            <a:srcRect/>
            <a:stretch/>
          </p:blipFill>
          <p:spPr>
            <a:xfrm>
              <a:off x="6339840" y="1574800"/>
              <a:ext cx="5394960" cy="4495800"/>
            </a:xfrm>
            <a:prstGeom prst="rect">
              <a:avLst/>
            </a:prstGeom>
            <a:noFill/>
            <a:ln>
              <a:noFill/>
            </a:ln>
          </p:spPr>
        </p:pic>
      </p:grpSp>
      <p:pic>
        <p:nvPicPr>
          <p:cNvPr id="161" name="Google Shape;161;p20"/>
          <p:cNvPicPr preferRelativeResize="0"/>
          <p:nvPr/>
        </p:nvPicPr>
        <p:blipFill rotWithShape="1">
          <a:blip r:embed="rId6">
            <a:alphaModFix/>
          </a:blip>
          <a:srcRect/>
          <a:stretch/>
        </p:blipFill>
        <p:spPr>
          <a:xfrm>
            <a:off x="10539535" y="838200"/>
            <a:ext cx="1544422" cy="774338"/>
          </a:xfrm>
          <a:prstGeom prst="rect">
            <a:avLst/>
          </a:prstGeom>
          <a:noFill/>
          <a:ln>
            <a:noFill/>
          </a:ln>
        </p:spPr>
      </p:pic>
      <p:pic>
        <p:nvPicPr>
          <p:cNvPr id="162" name="Google Shape;162;p20"/>
          <p:cNvPicPr preferRelativeResize="0"/>
          <p:nvPr/>
        </p:nvPicPr>
        <p:blipFill rotWithShape="1">
          <a:blip r:embed="rId7">
            <a:alphaModFix/>
          </a:blip>
          <a:srcRect/>
          <a:stretch/>
        </p:blipFill>
        <p:spPr>
          <a:xfrm rot="-589488">
            <a:off x="629555" y="1962007"/>
            <a:ext cx="202415" cy="158251"/>
          </a:xfrm>
          <a:prstGeom prst="rect">
            <a:avLst/>
          </a:prstGeom>
          <a:noFill/>
          <a:ln>
            <a:noFill/>
          </a:ln>
        </p:spPr>
      </p:pic>
      <p:pic>
        <p:nvPicPr>
          <p:cNvPr id="163" name="Google Shape;163;p20"/>
          <p:cNvPicPr preferRelativeResize="0"/>
          <p:nvPr/>
        </p:nvPicPr>
        <p:blipFill rotWithShape="1">
          <a:blip r:embed="rId8">
            <a:alphaModFix/>
          </a:blip>
          <a:srcRect/>
          <a:stretch/>
        </p:blipFill>
        <p:spPr>
          <a:xfrm rot="-605715">
            <a:off x="3511710" y="1897381"/>
            <a:ext cx="124112" cy="97032"/>
          </a:xfrm>
          <a:prstGeom prst="rect">
            <a:avLst/>
          </a:prstGeom>
          <a:noFill/>
          <a:ln>
            <a:noFill/>
          </a:ln>
        </p:spPr>
      </p:pic>
      <p:sp>
        <p:nvSpPr>
          <p:cNvPr id="164" name="Google Shape;164;p20"/>
          <p:cNvSpPr txBox="1"/>
          <p:nvPr/>
        </p:nvSpPr>
        <p:spPr>
          <a:xfrm>
            <a:off x="704956" y="2390543"/>
            <a:ext cx="5876819" cy="2845547"/>
          </a:xfrm>
          <a:prstGeom prst="rect">
            <a:avLst/>
          </a:prstGeom>
          <a:noFill/>
          <a:ln>
            <a:noFill/>
          </a:ln>
        </p:spPr>
        <p:txBody>
          <a:bodyPr spcFirstLastPara="1" wrap="square" lIns="91425" tIns="45700" rIns="91425" bIns="45700" anchor="t" anchorCtr="0">
            <a:spAutoFit/>
          </a:bodyPr>
          <a:lstStyle/>
          <a:p>
            <a:pPr marL="0" marR="0" lvl="0" indent="0" algn="l" rtl="0">
              <a:lnSpc>
                <a:spcPct val="141666"/>
              </a:lnSpc>
              <a:spcBef>
                <a:spcPts val="0"/>
              </a:spcBef>
              <a:spcAft>
                <a:spcPts val="0"/>
              </a:spcAft>
              <a:buNone/>
            </a:pPr>
            <a:r>
              <a:rPr lang="en-US" b="0" i="0" dirty="0">
                <a:solidFill>
                  <a:srgbClr val="0C0C0C"/>
                </a:solidFill>
                <a:latin typeface="Calibri"/>
                <a:ea typeface="Calibri"/>
                <a:cs typeface="Calibri"/>
                <a:sym typeface="Calibri"/>
              </a:rPr>
              <a:t>Zomato is an Indian restaurant discovery and food delivery startup founded in 2008. It operates a mobile app that provides information about restaurants such as menus, photos and locations to help users discover new places to eat. Zomato aims to ensure no one has a bad meal by building experiences around dining and enabling restaurants. While it faces threats from competition and regulations, Zomato sees opportunities from expanding globally and increasing smartphone and internet users. Currently operating in over 10,000 cities across 24 countries, Zomato's vision is to help users find great places to eat anywhere in the world.</a:t>
            </a:r>
            <a:endParaRPr lang="en-US" dirty="0">
              <a:solidFill>
                <a:srgbClr val="0C0C0C"/>
              </a:solidFill>
              <a:latin typeface="Calibri"/>
              <a:ea typeface="Calibri"/>
              <a:cs typeface="Calibri"/>
              <a:sym typeface="Calibri"/>
            </a:endParaRPr>
          </a:p>
        </p:txBody>
      </p:sp>
      <p:pic>
        <p:nvPicPr>
          <p:cNvPr id="165" name="Google Shape;165;p20"/>
          <p:cNvPicPr preferRelativeResize="0"/>
          <p:nvPr/>
        </p:nvPicPr>
        <p:blipFill rotWithShape="1">
          <a:blip r:embed="rId9">
            <a:alphaModFix/>
          </a:blip>
          <a:srcRect/>
          <a:stretch/>
        </p:blipFill>
        <p:spPr>
          <a:xfrm>
            <a:off x="3710536" y="5442495"/>
            <a:ext cx="506904" cy="254150"/>
          </a:xfrm>
          <a:prstGeom prst="rect">
            <a:avLst/>
          </a:prstGeom>
          <a:noFill/>
          <a:ln>
            <a:noFill/>
          </a:ln>
        </p:spPr>
      </p:pic>
      <p:pic>
        <p:nvPicPr>
          <p:cNvPr id="166" name="Google Shape;166;p20"/>
          <p:cNvPicPr preferRelativeResize="0"/>
          <p:nvPr/>
        </p:nvPicPr>
        <p:blipFill rotWithShape="1">
          <a:blip r:embed="rId9">
            <a:alphaModFix/>
          </a:blip>
          <a:srcRect/>
          <a:stretch/>
        </p:blipFill>
        <p:spPr>
          <a:xfrm rot="5400000">
            <a:off x="5272636" y="1314995"/>
            <a:ext cx="506904" cy="254150"/>
          </a:xfrm>
          <a:prstGeom prst="rect">
            <a:avLst/>
          </a:prstGeom>
          <a:noFill/>
          <a:ln>
            <a:noFill/>
          </a:ln>
        </p:spPr>
      </p:pic>
      <p:sp>
        <p:nvSpPr>
          <p:cNvPr id="167" name="Google Shape;167;p20"/>
          <p:cNvSpPr txBox="1">
            <a:spLocks noGrp="1"/>
          </p:cNvSpPr>
          <p:nvPr>
            <p:ph type="title"/>
          </p:nvPr>
        </p:nvSpPr>
        <p:spPr>
          <a:xfrm>
            <a:off x="711200" y="1825625"/>
            <a:ext cx="2999336" cy="50779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latin typeface="Poppins"/>
                <a:ea typeface="Poppins"/>
                <a:cs typeface="Poppins"/>
                <a:sym typeface="Poppins"/>
              </a:rPr>
              <a:t>About Zomato</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2"/>
          <p:cNvPicPr preferRelativeResize="0"/>
          <p:nvPr/>
        </p:nvPicPr>
        <p:blipFill>
          <a:blip r:embed="rId3">
            <a:alphaModFix/>
          </a:blip>
          <a:stretch>
            <a:fillRect/>
          </a:stretch>
        </p:blipFill>
        <p:spPr>
          <a:xfrm>
            <a:off x="9020096" y="0"/>
            <a:ext cx="3171909" cy="6858000"/>
          </a:xfrm>
          <a:prstGeom prst="rect">
            <a:avLst/>
          </a:prstGeom>
          <a:noFill/>
          <a:ln>
            <a:noFill/>
          </a:ln>
        </p:spPr>
      </p:pic>
      <p:sp>
        <p:nvSpPr>
          <p:cNvPr id="195" name="Google Shape;195;p22"/>
          <p:cNvSpPr/>
          <p:nvPr/>
        </p:nvSpPr>
        <p:spPr>
          <a:xfrm>
            <a:off x="-155575" y="1423556"/>
            <a:ext cx="12801600" cy="4420553"/>
          </a:xfrm>
          <a:custGeom>
            <a:avLst/>
            <a:gdLst/>
            <a:ahLst/>
            <a:cxnLst/>
            <a:rect l="l" t="t" r="r" b="b"/>
            <a:pathLst>
              <a:path w="12801600" h="4533900" extrusionOk="0">
                <a:moveTo>
                  <a:pt x="0" y="0"/>
                </a:moveTo>
                <a:lnTo>
                  <a:pt x="952500" y="0"/>
                </a:lnTo>
                <a:lnTo>
                  <a:pt x="952500" y="4533900"/>
                </a:lnTo>
                <a:lnTo>
                  <a:pt x="5257800" y="4533900"/>
                </a:lnTo>
                <a:lnTo>
                  <a:pt x="5257800" y="0"/>
                </a:lnTo>
                <a:lnTo>
                  <a:pt x="12801600" y="0"/>
                </a:lnTo>
              </a:path>
            </a:pathLst>
          </a:custGeom>
          <a:noFill/>
          <a:ln w="9525" cap="flat" cmpd="sng">
            <a:solidFill>
              <a:srgbClr val="7F7F7F"/>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6" name="Google Shape;196;p22"/>
          <p:cNvPicPr preferRelativeResize="0"/>
          <p:nvPr/>
        </p:nvPicPr>
        <p:blipFill rotWithShape="1">
          <a:blip r:embed="rId4">
            <a:alphaModFix/>
          </a:blip>
          <a:srcRect/>
          <a:stretch/>
        </p:blipFill>
        <p:spPr>
          <a:xfrm rot="10800000">
            <a:off x="8199422" y="628962"/>
            <a:ext cx="356384" cy="178682"/>
          </a:xfrm>
          <a:prstGeom prst="rect">
            <a:avLst/>
          </a:prstGeom>
          <a:noFill/>
          <a:ln>
            <a:noFill/>
          </a:ln>
        </p:spPr>
      </p:pic>
      <p:pic>
        <p:nvPicPr>
          <p:cNvPr id="197" name="Google Shape;197;p22"/>
          <p:cNvPicPr preferRelativeResize="0"/>
          <p:nvPr/>
        </p:nvPicPr>
        <p:blipFill rotWithShape="1">
          <a:blip r:embed="rId5">
            <a:alphaModFix/>
          </a:blip>
          <a:srcRect/>
          <a:stretch/>
        </p:blipFill>
        <p:spPr>
          <a:xfrm>
            <a:off x="10315726" y="464457"/>
            <a:ext cx="1544422" cy="774338"/>
          </a:xfrm>
          <a:prstGeom prst="rect">
            <a:avLst/>
          </a:prstGeom>
          <a:noFill/>
          <a:ln>
            <a:noFill/>
          </a:ln>
        </p:spPr>
      </p:pic>
      <p:pic>
        <p:nvPicPr>
          <p:cNvPr id="198" name="Google Shape;198;p22"/>
          <p:cNvPicPr preferRelativeResize="0"/>
          <p:nvPr/>
        </p:nvPicPr>
        <p:blipFill rotWithShape="1">
          <a:blip r:embed="rId6">
            <a:alphaModFix/>
          </a:blip>
          <a:srcRect/>
          <a:stretch/>
        </p:blipFill>
        <p:spPr>
          <a:xfrm rot="-589488">
            <a:off x="533303" y="747190"/>
            <a:ext cx="202415" cy="158251"/>
          </a:xfrm>
          <a:prstGeom prst="rect">
            <a:avLst/>
          </a:prstGeom>
          <a:noFill/>
          <a:ln>
            <a:noFill/>
          </a:ln>
        </p:spPr>
      </p:pic>
      <p:pic>
        <p:nvPicPr>
          <p:cNvPr id="199" name="Google Shape;199;p22"/>
          <p:cNvPicPr preferRelativeResize="0"/>
          <p:nvPr/>
        </p:nvPicPr>
        <p:blipFill rotWithShape="1">
          <a:blip r:embed="rId7">
            <a:alphaModFix/>
          </a:blip>
          <a:srcRect/>
          <a:stretch/>
        </p:blipFill>
        <p:spPr>
          <a:xfrm rot="-605715">
            <a:off x="5893946" y="714916"/>
            <a:ext cx="124112" cy="97032"/>
          </a:xfrm>
          <a:prstGeom prst="rect">
            <a:avLst/>
          </a:prstGeom>
          <a:noFill/>
          <a:ln>
            <a:noFill/>
          </a:ln>
        </p:spPr>
      </p:pic>
      <p:grpSp>
        <p:nvGrpSpPr>
          <p:cNvPr id="200" name="Google Shape;200;p22"/>
          <p:cNvGrpSpPr/>
          <p:nvPr/>
        </p:nvGrpSpPr>
        <p:grpSpPr>
          <a:xfrm>
            <a:off x="10760641" y="2365829"/>
            <a:ext cx="685825" cy="3214201"/>
            <a:chOff x="11059391" y="2420023"/>
            <a:chExt cx="668892" cy="3134840"/>
          </a:xfrm>
        </p:grpSpPr>
        <p:sp>
          <p:nvSpPr>
            <p:cNvPr id="201" name="Google Shape;201;p22"/>
            <p:cNvSpPr/>
            <p:nvPr/>
          </p:nvSpPr>
          <p:spPr>
            <a:xfrm rot="5400000">
              <a:off x="10934570" y="352398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22"/>
            <p:cNvSpPr/>
            <p:nvPr/>
          </p:nvSpPr>
          <p:spPr>
            <a:xfrm rot="5400000">
              <a:off x="11081233" y="504176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22"/>
            <p:cNvSpPr/>
            <p:nvPr/>
          </p:nvSpPr>
          <p:spPr>
            <a:xfrm rot="5400000">
              <a:off x="11081802" y="287111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22"/>
            <p:cNvSpPr/>
            <p:nvPr/>
          </p:nvSpPr>
          <p:spPr>
            <a:xfrm rot="5400000">
              <a:off x="11093113" y="416978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22"/>
            <p:cNvSpPr/>
            <p:nvPr/>
          </p:nvSpPr>
          <p:spPr>
            <a:xfrm rot="5400000">
              <a:off x="11086918" y="241187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22"/>
            <p:cNvSpPr/>
            <p:nvPr/>
          </p:nvSpPr>
          <p:spPr>
            <a:xfrm rot="5400000">
              <a:off x="11219643" y="4563687"/>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7" name="Google Shape;207;p22"/>
          <p:cNvSpPr/>
          <p:nvPr/>
        </p:nvSpPr>
        <p:spPr>
          <a:xfrm>
            <a:off x="710121" y="1678265"/>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22"/>
          <p:cNvSpPr txBox="1"/>
          <p:nvPr/>
        </p:nvSpPr>
        <p:spPr>
          <a:xfrm>
            <a:off x="940210" y="1615105"/>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C0C0C"/>
                </a:solidFill>
                <a:latin typeface="Calibri"/>
                <a:ea typeface="Calibri"/>
                <a:cs typeface="Calibri"/>
                <a:sym typeface="Calibri"/>
              </a:rPr>
              <a:t>Started in – July 2008, Delhi</a:t>
            </a:r>
            <a:endParaRPr sz="1400">
              <a:solidFill>
                <a:srgbClr val="0C0C0C"/>
              </a:solidFill>
              <a:latin typeface="Calibri"/>
              <a:ea typeface="Calibri"/>
              <a:cs typeface="Calibri"/>
              <a:sym typeface="Calibri"/>
            </a:endParaRPr>
          </a:p>
        </p:txBody>
      </p:sp>
      <p:sp>
        <p:nvSpPr>
          <p:cNvPr id="209" name="Google Shape;209;p22"/>
          <p:cNvSpPr/>
          <p:nvPr/>
        </p:nvSpPr>
        <p:spPr>
          <a:xfrm>
            <a:off x="710121" y="2264184"/>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22"/>
          <p:cNvSpPr txBox="1"/>
          <p:nvPr/>
        </p:nvSpPr>
        <p:spPr>
          <a:xfrm>
            <a:off x="940210" y="2201024"/>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0C0C0C"/>
                </a:solidFill>
                <a:latin typeface="Calibri"/>
                <a:ea typeface="Calibri"/>
                <a:cs typeface="Calibri"/>
                <a:sym typeface="Calibri"/>
              </a:rPr>
              <a:t>Founded By : Deepinder Goyal, Pankaj </a:t>
            </a:r>
            <a:endParaRPr sz="1400" dirty="0">
              <a:solidFill>
                <a:srgbClr val="0C0C0C"/>
              </a:solidFill>
              <a:latin typeface="Calibri"/>
              <a:ea typeface="Calibri"/>
              <a:cs typeface="Calibri"/>
              <a:sym typeface="Calibri"/>
            </a:endParaRPr>
          </a:p>
        </p:txBody>
      </p:sp>
      <p:sp>
        <p:nvSpPr>
          <p:cNvPr id="211" name="Google Shape;211;p22"/>
          <p:cNvSpPr/>
          <p:nvPr/>
        </p:nvSpPr>
        <p:spPr>
          <a:xfrm>
            <a:off x="710121" y="2850103"/>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2" name="Google Shape;212;p22"/>
          <p:cNvSpPr txBox="1"/>
          <p:nvPr/>
        </p:nvSpPr>
        <p:spPr>
          <a:xfrm>
            <a:off x="940210" y="2786943"/>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0C0C0C"/>
                </a:solidFill>
                <a:latin typeface="Calibri"/>
                <a:ea typeface="Calibri"/>
                <a:cs typeface="Calibri"/>
                <a:sym typeface="Calibri"/>
              </a:rPr>
              <a:t>Initial Name : “Foodie Bay”</a:t>
            </a:r>
            <a:endParaRPr sz="1400" dirty="0">
              <a:solidFill>
                <a:srgbClr val="0C0C0C"/>
              </a:solidFill>
              <a:latin typeface="Calibri"/>
              <a:ea typeface="Calibri"/>
              <a:cs typeface="Calibri"/>
              <a:sym typeface="Calibri"/>
            </a:endParaRPr>
          </a:p>
        </p:txBody>
      </p:sp>
      <p:sp>
        <p:nvSpPr>
          <p:cNvPr id="213" name="Google Shape;213;p22"/>
          <p:cNvSpPr/>
          <p:nvPr/>
        </p:nvSpPr>
        <p:spPr>
          <a:xfrm>
            <a:off x="710121" y="3436022"/>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22"/>
          <p:cNvSpPr txBox="1"/>
          <p:nvPr/>
        </p:nvSpPr>
        <p:spPr>
          <a:xfrm>
            <a:off x="940210" y="3372862"/>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C0C0C"/>
                </a:solidFill>
                <a:latin typeface="Calibri"/>
                <a:ea typeface="Calibri"/>
                <a:cs typeface="Calibri"/>
                <a:sym typeface="Calibri"/>
              </a:rPr>
              <a:t>Renamed as ‘Zomato’ in November 2010</a:t>
            </a:r>
            <a:endParaRPr sz="1400">
              <a:solidFill>
                <a:srgbClr val="0C0C0C"/>
              </a:solidFill>
              <a:latin typeface="Calibri"/>
              <a:ea typeface="Calibri"/>
              <a:cs typeface="Calibri"/>
              <a:sym typeface="Calibri"/>
            </a:endParaRPr>
          </a:p>
        </p:txBody>
      </p:sp>
      <p:sp>
        <p:nvSpPr>
          <p:cNvPr id="215" name="Google Shape;215;p22"/>
          <p:cNvSpPr/>
          <p:nvPr/>
        </p:nvSpPr>
        <p:spPr>
          <a:xfrm>
            <a:off x="710121" y="4006552"/>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22"/>
          <p:cNvSpPr txBox="1"/>
          <p:nvPr/>
        </p:nvSpPr>
        <p:spPr>
          <a:xfrm>
            <a:off x="940210" y="3958781"/>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0C0C0C"/>
                </a:solidFill>
                <a:latin typeface="Calibri"/>
                <a:ea typeface="Calibri"/>
                <a:cs typeface="Calibri"/>
                <a:sym typeface="Calibri"/>
              </a:rPr>
              <a:t>Parent Company : Info edge</a:t>
            </a:r>
            <a:endParaRPr sz="1400" dirty="0">
              <a:solidFill>
                <a:srgbClr val="0C0C0C"/>
              </a:solidFill>
              <a:latin typeface="Calibri"/>
              <a:ea typeface="Calibri"/>
              <a:cs typeface="Calibri"/>
              <a:sym typeface="Calibri"/>
            </a:endParaRPr>
          </a:p>
        </p:txBody>
      </p:sp>
      <p:sp>
        <p:nvSpPr>
          <p:cNvPr id="217" name="Google Shape;217;p22"/>
          <p:cNvSpPr/>
          <p:nvPr/>
        </p:nvSpPr>
        <p:spPr>
          <a:xfrm>
            <a:off x="710121" y="4607860"/>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22"/>
          <p:cNvSpPr txBox="1"/>
          <p:nvPr/>
        </p:nvSpPr>
        <p:spPr>
          <a:xfrm>
            <a:off x="940210" y="4544700"/>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C0C0C"/>
                </a:solidFill>
                <a:latin typeface="Calibri"/>
                <a:ea typeface="Calibri"/>
                <a:cs typeface="Calibri"/>
                <a:sym typeface="Calibri"/>
              </a:rPr>
              <a:t>Category – Mobile Application Based</a:t>
            </a:r>
            <a:endParaRPr sz="1400">
              <a:solidFill>
                <a:srgbClr val="0C0C0C"/>
              </a:solidFill>
              <a:latin typeface="Calibri"/>
              <a:ea typeface="Calibri"/>
              <a:cs typeface="Calibri"/>
              <a:sym typeface="Calibri"/>
            </a:endParaRPr>
          </a:p>
        </p:txBody>
      </p:sp>
      <p:sp>
        <p:nvSpPr>
          <p:cNvPr id="219" name="Google Shape;219;p22"/>
          <p:cNvSpPr txBox="1"/>
          <p:nvPr/>
        </p:nvSpPr>
        <p:spPr>
          <a:xfrm>
            <a:off x="972968" y="5130622"/>
            <a:ext cx="4060688" cy="539378"/>
          </a:xfrm>
          <a:prstGeom prst="rect">
            <a:avLst/>
          </a:prstGeom>
          <a:noFill/>
          <a:ln>
            <a:noFill/>
          </a:ln>
        </p:spPr>
        <p:txBody>
          <a:bodyPr spcFirstLastPara="1" wrap="square" lIns="91425" tIns="45700" rIns="91425" bIns="45700" anchor="t" anchorCtr="0">
            <a:spAutoFit/>
          </a:bodyPr>
          <a:lstStyle/>
          <a:p>
            <a:pPr marL="0" marR="0" lvl="0" indent="0" algn="l" rtl="0">
              <a:lnSpc>
                <a:spcPct val="128571"/>
              </a:lnSpc>
              <a:spcBef>
                <a:spcPts val="0"/>
              </a:spcBef>
              <a:spcAft>
                <a:spcPts val="0"/>
              </a:spcAft>
              <a:buNone/>
            </a:pPr>
            <a:r>
              <a:rPr lang="en-US" sz="1400">
                <a:solidFill>
                  <a:srgbClr val="0C0C0C"/>
                </a:solidFill>
                <a:latin typeface="Calibri"/>
                <a:ea typeface="Calibri"/>
                <a:cs typeface="Calibri"/>
                <a:sym typeface="Calibri"/>
              </a:rPr>
              <a:t>Positioning : Zomato provides the ‘Guide’ or the ‘ Discovery’ experience of restaurant &amp; food guide</a:t>
            </a:r>
            <a:endParaRPr sz="1400">
              <a:solidFill>
                <a:srgbClr val="0C0C0C"/>
              </a:solidFill>
              <a:latin typeface="Calibri"/>
              <a:ea typeface="Calibri"/>
              <a:cs typeface="Calibri"/>
              <a:sym typeface="Calibri"/>
            </a:endParaRPr>
          </a:p>
        </p:txBody>
      </p:sp>
      <p:sp>
        <p:nvSpPr>
          <p:cNvPr id="220" name="Google Shape;220;p22"/>
          <p:cNvSpPr/>
          <p:nvPr/>
        </p:nvSpPr>
        <p:spPr>
          <a:xfrm>
            <a:off x="696672" y="5198410"/>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22"/>
          <p:cNvSpPr txBox="1"/>
          <p:nvPr/>
        </p:nvSpPr>
        <p:spPr>
          <a:xfrm>
            <a:off x="5302852" y="1791155"/>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C0C0C"/>
                </a:solidFill>
                <a:latin typeface="Calibri"/>
                <a:ea typeface="Calibri"/>
                <a:cs typeface="Calibri"/>
                <a:sym typeface="Calibri"/>
              </a:rPr>
              <a:t>Target Group : All Smartphone Users</a:t>
            </a:r>
            <a:endParaRPr sz="1400">
              <a:solidFill>
                <a:srgbClr val="0C0C0C"/>
              </a:solidFill>
              <a:latin typeface="Calibri"/>
              <a:ea typeface="Calibri"/>
              <a:cs typeface="Calibri"/>
              <a:sym typeface="Calibri"/>
            </a:endParaRPr>
          </a:p>
        </p:txBody>
      </p:sp>
      <p:sp>
        <p:nvSpPr>
          <p:cNvPr id="222" name="Google Shape;222;p22"/>
          <p:cNvSpPr/>
          <p:nvPr/>
        </p:nvSpPr>
        <p:spPr>
          <a:xfrm>
            <a:off x="5011611" y="1854315"/>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22"/>
          <p:cNvSpPr txBox="1"/>
          <p:nvPr/>
        </p:nvSpPr>
        <p:spPr>
          <a:xfrm>
            <a:off x="5302852" y="2617646"/>
            <a:ext cx="3946388" cy="539378"/>
          </a:xfrm>
          <a:prstGeom prst="rect">
            <a:avLst/>
          </a:prstGeom>
          <a:noFill/>
          <a:ln>
            <a:noFill/>
          </a:ln>
        </p:spPr>
        <p:txBody>
          <a:bodyPr spcFirstLastPara="1" wrap="square" lIns="91425" tIns="45700" rIns="91425" bIns="45700" anchor="t" anchorCtr="0">
            <a:spAutoFit/>
          </a:bodyPr>
          <a:lstStyle/>
          <a:p>
            <a:pPr marL="0" marR="0" lvl="0" indent="0" algn="l" rtl="0">
              <a:lnSpc>
                <a:spcPct val="128571"/>
              </a:lnSpc>
              <a:spcBef>
                <a:spcPts val="0"/>
              </a:spcBef>
              <a:spcAft>
                <a:spcPts val="0"/>
              </a:spcAft>
              <a:buNone/>
            </a:pPr>
            <a:r>
              <a:rPr lang="en-US" sz="1400">
                <a:solidFill>
                  <a:srgbClr val="0C0C0C"/>
                </a:solidFill>
                <a:latin typeface="Calibri"/>
                <a:ea typeface="Calibri"/>
                <a:cs typeface="Calibri"/>
                <a:sym typeface="Calibri"/>
              </a:rPr>
              <a:t>Segment : Young Population, working professionals &amp; market research companies </a:t>
            </a:r>
            <a:endParaRPr sz="1400">
              <a:solidFill>
                <a:srgbClr val="0C0C0C"/>
              </a:solidFill>
              <a:latin typeface="Calibri"/>
              <a:ea typeface="Calibri"/>
              <a:cs typeface="Calibri"/>
              <a:sym typeface="Calibri"/>
            </a:endParaRPr>
          </a:p>
        </p:txBody>
      </p:sp>
      <p:sp>
        <p:nvSpPr>
          <p:cNvPr id="224" name="Google Shape;224;p22"/>
          <p:cNvSpPr/>
          <p:nvPr/>
        </p:nvSpPr>
        <p:spPr>
          <a:xfrm>
            <a:off x="5011611" y="2699783"/>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22"/>
          <p:cNvSpPr txBox="1"/>
          <p:nvPr/>
        </p:nvSpPr>
        <p:spPr>
          <a:xfrm>
            <a:off x="5302852" y="3458917"/>
            <a:ext cx="3980678" cy="539378"/>
          </a:xfrm>
          <a:prstGeom prst="rect">
            <a:avLst/>
          </a:prstGeom>
          <a:noFill/>
          <a:ln>
            <a:noFill/>
          </a:ln>
        </p:spPr>
        <p:txBody>
          <a:bodyPr spcFirstLastPara="1" wrap="square" lIns="91425" tIns="45700" rIns="91425" bIns="45700" anchor="t" anchorCtr="0">
            <a:spAutoFit/>
          </a:bodyPr>
          <a:lstStyle/>
          <a:p>
            <a:pPr marL="0" marR="0" lvl="0" indent="0" algn="l" rtl="0">
              <a:lnSpc>
                <a:spcPct val="128571"/>
              </a:lnSpc>
              <a:spcBef>
                <a:spcPts val="0"/>
              </a:spcBef>
              <a:spcAft>
                <a:spcPts val="0"/>
              </a:spcAft>
              <a:buNone/>
            </a:pPr>
            <a:r>
              <a:rPr lang="en-US" sz="1400">
                <a:solidFill>
                  <a:srgbClr val="0C0C0C"/>
                </a:solidFill>
                <a:latin typeface="Calibri"/>
                <a:ea typeface="Calibri"/>
                <a:cs typeface="Calibri"/>
                <a:sym typeface="Calibri"/>
              </a:rPr>
              <a:t>USP – Restaurant &amp; exciting nightlife guild with menus, map locations &amp; pictures</a:t>
            </a:r>
            <a:endParaRPr sz="1400">
              <a:solidFill>
                <a:srgbClr val="0C0C0C"/>
              </a:solidFill>
              <a:latin typeface="Calibri"/>
              <a:ea typeface="Calibri"/>
              <a:cs typeface="Calibri"/>
              <a:sym typeface="Calibri"/>
            </a:endParaRPr>
          </a:p>
        </p:txBody>
      </p:sp>
      <p:sp>
        <p:nvSpPr>
          <p:cNvPr id="226" name="Google Shape;226;p22"/>
          <p:cNvSpPr/>
          <p:nvPr/>
        </p:nvSpPr>
        <p:spPr>
          <a:xfrm>
            <a:off x="5011611" y="3520193"/>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22"/>
          <p:cNvSpPr txBox="1"/>
          <p:nvPr/>
        </p:nvSpPr>
        <p:spPr>
          <a:xfrm>
            <a:off x="5302852" y="4300188"/>
            <a:ext cx="3891778" cy="543675"/>
          </a:xfrm>
          <a:prstGeom prst="rect">
            <a:avLst/>
          </a:prstGeom>
          <a:noFill/>
          <a:ln>
            <a:noFill/>
          </a:ln>
        </p:spPr>
        <p:txBody>
          <a:bodyPr spcFirstLastPara="1" wrap="square" lIns="91425" tIns="45700" rIns="91425" bIns="45700" anchor="t" anchorCtr="0">
            <a:spAutoFit/>
          </a:bodyPr>
          <a:lstStyle/>
          <a:p>
            <a:pPr marL="0" marR="0" lvl="0" indent="0" algn="l" rtl="0">
              <a:lnSpc>
                <a:spcPct val="128571"/>
              </a:lnSpc>
              <a:spcBef>
                <a:spcPts val="0"/>
              </a:spcBef>
              <a:spcAft>
                <a:spcPts val="0"/>
              </a:spcAft>
              <a:buNone/>
            </a:pPr>
            <a:r>
              <a:rPr lang="en-US" sz="1400">
                <a:solidFill>
                  <a:srgbClr val="0C0C0C"/>
                </a:solidFill>
                <a:latin typeface="Calibri"/>
                <a:ea typeface="Calibri"/>
                <a:cs typeface="Calibri"/>
                <a:sym typeface="Calibri"/>
              </a:rPr>
              <a:t>Tagline/ Slogan Discover great places to eat around you</a:t>
            </a:r>
            <a:endParaRPr sz="1400">
              <a:solidFill>
                <a:srgbClr val="0C0C0C"/>
              </a:solidFill>
              <a:latin typeface="Calibri"/>
              <a:ea typeface="Calibri"/>
              <a:cs typeface="Calibri"/>
              <a:sym typeface="Calibri"/>
            </a:endParaRPr>
          </a:p>
        </p:txBody>
      </p:sp>
      <p:sp>
        <p:nvSpPr>
          <p:cNvPr id="228" name="Google Shape;228;p22"/>
          <p:cNvSpPr/>
          <p:nvPr/>
        </p:nvSpPr>
        <p:spPr>
          <a:xfrm>
            <a:off x="5011611" y="4367146"/>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22"/>
          <p:cNvSpPr txBox="1"/>
          <p:nvPr/>
        </p:nvSpPr>
        <p:spPr>
          <a:xfrm>
            <a:off x="5302852" y="5145757"/>
            <a:ext cx="329152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0C0C0C"/>
                </a:solidFill>
                <a:latin typeface="Calibri"/>
                <a:ea typeface="Calibri"/>
                <a:cs typeface="Calibri"/>
                <a:sym typeface="Calibri"/>
              </a:rPr>
              <a:t>Sector : Food &amp; Restaurant</a:t>
            </a:r>
            <a:endParaRPr sz="1400" dirty="0">
              <a:solidFill>
                <a:srgbClr val="0C0C0C"/>
              </a:solidFill>
              <a:latin typeface="Calibri"/>
              <a:ea typeface="Calibri"/>
              <a:cs typeface="Calibri"/>
              <a:sym typeface="Calibri"/>
            </a:endParaRPr>
          </a:p>
        </p:txBody>
      </p:sp>
      <p:sp>
        <p:nvSpPr>
          <p:cNvPr id="230" name="Google Shape;230;p22"/>
          <p:cNvSpPr/>
          <p:nvPr/>
        </p:nvSpPr>
        <p:spPr>
          <a:xfrm>
            <a:off x="5011611" y="5208917"/>
            <a:ext cx="181456" cy="181456"/>
          </a:xfrm>
          <a:prstGeom prst="ellipse">
            <a:avLst/>
          </a:prstGeom>
          <a:solidFill>
            <a:schemeClr val="accen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22"/>
          <p:cNvSpPr txBox="1">
            <a:spLocks noGrp="1"/>
          </p:cNvSpPr>
          <p:nvPr>
            <p:ph type="title"/>
          </p:nvPr>
        </p:nvSpPr>
        <p:spPr>
          <a:xfrm>
            <a:off x="698500" y="592137"/>
            <a:ext cx="5283200"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latin typeface="Poppins"/>
                <a:ea typeface="Poppins"/>
                <a:cs typeface="Poppins"/>
                <a:sym typeface="Poppins"/>
              </a:rPr>
              <a:t>Zomato Company Outline</a:t>
            </a:r>
            <a:endParaRPr dirty="0"/>
          </a:p>
        </p:txBody>
      </p:sp>
      <p:pic>
        <p:nvPicPr>
          <p:cNvPr id="2" name="Google Shape;188;p21" descr="A person holding a bag and a phone">
            <a:extLst>
              <a:ext uri="{FF2B5EF4-FFF2-40B4-BE49-F238E27FC236}">
                <a16:creationId xmlns:a16="http://schemas.microsoft.com/office/drawing/2014/main" id="{41690FDA-E071-C414-0C94-E19C091C633B}"/>
              </a:ext>
            </a:extLst>
          </p:cNvPr>
          <p:cNvPicPr preferRelativeResize="0"/>
          <p:nvPr/>
        </p:nvPicPr>
        <p:blipFill rotWithShape="1">
          <a:blip r:embed="rId8">
            <a:alphaModFix/>
          </a:blip>
          <a:srcRect/>
          <a:stretch/>
        </p:blipFill>
        <p:spPr>
          <a:xfrm>
            <a:off x="7848574" y="3669981"/>
            <a:ext cx="4384452" cy="33682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2A15D44A-6624-E65E-E8C5-D0697C453803}"/>
            </a:ext>
          </a:extLst>
        </p:cNvPr>
        <p:cNvGrpSpPr/>
        <p:nvPr/>
      </p:nvGrpSpPr>
      <p:grpSpPr>
        <a:xfrm>
          <a:off x="0" y="0"/>
          <a:ext cx="0" cy="0"/>
          <a:chOff x="0" y="0"/>
          <a:chExt cx="0" cy="0"/>
        </a:xfrm>
      </p:grpSpPr>
      <p:pic>
        <p:nvPicPr>
          <p:cNvPr id="127" name="Google Shape;127;p19">
            <a:extLst>
              <a:ext uri="{FF2B5EF4-FFF2-40B4-BE49-F238E27FC236}">
                <a16:creationId xmlns:a16="http://schemas.microsoft.com/office/drawing/2014/main" id="{30571453-C136-45D5-9933-CD79BE5A2AA6}"/>
              </a:ext>
            </a:extLst>
          </p:cNvPr>
          <p:cNvPicPr preferRelativeResize="0"/>
          <p:nvPr/>
        </p:nvPicPr>
        <p:blipFill rotWithShape="1">
          <a:blip r:embed="rId3">
            <a:alphaModFix/>
          </a:blip>
          <a:srcRect/>
          <a:stretch/>
        </p:blipFill>
        <p:spPr>
          <a:xfrm rot="10800000">
            <a:off x="4507667" y="316667"/>
            <a:ext cx="356384" cy="178682"/>
          </a:xfrm>
          <a:prstGeom prst="rect">
            <a:avLst/>
          </a:prstGeom>
          <a:noFill/>
          <a:ln>
            <a:noFill/>
          </a:ln>
        </p:spPr>
      </p:pic>
      <p:pic>
        <p:nvPicPr>
          <p:cNvPr id="128" name="Google Shape;128;p19">
            <a:extLst>
              <a:ext uri="{FF2B5EF4-FFF2-40B4-BE49-F238E27FC236}">
                <a16:creationId xmlns:a16="http://schemas.microsoft.com/office/drawing/2014/main" id="{5B8133F2-FBFB-A874-DB0A-A77C5FB75350}"/>
              </a:ext>
            </a:extLst>
          </p:cNvPr>
          <p:cNvPicPr preferRelativeResize="0"/>
          <p:nvPr/>
        </p:nvPicPr>
        <p:blipFill rotWithShape="1">
          <a:blip r:embed="rId4">
            <a:alphaModFix/>
          </a:blip>
          <a:srcRect/>
          <a:stretch/>
        </p:blipFill>
        <p:spPr>
          <a:xfrm rot="-605715">
            <a:off x="2709639" y="763614"/>
            <a:ext cx="124112" cy="97032"/>
          </a:xfrm>
          <a:prstGeom prst="rect">
            <a:avLst/>
          </a:prstGeom>
          <a:noFill/>
          <a:ln>
            <a:noFill/>
          </a:ln>
        </p:spPr>
      </p:pic>
      <p:pic>
        <p:nvPicPr>
          <p:cNvPr id="129" name="Google Shape;129;p19">
            <a:extLst>
              <a:ext uri="{FF2B5EF4-FFF2-40B4-BE49-F238E27FC236}">
                <a16:creationId xmlns:a16="http://schemas.microsoft.com/office/drawing/2014/main" id="{74BACF80-0716-C31C-EF09-809363BBA163}"/>
              </a:ext>
            </a:extLst>
          </p:cNvPr>
          <p:cNvPicPr preferRelativeResize="0"/>
          <p:nvPr/>
        </p:nvPicPr>
        <p:blipFill rotWithShape="1">
          <a:blip r:embed="rId5">
            <a:alphaModFix/>
          </a:blip>
          <a:srcRect/>
          <a:stretch/>
        </p:blipFill>
        <p:spPr>
          <a:xfrm rot="-589488">
            <a:off x="593124" y="830278"/>
            <a:ext cx="202415" cy="158251"/>
          </a:xfrm>
          <a:prstGeom prst="rect">
            <a:avLst/>
          </a:prstGeom>
          <a:noFill/>
          <a:ln>
            <a:noFill/>
          </a:ln>
        </p:spPr>
      </p:pic>
      <p:pic>
        <p:nvPicPr>
          <p:cNvPr id="132" name="Google Shape;132;p19">
            <a:extLst>
              <a:ext uri="{FF2B5EF4-FFF2-40B4-BE49-F238E27FC236}">
                <a16:creationId xmlns:a16="http://schemas.microsoft.com/office/drawing/2014/main" id="{B936CC29-C9C8-1D25-122F-B7865F9C7A2A}"/>
              </a:ext>
            </a:extLst>
          </p:cNvPr>
          <p:cNvPicPr preferRelativeResize="0"/>
          <p:nvPr/>
        </p:nvPicPr>
        <p:blipFill rotWithShape="1">
          <a:blip r:embed="rId6">
            <a:alphaModFix/>
          </a:blip>
          <a:srcRect/>
          <a:stretch/>
        </p:blipFill>
        <p:spPr>
          <a:xfrm>
            <a:off x="10422771" y="0"/>
            <a:ext cx="1544422" cy="774338"/>
          </a:xfrm>
          <a:prstGeom prst="rect">
            <a:avLst/>
          </a:prstGeom>
          <a:noFill/>
          <a:ln>
            <a:noFill/>
          </a:ln>
        </p:spPr>
      </p:pic>
      <p:sp>
        <p:nvSpPr>
          <p:cNvPr id="144" name="Google Shape;144;p19">
            <a:extLst>
              <a:ext uri="{FF2B5EF4-FFF2-40B4-BE49-F238E27FC236}">
                <a16:creationId xmlns:a16="http://schemas.microsoft.com/office/drawing/2014/main" id="{DB56E3F8-43DD-89AB-3141-7A8B1B868403}"/>
              </a:ext>
            </a:extLst>
          </p:cNvPr>
          <p:cNvSpPr txBox="1">
            <a:spLocks noGrp="1"/>
          </p:cNvSpPr>
          <p:nvPr>
            <p:ph type="title"/>
          </p:nvPr>
        </p:nvSpPr>
        <p:spPr>
          <a:xfrm>
            <a:off x="713072" y="653882"/>
            <a:ext cx="3810802"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Timeline</a:t>
            </a:r>
            <a:endParaRPr dirty="0"/>
          </a:p>
        </p:txBody>
      </p:sp>
      <p:sp>
        <p:nvSpPr>
          <p:cNvPr id="14" name="TextBox 13">
            <a:extLst>
              <a:ext uri="{FF2B5EF4-FFF2-40B4-BE49-F238E27FC236}">
                <a16:creationId xmlns:a16="http://schemas.microsoft.com/office/drawing/2014/main" id="{92212455-4FD6-89BF-F25F-2E84452608BC}"/>
              </a:ext>
            </a:extLst>
          </p:cNvPr>
          <p:cNvSpPr txBox="1"/>
          <p:nvPr/>
        </p:nvSpPr>
        <p:spPr>
          <a:xfrm>
            <a:off x="2244095" y="1236751"/>
            <a:ext cx="916000" cy="400110"/>
          </a:xfrm>
          <a:prstGeom prst="rect">
            <a:avLst/>
          </a:prstGeom>
          <a:noFill/>
        </p:spPr>
        <p:txBody>
          <a:bodyPr wrap="square" rtlCol="0">
            <a:spAutoFit/>
          </a:bodyPr>
          <a:lstStyle/>
          <a:p>
            <a:r>
              <a:rPr lang="en-US" sz="2000" b="1" dirty="0">
                <a:solidFill>
                  <a:srgbClr val="C00000"/>
                </a:solidFill>
              </a:rPr>
              <a:t>2008</a:t>
            </a:r>
          </a:p>
        </p:txBody>
      </p:sp>
      <p:sp>
        <p:nvSpPr>
          <p:cNvPr id="16" name="TextBox 15">
            <a:extLst>
              <a:ext uri="{FF2B5EF4-FFF2-40B4-BE49-F238E27FC236}">
                <a16:creationId xmlns:a16="http://schemas.microsoft.com/office/drawing/2014/main" id="{473A1138-BEAE-8586-5465-39F70B9964FB}"/>
              </a:ext>
            </a:extLst>
          </p:cNvPr>
          <p:cNvSpPr txBox="1"/>
          <p:nvPr/>
        </p:nvSpPr>
        <p:spPr>
          <a:xfrm>
            <a:off x="4279104" y="1236751"/>
            <a:ext cx="916000" cy="400110"/>
          </a:xfrm>
          <a:prstGeom prst="rect">
            <a:avLst/>
          </a:prstGeom>
          <a:noFill/>
        </p:spPr>
        <p:txBody>
          <a:bodyPr wrap="square" rtlCol="0">
            <a:spAutoFit/>
          </a:bodyPr>
          <a:lstStyle/>
          <a:p>
            <a:r>
              <a:rPr lang="en-US" sz="2000" b="1" dirty="0">
                <a:solidFill>
                  <a:schemeClr val="tx1"/>
                </a:solidFill>
              </a:rPr>
              <a:t>2010</a:t>
            </a:r>
          </a:p>
        </p:txBody>
      </p:sp>
      <p:sp>
        <p:nvSpPr>
          <p:cNvPr id="18" name="TextBox 17">
            <a:extLst>
              <a:ext uri="{FF2B5EF4-FFF2-40B4-BE49-F238E27FC236}">
                <a16:creationId xmlns:a16="http://schemas.microsoft.com/office/drawing/2014/main" id="{61E10618-D5E1-C3D2-45D1-652D3251E967}"/>
              </a:ext>
            </a:extLst>
          </p:cNvPr>
          <p:cNvSpPr txBox="1"/>
          <p:nvPr/>
        </p:nvSpPr>
        <p:spPr>
          <a:xfrm>
            <a:off x="6475457" y="1236751"/>
            <a:ext cx="916000" cy="400110"/>
          </a:xfrm>
          <a:prstGeom prst="rect">
            <a:avLst/>
          </a:prstGeom>
          <a:noFill/>
        </p:spPr>
        <p:txBody>
          <a:bodyPr wrap="square" rtlCol="0">
            <a:spAutoFit/>
          </a:bodyPr>
          <a:lstStyle/>
          <a:p>
            <a:r>
              <a:rPr lang="en-US" sz="2000" b="1" dirty="0">
                <a:solidFill>
                  <a:srgbClr val="C00000"/>
                </a:solidFill>
              </a:rPr>
              <a:t>2012</a:t>
            </a:r>
          </a:p>
        </p:txBody>
      </p:sp>
      <p:sp>
        <p:nvSpPr>
          <p:cNvPr id="20" name="TextBox 19">
            <a:extLst>
              <a:ext uri="{FF2B5EF4-FFF2-40B4-BE49-F238E27FC236}">
                <a16:creationId xmlns:a16="http://schemas.microsoft.com/office/drawing/2014/main" id="{997AA14F-4F6D-E44F-CA64-5B0C81B3638B}"/>
              </a:ext>
            </a:extLst>
          </p:cNvPr>
          <p:cNvSpPr txBox="1"/>
          <p:nvPr/>
        </p:nvSpPr>
        <p:spPr>
          <a:xfrm>
            <a:off x="9168607" y="1236751"/>
            <a:ext cx="916000" cy="400110"/>
          </a:xfrm>
          <a:prstGeom prst="rect">
            <a:avLst/>
          </a:prstGeom>
          <a:noFill/>
        </p:spPr>
        <p:txBody>
          <a:bodyPr wrap="square" rtlCol="0">
            <a:spAutoFit/>
          </a:bodyPr>
          <a:lstStyle/>
          <a:p>
            <a:r>
              <a:rPr lang="en-US" sz="2000" b="1" dirty="0">
                <a:solidFill>
                  <a:schemeClr val="tx1"/>
                </a:solidFill>
              </a:rPr>
              <a:t>2013</a:t>
            </a:r>
          </a:p>
        </p:txBody>
      </p:sp>
      <p:sp>
        <p:nvSpPr>
          <p:cNvPr id="22" name="TextBox 21">
            <a:extLst>
              <a:ext uri="{FF2B5EF4-FFF2-40B4-BE49-F238E27FC236}">
                <a16:creationId xmlns:a16="http://schemas.microsoft.com/office/drawing/2014/main" id="{4F1FA048-5D94-27F7-F73C-B55977744683}"/>
              </a:ext>
            </a:extLst>
          </p:cNvPr>
          <p:cNvSpPr txBox="1"/>
          <p:nvPr/>
        </p:nvSpPr>
        <p:spPr>
          <a:xfrm>
            <a:off x="9168607" y="2697999"/>
            <a:ext cx="916000" cy="400110"/>
          </a:xfrm>
          <a:prstGeom prst="rect">
            <a:avLst/>
          </a:prstGeom>
          <a:noFill/>
        </p:spPr>
        <p:txBody>
          <a:bodyPr wrap="square" rtlCol="0">
            <a:spAutoFit/>
          </a:bodyPr>
          <a:lstStyle/>
          <a:p>
            <a:r>
              <a:rPr lang="en-US" sz="2000" b="1" dirty="0">
                <a:solidFill>
                  <a:schemeClr val="tx1"/>
                </a:solidFill>
              </a:rPr>
              <a:t>2015</a:t>
            </a:r>
          </a:p>
        </p:txBody>
      </p:sp>
      <p:sp>
        <p:nvSpPr>
          <p:cNvPr id="24" name="TextBox 23">
            <a:extLst>
              <a:ext uri="{FF2B5EF4-FFF2-40B4-BE49-F238E27FC236}">
                <a16:creationId xmlns:a16="http://schemas.microsoft.com/office/drawing/2014/main" id="{A58757EF-71C4-6316-6956-DF619EF253C8}"/>
              </a:ext>
            </a:extLst>
          </p:cNvPr>
          <p:cNvSpPr txBox="1"/>
          <p:nvPr/>
        </p:nvSpPr>
        <p:spPr>
          <a:xfrm>
            <a:off x="6475457" y="2697999"/>
            <a:ext cx="916000" cy="400110"/>
          </a:xfrm>
          <a:prstGeom prst="rect">
            <a:avLst/>
          </a:prstGeom>
          <a:noFill/>
        </p:spPr>
        <p:txBody>
          <a:bodyPr wrap="square" rtlCol="0">
            <a:spAutoFit/>
          </a:bodyPr>
          <a:lstStyle/>
          <a:p>
            <a:r>
              <a:rPr lang="en-US" sz="2000" b="1" dirty="0">
                <a:solidFill>
                  <a:srgbClr val="C00000"/>
                </a:solidFill>
              </a:rPr>
              <a:t>2017</a:t>
            </a:r>
          </a:p>
        </p:txBody>
      </p:sp>
      <p:sp>
        <p:nvSpPr>
          <p:cNvPr id="26" name="TextBox 25">
            <a:extLst>
              <a:ext uri="{FF2B5EF4-FFF2-40B4-BE49-F238E27FC236}">
                <a16:creationId xmlns:a16="http://schemas.microsoft.com/office/drawing/2014/main" id="{65404FDC-EC35-348E-D3CB-210DB76B0424}"/>
              </a:ext>
            </a:extLst>
          </p:cNvPr>
          <p:cNvSpPr txBox="1"/>
          <p:nvPr/>
        </p:nvSpPr>
        <p:spPr>
          <a:xfrm>
            <a:off x="3328047" y="2699339"/>
            <a:ext cx="916000" cy="400110"/>
          </a:xfrm>
          <a:prstGeom prst="rect">
            <a:avLst/>
          </a:prstGeom>
          <a:noFill/>
        </p:spPr>
        <p:txBody>
          <a:bodyPr wrap="square" rtlCol="0">
            <a:spAutoFit/>
          </a:bodyPr>
          <a:lstStyle/>
          <a:p>
            <a:r>
              <a:rPr lang="en-US" sz="2000" b="1" dirty="0">
                <a:solidFill>
                  <a:schemeClr val="tx1"/>
                </a:solidFill>
              </a:rPr>
              <a:t>2018</a:t>
            </a:r>
          </a:p>
        </p:txBody>
      </p:sp>
      <p:sp>
        <p:nvSpPr>
          <p:cNvPr id="28" name="TextBox 27">
            <a:extLst>
              <a:ext uri="{FF2B5EF4-FFF2-40B4-BE49-F238E27FC236}">
                <a16:creationId xmlns:a16="http://schemas.microsoft.com/office/drawing/2014/main" id="{6784B622-DFD7-2690-CDD8-E43C06EB3034}"/>
              </a:ext>
            </a:extLst>
          </p:cNvPr>
          <p:cNvSpPr txBox="1"/>
          <p:nvPr/>
        </p:nvSpPr>
        <p:spPr>
          <a:xfrm>
            <a:off x="1342348" y="2697999"/>
            <a:ext cx="916000" cy="400110"/>
          </a:xfrm>
          <a:prstGeom prst="rect">
            <a:avLst/>
          </a:prstGeom>
          <a:noFill/>
        </p:spPr>
        <p:txBody>
          <a:bodyPr wrap="square" rtlCol="0">
            <a:spAutoFit/>
          </a:bodyPr>
          <a:lstStyle/>
          <a:p>
            <a:r>
              <a:rPr lang="en-US" sz="2000" b="1" dirty="0">
                <a:solidFill>
                  <a:srgbClr val="C00000"/>
                </a:solidFill>
              </a:rPr>
              <a:t>2019</a:t>
            </a:r>
          </a:p>
        </p:txBody>
      </p:sp>
      <p:sp>
        <p:nvSpPr>
          <p:cNvPr id="30" name="TextBox 29">
            <a:extLst>
              <a:ext uri="{FF2B5EF4-FFF2-40B4-BE49-F238E27FC236}">
                <a16:creationId xmlns:a16="http://schemas.microsoft.com/office/drawing/2014/main" id="{131289DC-692D-7846-B068-2250F22DFE4F}"/>
              </a:ext>
            </a:extLst>
          </p:cNvPr>
          <p:cNvSpPr txBox="1"/>
          <p:nvPr/>
        </p:nvSpPr>
        <p:spPr>
          <a:xfrm>
            <a:off x="2331311" y="4205409"/>
            <a:ext cx="916000" cy="400110"/>
          </a:xfrm>
          <a:prstGeom prst="rect">
            <a:avLst/>
          </a:prstGeom>
          <a:noFill/>
        </p:spPr>
        <p:txBody>
          <a:bodyPr wrap="square" rtlCol="0">
            <a:spAutoFit/>
          </a:bodyPr>
          <a:lstStyle/>
          <a:p>
            <a:r>
              <a:rPr lang="en-US" sz="2000" b="1" dirty="0">
                <a:solidFill>
                  <a:srgbClr val="C00000"/>
                </a:solidFill>
              </a:rPr>
              <a:t>2020</a:t>
            </a:r>
          </a:p>
        </p:txBody>
      </p:sp>
      <p:sp>
        <p:nvSpPr>
          <p:cNvPr id="32" name="TextBox 31">
            <a:extLst>
              <a:ext uri="{FF2B5EF4-FFF2-40B4-BE49-F238E27FC236}">
                <a16:creationId xmlns:a16="http://schemas.microsoft.com/office/drawing/2014/main" id="{E768D78B-5598-9A4D-E492-BA6574C47897}"/>
              </a:ext>
            </a:extLst>
          </p:cNvPr>
          <p:cNvSpPr txBox="1"/>
          <p:nvPr/>
        </p:nvSpPr>
        <p:spPr>
          <a:xfrm>
            <a:off x="5206377" y="4205409"/>
            <a:ext cx="916000" cy="400110"/>
          </a:xfrm>
          <a:prstGeom prst="rect">
            <a:avLst/>
          </a:prstGeom>
          <a:noFill/>
        </p:spPr>
        <p:txBody>
          <a:bodyPr wrap="square" rtlCol="0">
            <a:spAutoFit/>
          </a:bodyPr>
          <a:lstStyle/>
          <a:p>
            <a:r>
              <a:rPr lang="en-US" sz="2000" b="1" dirty="0">
                <a:solidFill>
                  <a:schemeClr val="tx1"/>
                </a:solidFill>
              </a:rPr>
              <a:t>2021</a:t>
            </a:r>
          </a:p>
        </p:txBody>
      </p:sp>
      <p:sp>
        <p:nvSpPr>
          <p:cNvPr id="34" name="TextBox 33">
            <a:extLst>
              <a:ext uri="{FF2B5EF4-FFF2-40B4-BE49-F238E27FC236}">
                <a16:creationId xmlns:a16="http://schemas.microsoft.com/office/drawing/2014/main" id="{86F56D7F-073F-FB9F-4440-EE06C3E64BEA}"/>
              </a:ext>
            </a:extLst>
          </p:cNvPr>
          <p:cNvSpPr txBox="1"/>
          <p:nvPr/>
        </p:nvSpPr>
        <p:spPr>
          <a:xfrm>
            <a:off x="8182660" y="4205409"/>
            <a:ext cx="916000" cy="400110"/>
          </a:xfrm>
          <a:prstGeom prst="rect">
            <a:avLst/>
          </a:prstGeom>
          <a:noFill/>
        </p:spPr>
        <p:txBody>
          <a:bodyPr wrap="square" rtlCol="0">
            <a:spAutoFit/>
          </a:bodyPr>
          <a:lstStyle/>
          <a:p>
            <a:r>
              <a:rPr lang="en-US" sz="2000" b="1" dirty="0">
                <a:solidFill>
                  <a:srgbClr val="C00000"/>
                </a:solidFill>
              </a:rPr>
              <a:t>2022</a:t>
            </a:r>
          </a:p>
        </p:txBody>
      </p:sp>
      <p:grpSp>
        <p:nvGrpSpPr>
          <p:cNvPr id="35" name="Google Shape;156;p20">
            <a:extLst>
              <a:ext uri="{FF2B5EF4-FFF2-40B4-BE49-F238E27FC236}">
                <a16:creationId xmlns:a16="http://schemas.microsoft.com/office/drawing/2014/main" id="{6DAB3FDA-EBED-8853-0E4F-9BE02737764F}"/>
              </a:ext>
            </a:extLst>
          </p:cNvPr>
          <p:cNvGrpSpPr/>
          <p:nvPr/>
        </p:nvGrpSpPr>
        <p:grpSpPr>
          <a:xfrm>
            <a:off x="124871" y="1186143"/>
            <a:ext cx="1597187" cy="944346"/>
            <a:chOff x="5627688" y="1574800"/>
            <a:chExt cx="6107112" cy="4618014"/>
          </a:xfrm>
        </p:grpSpPr>
        <p:pic>
          <p:nvPicPr>
            <p:cNvPr id="36" name="Google Shape;157;p20" descr="A black background with a black square&#10;&#10;Description automatically generated with medium confidence">
              <a:extLst>
                <a:ext uri="{FF2B5EF4-FFF2-40B4-BE49-F238E27FC236}">
                  <a16:creationId xmlns:a16="http://schemas.microsoft.com/office/drawing/2014/main" id="{C3A45FB5-4F14-35DB-05C1-3BE635F0A68A}"/>
                </a:ext>
              </a:extLst>
            </p:cNvPr>
            <p:cNvPicPr preferRelativeResize="0"/>
            <p:nvPr/>
          </p:nvPicPr>
          <p:blipFill rotWithShape="1">
            <a:blip r:embed="rId7">
              <a:alphaModFix amt="54000"/>
            </a:blip>
            <a:srcRect/>
            <a:stretch/>
          </p:blipFill>
          <p:spPr>
            <a:xfrm flipH="1">
              <a:off x="9240002" y="5650005"/>
              <a:ext cx="2347996" cy="203200"/>
            </a:xfrm>
            <a:prstGeom prst="rect">
              <a:avLst/>
            </a:prstGeom>
            <a:noFill/>
            <a:ln>
              <a:noFill/>
            </a:ln>
          </p:spPr>
        </p:pic>
        <p:pic>
          <p:nvPicPr>
            <p:cNvPr id="37" name="Google Shape;158;p20" descr="A black background with a black square&#10;&#10;Description automatically generated with medium confidence">
              <a:extLst>
                <a:ext uri="{FF2B5EF4-FFF2-40B4-BE49-F238E27FC236}">
                  <a16:creationId xmlns:a16="http://schemas.microsoft.com/office/drawing/2014/main" id="{331A0B6C-4AC8-7EBE-57A9-6800803AA8A9}"/>
                </a:ext>
              </a:extLst>
            </p:cNvPr>
            <p:cNvPicPr preferRelativeResize="0"/>
            <p:nvPr/>
          </p:nvPicPr>
          <p:blipFill rotWithShape="1">
            <a:blip r:embed="rId7">
              <a:alphaModFix amt="49000"/>
            </a:blip>
            <a:srcRect/>
            <a:stretch/>
          </p:blipFill>
          <p:spPr>
            <a:xfrm flipH="1">
              <a:off x="5627688" y="5657850"/>
              <a:ext cx="2347996" cy="203200"/>
            </a:xfrm>
            <a:prstGeom prst="rect">
              <a:avLst/>
            </a:prstGeom>
            <a:noFill/>
            <a:ln>
              <a:noFill/>
            </a:ln>
          </p:spPr>
        </p:pic>
        <p:pic>
          <p:nvPicPr>
            <p:cNvPr id="38" name="Google Shape;159;p20" descr="A black background with a black square&#10;&#10;Description automatically generated with medium confidence">
              <a:extLst>
                <a:ext uri="{FF2B5EF4-FFF2-40B4-BE49-F238E27FC236}">
                  <a16:creationId xmlns:a16="http://schemas.microsoft.com/office/drawing/2014/main" id="{2EE1CE11-F2BA-C0D6-7AD9-A1C8CE45DF9D}"/>
                </a:ext>
              </a:extLst>
            </p:cNvPr>
            <p:cNvPicPr preferRelativeResize="0"/>
            <p:nvPr/>
          </p:nvPicPr>
          <p:blipFill rotWithShape="1">
            <a:blip r:embed="rId7">
              <a:alphaModFix amt="67000"/>
            </a:blip>
            <a:srcRect/>
            <a:stretch/>
          </p:blipFill>
          <p:spPr>
            <a:xfrm flipH="1">
              <a:off x="6619874" y="5868520"/>
              <a:ext cx="4610099" cy="324294"/>
            </a:xfrm>
            <a:prstGeom prst="rect">
              <a:avLst/>
            </a:prstGeom>
            <a:noFill/>
            <a:ln>
              <a:noFill/>
            </a:ln>
          </p:spPr>
        </p:pic>
        <p:pic>
          <p:nvPicPr>
            <p:cNvPr id="39" name="Google Shape;160;p20" descr="A cell phone with a red moped&#10;&#10;Description automatically generated">
              <a:extLst>
                <a:ext uri="{FF2B5EF4-FFF2-40B4-BE49-F238E27FC236}">
                  <a16:creationId xmlns:a16="http://schemas.microsoft.com/office/drawing/2014/main" id="{5232FBAB-DD86-72E1-4F91-B8C9CCF0B2B7}"/>
                </a:ext>
              </a:extLst>
            </p:cNvPr>
            <p:cNvPicPr preferRelativeResize="0"/>
            <p:nvPr/>
          </p:nvPicPr>
          <p:blipFill rotWithShape="1">
            <a:blip r:embed="rId8">
              <a:alphaModFix/>
            </a:blip>
            <a:srcRect/>
            <a:stretch/>
          </p:blipFill>
          <p:spPr>
            <a:xfrm>
              <a:off x="6339840" y="1574800"/>
              <a:ext cx="5394960" cy="4495800"/>
            </a:xfrm>
            <a:prstGeom prst="rect">
              <a:avLst/>
            </a:prstGeom>
            <a:noFill/>
            <a:ln>
              <a:noFill/>
            </a:ln>
          </p:spPr>
        </p:pic>
      </p:grpSp>
      <p:cxnSp>
        <p:nvCxnSpPr>
          <p:cNvPr id="41" name="Straight Connector 40">
            <a:extLst>
              <a:ext uri="{FF2B5EF4-FFF2-40B4-BE49-F238E27FC236}">
                <a16:creationId xmlns:a16="http://schemas.microsoft.com/office/drawing/2014/main" id="{7D7567DC-28CD-99CE-8AF6-A8BD768A4230}"/>
              </a:ext>
            </a:extLst>
          </p:cNvPr>
          <p:cNvCxnSpPr>
            <a:stCxn id="14" idx="3"/>
            <a:endCxn id="16" idx="1"/>
          </p:cNvCxnSpPr>
          <p:nvPr/>
        </p:nvCxnSpPr>
        <p:spPr>
          <a:xfrm>
            <a:off x="3160095" y="1436806"/>
            <a:ext cx="1119009"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B0D3966-9186-1A1B-9E78-8D1BCDAD2506}"/>
              </a:ext>
            </a:extLst>
          </p:cNvPr>
          <p:cNvCxnSpPr>
            <a:cxnSpLocks/>
            <a:endCxn id="18" idx="1"/>
          </p:cNvCxnSpPr>
          <p:nvPr/>
        </p:nvCxnSpPr>
        <p:spPr>
          <a:xfrm flipV="1">
            <a:off x="5119110" y="1436806"/>
            <a:ext cx="1356347" cy="2453"/>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49E9EDA-564D-F109-C8B0-79352A280D95}"/>
              </a:ext>
            </a:extLst>
          </p:cNvPr>
          <p:cNvCxnSpPr>
            <a:cxnSpLocks/>
            <a:endCxn id="20" idx="1"/>
          </p:cNvCxnSpPr>
          <p:nvPr/>
        </p:nvCxnSpPr>
        <p:spPr>
          <a:xfrm flipV="1">
            <a:off x="7315463" y="1436806"/>
            <a:ext cx="1853144" cy="2453"/>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9764BF9-9570-4AE4-AB7E-937C772877D7}"/>
              </a:ext>
            </a:extLst>
          </p:cNvPr>
          <p:cNvCxnSpPr>
            <a:cxnSpLocks/>
          </p:cNvCxnSpPr>
          <p:nvPr/>
        </p:nvCxnSpPr>
        <p:spPr>
          <a:xfrm flipV="1">
            <a:off x="7274916" y="2898054"/>
            <a:ext cx="1853144" cy="2453"/>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27DF879-E4F7-3FDD-898E-FE41C9F4D70C}"/>
              </a:ext>
            </a:extLst>
          </p:cNvPr>
          <p:cNvCxnSpPr>
            <a:cxnSpLocks/>
          </p:cNvCxnSpPr>
          <p:nvPr/>
        </p:nvCxnSpPr>
        <p:spPr>
          <a:xfrm>
            <a:off x="4105835" y="2903339"/>
            <a:ext cx="2271884"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EF5ECC3-9507-3509-6EA4-8C9C070554A7}"/>
              </a:ext>
            </a:extLst>
          </p:cNvPr>
          <p:cNvCxnSpPr>
            <a:cxnSpLocks/>
            <a:endCxn id="26" idx="1"/>
          </p:cNvCxnSpPr>
          <p:nvPr/>
        </p:nvCxnSpPr>
        <p:spPr>
          <a:xfrm>
            <a:off x="2024153" y="2887864"/>
            <a:ext cx="1303894" cy="1153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3A8734B-5E94-0498-ABBE-F16A97DCD38C}"/>
              </a:ext>
            </a:extLst>
          </p:cNvPr>
          <p:cNvCxnSpPr>
            <a:cxnSpLocks/>
            <a:endCxn id="32" idx="1"/>
          </p:cNvCxnSpPr>
          <p:nvPr/>
        </p:nvCxnSpPr>
        <p:spPr>
          <a:xfrm flipV="1">
            <a:off x="3254743" y="4405464"/>
            <a:ext cx="1951634" cy="1226"/>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AD5702-E5A0-B458-65BF-3CBFB7049590}"/>
              </a:ext>
            </a:extLst>
          </p:cNvPr>
          <p:cNvCxnSpPr>
            <a:cxnSpLocks/>
          </p:cNvCxnSpPr>
          <p:nvPr/>
        </p:nvCxnSpPr>
        <p:spPr>
          <a:xfrm flipV="1">
            <a:off x="6109015" y="4390367"/>
            <a:ext cx="1951634" cy="1226"/>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60" name="Connector: Curved 59">
            <a:extLst>
              <a:ext uri="{FF2B5EF4-FFF2-40B4-BE49-F238E27FC236}">
                <a16:creationId xmlns:a16="http://schemas.microsoft.com/office/drawing/2014/main" id="{B7212708-B41E-5642-A167-EB4978A5911E}"/>
              </a:ext>
            </a:extLst>
          </p:cNvPr>
          <p:cNvCxnSpPr>
            <a:cxnSpLocks/>
            <a:stCxn id="20" idx="3"/>
            <a:endCxn id="22" idx="3"/>
          </p:cNvCxnSpPr>
          <p:nvPr/>
        </p:nvCxnSpPr>
        <p:spPr>
          <a:xfrm>
            <a:off x="10084607" y="1436806"/>
            <a:ext cx="12700" cy="1461248"/>
          </a:xfrm>
          <a:prstGeom prst="curvedConnector3">
            <a:avLst>
              <a:gd name="adj1" fmla="val 6529409"/>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3F860D34-132A-C8E0-78D0-BA75A6CC5310}"/>
              </a:ext>
            </a:extLst>
          </p:cNvPr>
          <p:cNvCxnSpPr>
            <a:cxnSpLocks/>
          </p:cNvCxnSpPr>
          <p:nvPr/>
        </p:nvCxnSpPr>
        <p:spPr>
          <a:xfrm rot="16200000" flipH="1">
            <a:off x="934481" y="3106372"/>
            <a:ext cx="1461248" cy="1136936"/>
          </a:xfrm>
          <a:prstGeom prst="curvedConnector2">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901D492-44AA-35E6-23A8-615140160F34}"/>
              </a:ext>
            </a:extLst>
          </p:cNvPr>
          <p:cNvSpPr txBox="1"/>
          <p:nvPr/>
        </p:nvSpPr>
        <p:spPr>
          <a:xfrm>
            <a:off x="1810828" y="1556356"/>
            <a:ext cx="1782534" cy="600164"/>
          </a:xfrm>
          <a:prstGeom prst="rect">
            <a:avLst/>
          </a:prstGeom>
          <a:noFill/>
        </p:spPr>
        <p:txBody>
          <a:bodyPr wrap="square" rtlCol="0">
            <a:spAutoFit/>
          </a:bodyPr>
          <a:lstStyle/>
          <a:p>
            <a:pPr algn="ctr"/>
            <a:r>
              <a:rPr lang="en-US" sz="1100" dirty="0">
                <a:latin typeface="Calibri" panose="020F0502020204030204" pitchFamily="34" charset="0"/>
                <a:cs typeface="Calibri" panose="020F0502020204030204" pitchFamily="34" charset="0"/>
              </a:rPr>
              <a:t>Launch </a:t>
            </a:r>
            <a:r>
              <a:rPr lang="en-US" sz="1100" b="1" dirty="0" err="1">
                <a:latin typeface="Calibri" panose="020F0502020204030204" pitchFamily="34" charset="0"/>
                <a:cs typeface="Calibri" panose="020F0502020204030204" pitchFamily="34" charset="0"/>
              </a:rPr>
              <a:t>Foodiebay</a:t>
            </a:r>
            <a:r>
              <a:rPr lang="en-US" sz="1100" dirty="0">
                <a:latin typeface="Calibri" panose="020F0502020204030204" pitchFamily="34" charset="0"/>
                <a:cs typeface="Calibri" panose="020F0502020204030204" pitchFamily="34" charset="0"/>
              </a:rPr>
              <a:t> platform for uploading restaurant menu</a:t>
            </a:r>
          </a:p>
        </p:txBody>
      </p:sp>
      <p:sp>
        <p:nvSpPr>
          <p:cNvPr id="69" name="TextBox 68">
            <a:extLst>
              <a:ext uri="{FF2B5EF4-FFF2-40B4-BE49-F238E27FC236}">
                <a16:creationId xmlns:a16="http://schemas.microsoft.com/office/drawing/2014/main" id="{D1508661-6B1B-B342-9451-D3188A58B4A7}"/>
              </a:ext>
            </a:extLst>
          </p:cNvPr>
          <p:cNvSpPr txBox="1"/>
          <p:nvPr/>
        </p:nvSpPr>
        <p:spPr>
          <a:xfrm>
            <a:off x="3951584" y="1556356"/>
            <a:ext cx="1543398" cy="430887"/>
          </a:xfrm>
          <a:prstGeom prst="rect">
            <a:avLst/>
          </a:prstGeom>
          <a:noFill/>
        </p:spPr>
        <p:txBody>
          <a:bodyPr wrap="square" rtlCol="0">
            <a:spAutoFit/>
          </a:bodyPr>
          <a:lstStyle/>
          <a:p>
            <a:pPr algn="ctr"/>
            <a:r>
              <a:rPr lang="en-US" sz="1100" dirty="0">
                <a:latin typeface="Calibri" panose="020F0502020204030204" pitchFamily="34" charset="0"/>
                <a:cs typeface="Calibri" panose="020F0502020204030204" pitchFamily="34" charset="0"/>
              </a:rPr>
              <a:t>Rebranded company as </a:t>
            </a:r>
            <a:r>
              <a:rPr lang="en-US" sz="1100" b="1" dirty="0">
                <a:latin typeface="Calibri" panose="020F0502020204030204" pitchFamily="34" charset="0"/>
                <a:cs typeface="Calibri" panose="020F0502020204030204" pitchFamily="34" charset="0"/>
              </a:rPr>
              <a:t>ZOMATO</a:t>
            </a:r>
          </a:p>
        </p:txBody>
      </p:sp>
      <p:sp>
        <p:nvSpPr>
          <p:cNvPr id="70" name="TextBox 69">
            <a:extLst>
              <a:ext uri="{FF2B5EF4-FFF2-40B4-BE49-F238E27FC236}">
                <a16:creationId xmlns:a16="http://schemas.microsoft.com/office/drawing/2014/main" id="{8A4D1D5F-CFAB-BF49-509C-7EB3AABD9267}"/>
              </a:ext>
            </a:extLst>
          </p:cNvPr>
          <p:cNvSpPr txBox="1"/>
          <p:nvPr/>
        </p:nvSpPr>
        <p:spPr>
          <a:xfrm>
            <a:off x="6171478" y="1556356"/>
            <a:ext cx="1543398" cy="430887"/>
          </a:xfrm>
          <a:prstGeom prst="rect">
            <a:avLst/>
          </a:prstGeom>
          <a:noFill/>
        </p:spPr>
        <p:txBody>
          <a:bodyPr wrap="square" rtlCol="0">
            <a:spAutoFit/>
          </a:bodyPr>
          <a:lstStyle/>
          <a:p>
            <a:pPr algn="ctr"/>
            <a:r>
              <a:rPr lang="en-US" sz="1100" dirty="0">
                <a:latin typeface="Calibri" panose="020F0502020204030204" pitchFamily="34" charset="0"/>
                <a:cs typeface="Calibri" panose="020F0502020204030204" pitchFamily="34" charset="0"/>
              </a:rPr>
              <a:t>Company expanded international in </a:t>
            </a:r>
            <a:r>
              <a:rPr lang="en-US" sz="1100" b="1" dirty="0">
                <a:latin typeface="Calibri" panose="020F0502020204030204" pitchFamily="34" charset="0"/>
                <a:cs typeface="Calibri" panose="020F0502020204030204" pitchFamily="34" charset="0"/>
              </a:rPr>
              <a:t>Dubai</a:t>
            </a:r>
          </a:p>
        </p:txBody>
      </p:sp>
      <p:sp>
        <p:nvSpPr>
          <p:cNvPr id="71" name="TextBox 70">
            <a:extLst>
              <a:ext uri="{FF2B5EF4-FFF2-40B4-BE49-F238E27FC236}">
                <a16:creationId xmlns:a16="http://schemas.microsoft.com/office/drawing/2014/main" id="{0FF6EBE7-C7F7-25EC-4FDD-46FE4FB94FD7}"/>
              </a:ext>
            </a:extLst>
          </p:cNvPr>
          <p:cNvSpPr txBox="1"/>
          <p:nvPr/>
        </p:nvSpPr>
        <p:spPr>
          <a:xfrm>
            <a:off x="8701384" y="1504158"/>
            <a:ext cx="1543398" cy="430887"/>
          </a:xfrm>
          <a:prstGeom prst="rect">
            <a:avLst/>
          </a:prstGeom>
          <a:noFill/>
        </p:spPr>
        <p:txBody>
          <a:bodyPr wrap="square" rtlCol="0">
            <a:spAutoFit/>
          </a:bodyPr>
          <a:lstStyle/>
          <a:p>
            <a:pPr algn="ctr"/>
            <a:r>
              <a:rPr lang="en-US" sz="1100" dirty="0">
                <a:latin typeface="Calibri" panose="020F0502020204030204" pitchFamily="34" charset="0"/>
                <a:cs typeface="Calibri" panose="020F0502020204030204" pitchFamily="34" charset="0"/>
              </a:rPr>
              <a:t>Raised Capital from </a:t>
            </a:r>
            <a:r>
              <a:rPr lang="en-US" sz="1100" b="1" dirty="0">
                <a:latin typeface="Calibri" panose="020F0502020204030204" pitchFamily="34" charset="0"/>
                <a:cs typeface="Calibri" panose="020F0502020204030204" pitchFamily="34" charset="0"/>
              </a:rPr>
              <a:t>Sequoia</a:t>
            </a:r>
          </a:p>
        </p:txBody>
      </p:sp>
      <p:sp>
        <p:nvSpPr>
          <p:cNvPr id="72" name="TextBox 71">
            <a:extLst>
              <a:ext uri="{FF2B5EF4-FFF2-40B4-BE49-F238E27FC236}">
                <a16:creationId xmlns:a16="http://schemas.microsoft.com/office/drawing/2014/main" id="{A9925829-8C3F-A188-57FC-3EC2C403CB5A}"/>
              </a:ext>
            </a:extLst>
          </p:cNvPr>
          <p:cNvSpPr txBox="1"/>
          <p:nvPr/>
        </p:nvSpPr>
        <p:spPr>
          <a:xfrm>
            <a:off x="1376630" y="2993175"/>
            <a:ext cx="1262051" cy="938719"/>
          </a:xfrm>
          <a:prstGeom prst="rect">
            <a:avLst/>
          </a:prstGeom>
          <a:noFill/>
        </p:spPr>
        <p:txBody>
          <a:bodyPr wrap="square" rtlCol="0">
            <a:spAutoFit/>
          </a:bodyPr>
          <a:lstStyle/>
          <a:p>
            <a:r>
              <a:rPr lang="en-US" sz="1100" dirty="0">
                <a:latin typeface="Calibri" panose="020F0502020204030204" pitchFamily="34" charset="0"/>
                <a:cs typeface="Calibri" panose="020F0502020204030204" pitchFamily="34" charset="0"/>
              </a:rPr>
              <a:t>- Acquired </a:t>
            </a:r>
            <a:r>
              <a:rPr lang="en-US" sz="1100" b="1" dirty="0" err="1">
                <a:latin typeface="Calibri" panose="020F0502020204030204" pitchFamily="34" charset="0"/>
                <a:cs typeface="Calibri" panose="020F0502020204030204" pitchFamily="34" charset="0"/>
              </a:rPr>
              <a:t>Hypercure</a:t>
            </a:r>
            <a:r>
              <a:rPr lang="en-US" sz="1100" b="1" dirty="0">
                <a:latin typeface="Calibri" panose="020F0502020204030204" pitchFamily="34" charset="0"/>
                <a:cs typeface="Calibri" panose="020F0502020204030204" pitchFamily="34" charset="0"/>
              </a:rPr>
              <a:t> (B2B)</a:t>
            </a:r>
          </a:p>
          <a:p>
            <a:r>
              <a:rPr lang="en-US" sz="1100" dirty="0">
                <a:latin typeface="Calibri" panose="020F0502020204030204" pitchFamily="34" charset="0"/>
                <a:cs typeface="Calibri" panose="020F0502020204030204" pitchFamily="34" charset="0"/>
              </a:rPr>
              <a:t>- Winded up international operations</a:t>
            </a:r>
          </a:p>
        </p:txBody>
      </p:sp>
      <p:sp>
        <p:nvSpPr>
          <p:cNvPr id="73" name="TextBox 72">
            <a:extLst>
              <a:ext uri="{FF2B5EF4-FFF2-40B4-BE49-F238E27FC236}">
                <a16:creationId xmlns:a16="http://schemas.microsoft.com/office/drawing/2014/main" id="{94A3270D-DB6C-75F9-D808-F2D38A7D2BA0}"/>
              </a:ext>
            </a:extLst>
          </p:cNvPr>
          <p:cNvSpPr txBox="1"/>
          <p:nvPr/>
        </p:nvSpPr>
        <p:spPr>
          <a:xfrm>
            <a:off x="3132366" y="3020436"/>
            <a:ext cx="1636344" cy="600164"/>
          </a:xfrm>
          <a:prstGeom prst="rect">
            <a:avLst/>
          </a:prstGeom>
          <a:noFill/>
        </p:spPr>
        <p:txBody>
          <a:bodyPr wrap="square" rtlCol="0">
            <a:spAutoFit/>
          </a:bodyPr>
          <a:lstStyle/>
          <a:p>
            <a:r>
              <a:rPr lang="en-US" sz="1100" dirty="0">
                <a:latin typeface="Calibri" panose="020F0502020204030204" pitchFamily="34" charset="0"/>
                <a:cs typeface="Calibri" panose="020F0502020204030204" pitchFamily="34" charset="0"/>
              </a:rPr>
              <a:t>Acquired Hyperlocal delivery platform called </a:t>
            </a:r>
            <a:r>
              <a:rPr lang="en-US" sz="1100" b="1" dirty="0" err="1">
                <a:latin typeface="Calibri" panose="020F0502020204030204" pitchFamily="34" charset="0"/>
                <a:cs typeface="Calibri" panose="020F0502020204030204" pitchFamily="34" charset="0"/>
              </a:rPr>
              <a:t>Runnr</a:t>
            </a:r>
            <a:endParaRPr lang="en-US" sz="1100" b="1" dirty="0">
              <a:latin typeface="Calibri" panose="020F0502020204030204" pitchFamily="34" charset="0"/>
              <a:cs typeface="Calibri" panose="020F0502020204030204" pitchFamily="34" charset="0"/>
            </a:endParaRPr>
          </a:p>
        </p:txBody>
      </p:sp>
      <p:sp>
        <p:nvSpPr>
          <p:cNvPr id="75" name="TextBox 74">
            <a:extLst>
              <a:ext uri="{FF2B5EF4-FFF2-40B4-BE49-F238E27FC236}">
                <a16:creationId xmlns:a16="http://schemas.microsoft.com/office/drawing/2014/main" id="{1FF54B26-C52C-87B1-F5CF-C46A454FD3DC}"/>
              </a:ext>
            </a:extLst>
          </p:cNvPr>
          <p:cNvSpPr txBox="1"/>
          <p:nvPr/>
        </p:nvSpPr>
        <p:spPr>
          <a:xfrm>
            <a:off x="6266660" y="3020436"/>
            <a:ext cx="1636344" cy="938719"/>
          </a:xfrm>
          <a:prstGeom prst="rect">
            <a:avLst/>
          </a:prstGeom>
          <a:noFill/>
        </p:spPr>
        <p:txBody>
          <a:bodyPr wrap="square" rtlCol="0">
            <a:spAutoFit/>
          </a:bodyPr>
          <a:lstStyle/>
          <a:p>
            <a:pPr marL="171450" indent="-171450">
              <a:buFontTx/>
              <a:buChar char="-"/>
            </a:pPr>
            <a:r>
              <a:rPr lang="en-US" sz="1100" dirty="0">
                <a:latin typeface="Calibri" panose="020F0502020204030204" pitchFamily="34" charset="0"/>
                <a:cs typeface="Calibri" panose="020F0502020204030204" pitchFamily="34" charset="0"/>
              </a:rPr>
              <a:t>Launched customer membership program called </a:t>
            </a:r>
            <a:r>
              <a:rPr lang="en-US" sz="1100" b="1" dirty="0">
                <a:latin typeface="Calibri" panose="020F0502020204030204" pitchFamily="34" charset="0"/>
                <a:cs typeface="Calibri" panose="020F0502020204030204" pitchFamily="34" charset="0"/>
              </a:rPr>
              <a:t>Zomato Pro</a:t>
            </a:r>
          </a:p>
          <a:p>
            <a:pPr marL="171450" indent="-171450">
              <a:buFontTx/>
              <a:buChar char="-"/>
            </a:pPr>
            <a:r>
              <a:rPr lang="en-US" sz="1100" dirty="0">
                <a:latin typeface="Calibri" panose="020F0502020204030204" pitchFamily="34" charset="0"/>
                <a:cs typeface="Calibri" panose="020F0502020204030204" pitchFamily="34" charset="0"/>
              </a:rPr>
              <a:t>Launched new product </a:t>
            </a:r>
            <a:r>
              <a:rPr lang="en-US" sz="1100" b="1" dirty="0">
                <a:latin typeface="Calibri" panose="020F0502020204030204" pitchFamily="34" charset="0"/>
                <a:cs typeface="Calibri" panose="020F0502020204030204" pitchFamily="34" charset="0"/>
              </a:rPr>
              <a:t>Zomato Gold</a:t>
            </a:r>
          </a:p>
        </p:txBody>
      </p:sp>
      <p:sp>
        <p:nvSpPr>
          <p:cNvPr id="76" name="TextBox 75">
            <a:extLst>
              <a:ext uri="{FF2B5EF4-FFF2-40B4-BE49-F238E27FC236}">
                <a16:creationId xmlns:a16="http://schemas.microsoft.com/office/drawing/2014/main" id="{F9CDDB0C-AEE9-9057-9543-4F8DBCA588EB}"/>
              </a:ext>
            </a:extLst>
          </p:cNvPr>
          <p:cNvSpPr txBox="1"/>
          <p:nvPr/>
        </p:nvSpPr>
        <p:spPr>
          <a:xfrm>
            <a:off x="8701384" y="2993175"/>
            <a:ext cx="2217628" cy="769441"/>
          </a:xfrm>
          <a:prstGeom prst="rect">
            <a:avLst/>
          </a:prstGeom>
          <a:noFill/>
        </p:spPr>
        <p:txBody>
          <a:bodyPr wrap="square" rtlCol="0">
            <a:spAutoFit/>
          </a:bodyPr>
          <a:lstStyle/>
          <a:p>
            <a:pPr marL="171450" indent="-171450">
              <a:buFontTx/>
              <a:buChar char="-"/>
            </a:pPr>
            <a:r>
              <a:rPr lang="en-US" sz="1100" dirty="0">
                <a:latin typeface="Calibri" panose="020F0502020204030204" pitchFamily="34" charset="0"/>
                <a:cs typeface="Calibri" panose="020F0502020204030204" pitchFamily="34" charset="0"/>
              </a:rPr>
              <a:t>Launched food delivery ventures in India</a:t>
            </a:r>
          </a:p>
          <a:p>
            <a:pPr marL="171450" indent="-171450">
              <a:buFontTx/>
              <a:buChar char="-"/>
            </a:pPr>
            <a:r>
              <a:rPr lang="en-US" sz="1100" dirty="0">
                <a:latin typeface="Calibri" panose="020F0502020204030204" pitchFamily="34" charset="0"/>
                <a:cs typeface="Calibri" panose="020F0502020204030204" pitchFamily="34" charset="0"/>
              </a:rPr>
              <a:t>Launched </a:t>
            </a:r>
            <a:r>
              <a:rPr lang="en-US" sz="1100" b="1" dirty="0">
                <a:latin typeface="Calibri" panose="020F0502020204030204" pitchFamily="34" charset="0"/>
                <a:cs typeface="Calibri" panose="020F0502020204030204" pitchFamily="34" charset="0"/>
              </a:rPr>
              <a:t>restaurant table reservation services</a:t>
            </a:r>
          </a:p>
        </p:txBody>
      </p:sp>
      <p:sp>
        <p:nvSpPr>
          <p:cNvPr id="77" name="TextBox 76">
            <a:extLst>
              <a:ext uri="{FF2B5EF4-FFF2-40B4-BE49-F238E27FC236}">
                <a16:creationId xmlns:a16="http://schemas.microsoft.com/office/drawing/2014/main" id="{9FFEB614-540D-D925-0C92-A850E7B64362}"/>
              </a:ext>
            </a:extLst>
          </p:cNvPr>
          <p:cNvSpPr txBox="1"/>
          <p:nvPr/>
        </p:nvSpPr>
        <p:spPr>
          <a:xfrm>
            <a:off x="1800348" y="4630547"/>
            <a:ext cx="2217628" cy="261610"/>
          </a:xfrm>
          <a:prstGeom prst="rect">
            <a:avLst/>
          </a:prstGeom>
          <a:noFill/>
        </p:spPr>
        <p:txBody>
          <a:bodyPr wrap="square" rtlCol="0">
            <a:spAutoFit/>
          </a:bodyPr>
          <a:lstStyle/>
          <a:p>
            <a:r>
              <a:rPr lang="en-US" sz="1100" dirty="0">
                <a:latin typeface="Calibri" panose="020F0502020204030204" pitchFamily="34" charset="0"/>
                <a:cs typeface="Calibri" panose="020F0502020204030204" pitchFamily="34" charset="0"/>
              </a:rPr>
              <a:t>Acquired</a:t>
            </a:r>
            <a:r>
              <a:rPr lang="en-US" sz="1100" b="1" dirty="0">
                <a:latin typeface="Calibri" panose="020F0502020204030204" pitchFamily="34" charset="0"/>
                <a:cs typeface="Calibri" panose="020F0502020204030204" pitchFamily="34" charset="0"/>
              </a:rPr>
              <a:t> UberEATS </a:t>
            </a:r>
            <a:r>
              <a:rPr lang="en-US" sz="1100" dirty="0">
                <a:latin typeface="Calibri" panose="020F0502020204030204" pitchFamily="34" charset="0"/>
                <a:cs typeface="Calibri" panose="020F0502020204030204" pitchFamily="34" charset="0"/>
              </a:rPr>
              <a:t>India</a:t>
            </a:r>
          </a:p>
        </p:txBody>
      </p:sp>
      <p:sp>
        <p:nvSpPr>
          <p:cNvPr id="78" name="TextBox 77">
            <a:extLst>
              <a:ext uri="{FF2B5EF4-FFF2-40B4-BE49-F238E27FC236}">
                <a16:creationId xmlns:a16="http://schemas.microsoft.com/office/drawing/2014/main" id="{27A504D5-EB86-4F60-4AAC-53BFC6C844A9}"/>
              </a:ext>
            </a:extLst>
          </p:cNvPr>
          <p:cNvSpPr txBox="1"/>
          <p:nvPr/>
        </p:nvSpPr>
        <p:spPr>
          <a:xfrm>
            <a:off x="5049964" y="4562189"/>
            <a:ext cx="1883493" cy="430887"/>
          </a:xfrm>
          <a:prstGeom prst="rect">
            <a:avLst/>
          </a:prstGeom>
          <a:noFill/>
        </p:spPr>
        <p:txBody>
          <a:bodyPr wrap="square" rtlCol="0">
            <a:spAutoFit/>
          </a:bodyPr>
          <a:lstStyle/>
          <a:p>
            <a:r>
              <a:rPr lang="en-US" sz="1100" dirty="0">
                <a:latin typeface="Calibri" panose="020F0502020204030204" pitchFamily="34" charset="0"/>
                <a:cs typeface="Calibri" panose="020F0502020204030204" pitchFamily="34" charset="0"/>
              </a:rPr>
              <a:t>Raised capital from Tiger global and Kora</a:t>
            </a:r>
          </a:p>
        </p:txBody>
      </p:sp>
      <p:sp>
        <p:nvSpPr>
          <p:cNvPr id="79" name="TextBox 78">
            <a:extLst>
              <a:ext uri="{FF2B5EF4-FFF2-40B4-BE49-F238E27FC236}">
                <a16:creationId xmlns:a16="http://schemas.microsoft.com/office/drawing/2014/main" id="{A6CD2C51-B60F-8733-89AF-5C8E2D16E529}"/>
              </a:ext>
            </a:extLst>
          </p:cNvPr>
          <p:cNvSpPr txBox="1"/>
          <p:nvPr/>
        </p:nvSpPr>
        <p:spPr>
          <a:xfrm>
            <a:off x="7926705" y="4499696"/>
            <a:ext cx="1883493" cy="261610"/>
          </a:xfrm>
          <a:prstGeom prst="rect">
            <a:avLst/>
          </a:prstGeom>
          <a:noFill/>
        </p:spPr>
        <p:txBody>
          <a:bodyPr wrap="square" rtlCol="0">
            <a:spAutoFit/>
          </a:bodyPr>
          <a:lstStyle/>
          <a:p>
            <a:r>
              <a:rPr lang="en-US" sz="1100" dirty="0">
                <a:latin typeface="Calibri" panose="020F0502020204030204" pitchFamily="34" charset="0"/>
                <a:cs typeface="Calibri" panose="020F0502020204030204" pitchFamily="34" charset="0"/>
              </a:rPr>
              <a:t>Acquired </a:t>
            </a:r>
            <a:r>
              <a:rPr lang="en-US" sz="1100" b="1" dirty="0" err="1">
                <a:latin typeface="Calibri" panose="020F0502020204030204" pitchFamily="34" charset="0"/>
                <a:cs typeface="Calibri" panose="020F0502020204030204" pitchFamily="34" charset="0"/>
              </a:rPr>
              <a:t>Blinkit</a:t>
            </a:r>
            <a:endParaRPr lang="en-US" sz="1100" b="1" dirty="0">
              <a:latin typeface="Calibri" panose="020F0502020204030204" pitchFamily="34" charset="0"/>
              <a:cs typeface="Calibri" panose="020F0502020204030204" pitchFamily="34" charset="0"/>
            </a:endParaRPr>
          </a:p>
        </p:txBody>
      </p:sp>
      <p:sp>
        <p:nvSpPr>
          <p:cNvPr id="80" name="TextBox 79">
            <a:extLst>
              <a:ext uri="{FF2B5EF4-FFF2-40B4-BE49-F238E27FC236}">
                <a16:creationId xmlns:a16="http://schemas.microsoft.com/office/drawing/2014/main" id="{11B14A7E-4BF6-19AE-C59A-A58BE6418424}"/>
              </a:ext>
            </a:extLst>
          </p:cNvPr>
          <p:cNvSpPr txBox="1"/>
          <p:nvPr/>
        </p:nvSpPr>
        <p:spPr>
          <a:xfrm>
            <a:off x="9731033" y="4274659"/>
            <a:ext cx="2335461" cy="369332"/>
          </a:xfrm>
          <a:prstGeom prst="rect">
            <a:avLst/>
          </a:prstGeom>
          <a:noFill/>
        </p:spPr>
        <p:txBody>
          <a:bodyPr wrap="square" rtlCol="0">
            <a:spAutoFit/>
          </a:bodyPr>
          <a:lstStyle/>
          <a:p>
            <a:r>
              <a:rPr lang="en-US" sz="1800" b="1" dirty="0">
                <a:latin typeface="Calibri" panose="020F0502020204030204" pitchFamily="34" charset="0"/>
                <a:cs typeface="Calibri" panose="020F0502020204030204" pitchFamily="34" charset="0"/>
              </a:rPr>
              <a:t>Success Going On….</a:t>
            </a:r>
          </a:p>
        </p:txBody>
      </p:sp>
    </p:spTree>
    <p:extLst>
      <p:ext uri="{BB962C8B-B14F-4D97-AF65-F5344CB8AC3E}">
        <p14:creationId xmlns:p14="http://schemas.microsoft.com/office/powerpoint/2010/main" val="62294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1000"/>
                                        <p:tgtEl>
                                          <p:spTgt spid="69"/>
                                        </p:tgtEl>
                                      </p:cBhvr>
                                    </p:animEffect>
                                    <p:anim calcmode="lin" valueType="num">
                                      <p:cBhvr>
                                        <p:cTn id="13" dur="1000" fill="hold"/>
                                        <p:tgtEl>
                                          <p:spTgt spid="69"/>
                                        </p:tgtEl>
                                        <p:attrNameLst>
                                          <p:attrName>ppt_x</p:attrName>
                                        </p:attrNameLst>
                                      </p:cBhvr>
                                      <p:tavLst>
                                        <p:tav tm="0">
                                          <p:val>
                                            <p:strVal val="#ppt_x"/>
                                          </p:val>
                                        </p:tav>
                                        <p:tav tm="100000">
                                          <p:val>
                                            <p:strVal val="#ppt_x"/>
                                          </p:val>
                                        </p:tav>
                                      </p:tavLst>
                                    </p:anim>
                                    <p:anim calcmode="lin" valueType="num">
                                      <p:cBhvr>
                                        <p:cTn id="14" dur="1000" fill="hold"/>
                                        <p:tgtEl>
                                          <p:spTgt spid="6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1000"/>
                                        <p:tgtEl>
                                          <p:spTgt spid="42"/>
                                        </p:tgtEl>
                                      </p:cBhvr>
                                    </p:animEffect>
                                    <p:anim calcmode="lin" valueType="num">
                                      <p:cBhvr>
                                        <p:cTn id="25" dur="1000" fill="hold"/>
                                        <p:tgtEl>
                                          <p:spTgt spid="42"/>
                                        </p:tgtEl>
                                        <p:attrNameLst>
                                          <p:attrName>ppt_x</p:attrName>
                                        </p:attrNameLst>
                                      </p:cBhvr>
                                      <p:tavLst>
                                        <p:tav tm="0">
                                          <p:val>
                                            <p:strVal val="#ppt_x"/>
                                          </p:val>
                                        </p:tav>
                                        <p:tav tm="100000">
                                          <p:val>
                                            <p:strVal val="#ppt_x"/>
                                          </p:val>
                                        </p:tav>
                                      </p:tavLst>
                                    </p:anim>
                                    <p:anim calcmode="lin" valueType="num">
                                      <p:cBhvr>
                                        <p:cTn id="26" dur="1000" fill="hold"/>
                                        <p:tgtEl>
                                          <p:spTgt spid="4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fade">
                                      <p:cBhvr>
                                        <p:cTn id="34" dur="1000"/>
                                        <p:tgtEl>
                                          <p:spTgt spid="70"/>
                                        </p:tgtEl>
                                      </p:cBhvr>
                                    </p:animEffect>
                                    <p:anim calcmode="lin" valueType="num">
                                      <p:cBhvr>
                                        <p:cTn id="35" dur="1000" fill="hold"/>
                                        <p:tgtEl>
                                          <p:spTgt spid="70"/>
                                        </p:tgtEl>
                                        <p:attrNameLst>
                                          <p:attrName>ppt_x</p:attrName>
                                        </p:attrNameLst>
                                      </p:cBhvr>
                                      <p:tavLst>
                                        <p:tav tm="0">
                                          <p:val>
                                            <p:strVal val="#ppt_x"/>
                                          </p:val>
                                        </p:tav>
                                        <p:tav tm="100000">
                                          <p:val>
                                            <p:strVal val="#ppt_x"/>
                                          </p:val>
                                        </p:tav>
                                      </p:tavLst>
                                    </p:anim>
                                    <p:anim calcmode="lin" valueType="num">
                                      <p:cBhvr>
                                        <p:cTn id="36"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1000"/>
                                        <p:tgtEl>
                                          <p:spTgt spid="44"/>
                                        </p:tgtEl>
                                      </p:cBhvr>
                                    </p:animEffect>
                                    <p:anim calcmode="lin" valueType="num">
                                      <p:cBhvr>
                                        <p:cTn id="42" dur="1000" fill="hold"/>
                                        <p:tgtEl>
                                          <p:spTgt spid="44"/>
                                        </p:tgtEl>
                                        <p:attrNameLst>
                                          <p:attrName>ppt_x</p:attrName>
                                        </p:attrNameLst>
                                      </p:cBhvr>
                                      <p:tavLst>
                                        <p:tav tm="0">
                                          <p:val>
                                            <p:strVal val="#ppt_x"/>
                                          </p:val>
                                        </p:tav>
                                        <p:tav tm="100000">
                                          <p:val>
                                            <p:strVal val="#ppt_x"/>
                                          </p:val>
                                        </p:tav>
                                      </p:tavLst>
                                    </p:anim>
                                    <p:anim calcmode="lin" valueType="num">
                                      <p:cBhvr>
                                        <p:cTn id="43" dur="1000" fill="hold"/>
                                        <p:tgtEl>
                                          <p:spTgt spid="44"/>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fade">
                                      <p:cBhvr>
                                        <p:cTn id="51" dur="1000"/>
                                        <p:tgtEl>
                                          <p:spTgt spid="71"/>
                                        </p:tgtEl>
                                      </p:cBhvr>
                                    </p:animEffect>
                                    <p:anim calcmode="lin" valueType="num">
                                      <p:cBhvr>
                                        <p:cTn id="52" dur="1000" fill="hold"/>
                                        <p:tgtEl>
                                          <p:spTgt spid="71"/>
                                        </p:tgtEl>
                                        <p:attrNameLst>
                                          <p:attrName>ppt_x</p:attrName>
                                        </p:attrNameLst>
                                      </p:cBhvr>
                                      <p:tavLst>
                                        <p:tav tm="0">
                                          <p:val>
                                            <p:strVal val="#ppt_x"/>
                                          </p:val>
                                        </p:tav>
                                        <p:tav tm="100000">
                                          <p:val>
                                            <p:strVal val="#ppt_x"/>
                                          </p:val>
                                        </p:tav>
                                      </p:tavLst>
                                    </p:anim>
                                    <p:anim calcmode="lin" valueType="num">
                                      <p:cBhvr>
                                        <p:cTn id="53"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1000"/>
                                        <p:tgtEl>
                                          <p:spTgt spid="60"/>
                                        </p:tgtEl>
                                      </p:cBhvr>
                                    </p:animEffect>
                                    <p:anim calcmode="lin" valueType="num">
                                      <p:cBhvr>
                                        <p:cTn id="59" dur="1000" fill="hold"/>
                                        <p:tgtEl>
                                          <p:spTgt spid="60"/>
                                        </p:tgtEl>
                                        <p:attrNameLst>
                                          <p:attrName>ppt_x</p:attrName>
                                        </p:attrNameLst>
                                      </p:cBhvr>
                                      <p:tavLst>
                                        <p:tav tm="0">
                                          <p:val>
                                            <p:strVal val="#ppt_x"/>
                                          </p:val>
                                        </p:tav>
                                        <p:tav tm="100000">
                                          <p:val>
                                            <p:strVal val="#ppt_x"/>
                                          </p:val>
                                        </p:tav>
                                      </p:tavLst>
                                    </p:anim>
                                    <p:anim calcmode="lin" valueType="num">
                                      <p:cBhvr>
                                        <p:cTn id="60" dur="1000" fill="hold"/>
                                        <p:tgtEl>
                                          <p:spTgt spid="60"/>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1000"/>
                                        <p:tgtEl>
                                          <p:spTgt spid="22"/>
                                        </p:tgtEl>
                                      </p:cBhvr>
                                    </p:animEffect>
                                    <p:anim calcmode="lin" valueType="num">
                                      <p:cBhvr>
                                        <p:cTn id="64" dur="1000" fill="hold"/>
                                        <p:tgtEl>
                                          <p:spTgt spid="22"/>
                                        </p:tgtEl>
                                        <p:attrNameLst>
                                          <p:attrName>ppt_x</p:attrName>
                                        </p:attrNameLst>
                                      </p:cBhvr>
                                      <p:tavLst>
                                        <p:tav tm="0">
                                          <p:val>
                                            <p:strVal val="#ppt_x"/>
                                          </p:val>
                                        </p:tav>
                                        <p:tav tm="100000">
                                          <p:val>
                                            <p:strVal val="#ppt_x"/>
                                          </p:val>
                                        </p:tav>
                                      </p:tavLst>
                                    </p:anim>
                                    <p:anim calcmode="lin" valueType="num">
                                      <p:cBhvr>
                                        <p:cTn id="65" dur="1000" fill="hold"/>
                                        <p:tgtEl>
                                          <p:spTgt spid="2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fade">
                                      <p:cBhvr>
                                        <p:cTn id="68" dur="1000"/>
                                        <p:tgtEl>
                                          <p:spTgt spid="76"/>
                                        </p:tgtEl>
                                      </p:cBhvr>
                                    </p:animEffect>
                                    <p:anim calcmode="lin" valueType="num">
                                      <p:cBhvr>
                                        <p:cTn id="69" dur="1000" fill="hold"/>
                                        <p:tgtEl>
                                          <p:spTgt spid="76"/>
                                        </p:tgtEl>
                                        <p:attrNameLst>
                                          <p:attrName>ppt_x</p:attrName>
                                        </p:attrNameLst>
                                      </p:cBhvr>
                                      <p:tavLst>
                                        <p:tav tm="0">
                                          <p:val>
                                            <p:strVal val="#ppt_x"/>
                                          </p:val>
                                        </p:tav>
                                        <p:tav tm="100000">
                                          <p:val>
                                            <p:strVal val="#ppt_x"/>
                                          </p:val>
                                        </p:tav>
                                      </p:tavLst>
                                    </p:anim>
                                    <p:anim calcmode="lin" valueType="num">
                                      <p:cBhvr>
                                        <p:cTn id="70" dur="1000" fill="hold"/>
                                        <p:tgtEl>
                                          <p:spTgt spid="76"/>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fade">
                                      <p:cBhvr>
                                        <p:cTn id="73" dur="1000"/>
                                        <p:tgtEl>
                                          <p:spTgt spid="46"/>
                                        </p:tgtEl>
                                      </p:cBhvr>
                                    </p:animEffect>
                                    <p:anim calcmode="lin" valueType="num">
                                      <p:cBhvr>
                                        <p:cTn id="74" dur="1000" fill="hold"/>
                                        <p:tgtEl>
                                          <p:spTgt spid="46"/>
                                        </p:tgtEl>
                                        <p:attrNameLst>
                                          <p:attrName>ppt_x</p:attrName>
                                        </p:attrNameLst>
                                      </p:cBhvr>
                                      <p:tavLst>
                                        <p:tav tm="0">
                                          <p:val>
                                            <p:strVal val="#ppt_x"/>
                                          </p:val>
                                        </p:tav>
                                        <p:tav tm="100000">
                                          <p:val>
                                            <p:strVal val="#ppt_x"/>
                                          </p:val>
                                        </p:tav>
                                      </p:tavLst>
                                    </p:anim>
                                    <p:anim calcmode="lin" valueType="num">
                                      <p:cBhvr>
                                        <p:cTn id="75"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1000"/>
                                        <p:tgtEl>
                                          <p:spTgt spid="24"/>
                                        </p:tgtEl>
                                      </p:cBhvr>
                                    </p:animEffect>
                                    <p:anim calcmode="lin" valueType="num">
                                      <p:cBhvr>
                                        <p:cTn id="81" dur="1000" fill="hold"/>
                                        <p:tgtEl>
                                          <p:spTgt spid="24"/>
                                        </p:tgtEl>
                                        <p:attrNameLst>
                                          <p:attrName>ppt_x</p:attrName>
                                        </p:attrNameLst>
                                      </p:cBhvr>
                                      <p:tavLst>
                                        <p:tav tm="0">
                                          <p:val>
                                            <p:strVal val="#ppt_x"/>
                                          </p:val>
                                        </p:tav>
                                        <p:tav tm="100000">
                                          <p:val>
                                            <p:strVal val="#ppt_x"/>
                                          </p:val>
                                        </p:tav>
                                      </p:tavLst>
                                    </p:anim>
                                    <p:anim calcmode="lin" valueType="num">
                                      <p:cBhvr>
                                        <p:cTn id="82" dur="1000" fill="hold"/>
                                        <p:tgtEl>
                                          <p:spTgt spid="24"/>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1000"/>
                                        <p:tgtEl>
                                          <p:spTgt spid="75"/>
                                        </p:tgtEl>
                                      </p:cBhvr>
                                    </p:animEffect>
                                    <p:anim calcmode="lin" valueType="num">
                                      <p:cBhvr>
                                        <p:cTn id="86" dur="1000" fill="hold"/>
                                        <p:tgtEl>
                                          <p:spTgt spid="75"/>
                                        </p:tgtEl>
                                        <p:attrNameLst>
                                          <p:attrName>ppt_x</p:attrName>
                                        </p:attrNameLst>
                                      </p:cBhvr>
                                      <p:tavLst>
                                        <p:tav tm="0">
                                          <p:val>
                                            <p:strVal val="#ppt_x"/>
                                          </p:val>
                                        </p:tav>
                                        <p:tav tm="100000">
                                          <p:val>
                                            <p:strVal val="#ppt_x"/>
                                          </p:val>
                                        </p:tav>
                                      </p:tavLst>
                                    </p:anim>
                                    <p:anim calcmode="lin" valueType="num">
                                      <p:cBhvr>
                                        <p:cTn id="87" dur="1000" fill="hold"/>
                                        <p:tgtEl>
                                          <p:spTgt spid="75"/>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1000"/>
                                        <p:tgtEl>
                                          <p:spTgt spid="47"/>
                                        </p:tgtEl>
                                      </p:cBhvr>
                                    </p:animEffect>
                                    <p:anim calcmode="lin" valueType="num">
                                      <p:cBhvr>
                                        <p:cTn id="91" dur="1000" fill="hold"/>
                                        <p:tgtEl>
                                          <p:spTgt spid="47"/>
                                        </p:tgtEl>
                                        <p:attrNameLst>
                                          <p:attrName>ppt_x</p:attrName>
                                        </p:attrNameLst>
                                      </p:cBhvr>
                                      <p:tavLst>
                                        <p:tav tm="0">
                                          <p:val>
                                            <p:strVal val="#ppt_x"/>
                                          </p:val>
                                        </p:tav>
                                        <p:tav tm="100000">
                                          <p:val>
                                            <p:strVal val="#ppt_x"/>
                                          </p:val>
                                        </p:tav>
                                      </p:tavLst>
                                    </p:anim>
                                    <p:anim calcmode="lin" valueType="num">
                                      <p:cBhvr>
                                        <p:cTn id="9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1000"/>
                                        <p:tgtEl>
                                          <p:spTgt spid="26"/>
                                        </p:tgtEl>
                                      </p:cBhvr>
                                    </p:animEffect>
                                    <p:anim calcmode="lin" valueType="num">
                                      <p:cBhvr>
                                        <p:cTn id="98" dur="1000" fill="hold"/>
                                        <p:tgtEl>
                                          <p:spTgt spid="26"/>
                                        </p:tgtEl>
                                        <p:attrNameLst>
                                          <p:attrName>ppt_x</p:attrName>
                                        </p:attrNameLst>
                                      </p:cBhvr>
                                      <p:tavLst>
                                        <p:tav tm="0">
                                          <p:val>
                                            <p:strVal val="#ppt_x"/>
                                          </p:val>
                                        </p:tav>
                                        <p:tav tm="100000">
                                          <p:val>
                                            <p:strVal val="#ppt_x"/>
                                          </p:val>
                                        </p:tav>
                                      </p:tavLst>
                                    </p:anim>
                                    <p:anim calcmode="lin" valueType="num">
                                      <p:cBhvr>
                                        <p:cTn id="99" dur="1000" fill="hold"/>
                                        <p:tgtEl>
                                          <p:spTgt spid="26"/>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73"/>
                                        </p:tgtEl>
                                        <p:attrNameLst>
                                          <p:attrName>style.visibility</p:attrName>
                                        </p:attrNameLst>
                                      </p:cBhvr>
                                      <p:to>
                                        <p:strVal val="visible"/>
                                      </p:to>
                                    </p:set>
                                    <p:animEffect transition="in" filter="fade">
                                      <p:cBhvr>
                                        <p:cTn id="102" dur="1000"/>
                                        <p:tgtEl>
                                          <p:spTgt spid="73"/>
                                        </p:tgtEl>
                                      </p:cBhvr>
                                    </p:animEffect>
                                    <p:anim calcmode="lin" valueType="num">
                                      <p:cBhvr>
                                        <p:cTn id="103" dur="1000" fill="hold"/>
                                        <p:tgtEl>
                                          <p:spTgt spid="73"/>
                                        </p:tgtEl>
                                        <p:attrNameLst>
                                          <p:attrName>ppt_x</p:attrName>
                                        </p:attrNameLst>
                                      </p:cBhvr>
                                      <p:tavLst>
                                        <p:tav tm="0">
                                          <p:val>
                                            <p:strVal val="#ppt_x"/>
                                          </p:val>
                                        </p:tav>
                                        <p:tav tm="100000">
                                          <p:val>
                                            <p:strVal val="#ppt_x"/>
                                          </p:val>
                                        </p:tav>
                                      </p:tavLst>
                                    </p:anim>
                                    <p:anim calcmode="lin" valueType="num">
                                      <p:cBhvr>
                                        <p:cTn id="104" dur="1000" fill="hold"/>
                                        <p:tgtEl>
                                          <p:spTgt spid="7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1000"/>
                                        <p:tgtEl>
                                          <p:spTgt spid="53"/>
                                        </p:tgtEl>
                                      </p:cBhvr>
                                    </p:animEffect>
                                    <p:anim calcmode="lin" valueType="num">
                                      <p:cBhvr>
                                        <p:cTn id="108" dur="1000" fill="hold"/>
                                        <p:tgtEl>
                                          <p:spTgt spid="53"/>
                                        </p:tgtEl>
                                        <p:attrNameLst>
                                          <p:attrName>ppt_x</p:attrName>
                                        </p:attrNameLst>
                                      </p:cBhvr>
                                      <p:tavLst>
                                        <p:tav tm="0">
                                          <p:val>
                                            <p:strVal val="#ppt_x"/>
                                          </p:val>
                                        </p:tav>
                                        <p:tav tm="100000">
                                          <p:val>
                                            <p:strVal val="#ppt_x"/>
                                          </p:val>
                                        </p:tav>
                                      </p:tavLst>
                                    </p:anim>
                                    <p:anim calcmode="lin" valueType="num">
                                      <p:cBhvr>
                                        <p:cTn id="109"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grpId="0"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1000"/>
                                        <p:tgtEl>
                                          <p:spTgt spid="28"/>
                                        </p:tgtEl>
                                      </p:cBhvr>
                                    </p:animEffect>
                                    <p:anim calcmode="lin" valueType="num">
                                      <p:cBhvr>
                                        <p:cTn id="115" dur="1000" fill="hold"/>
                                        <p:tgtEl>
                                          <p:spTgt spid="28"/>
                                        </p:tgtEl>
                                        <p:attrNameLst>
                                          <p:attrName>ppt_x</p:attrName>
                                        </p:attrNameLst>
                                      </p:cBhvr>
                                      <p:tavLst>
                                        <p:tav tm="0">
                                          <p:val>
                                            <p:strVal val="#ppt_x"/>
                                          </p:val>
                                        </p:tav>
                                        <p:tav tm="100000">
                                          <p:val>
                                            <p:strVal val="#ppt_x"/>
                                          </p:val>
                                        </p:tav>
                                      </p:tavLst>
                                    </p:anim>
                                    <p:anim calcmode="lin" valueType="num">
                                      <p:cBhvr>
                                        <p:cTn id="116" dur="1000" fill="hold"/>
                                        <p:tgtEl>
                                          <p:spTgt spid="28"/>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72"/>
                                        </p:tgtEl>
                                        <p:attrNameLst>
                                          <p:attrName>style.visibility</p:attrName>
                                        </p:attrNameLst>
                                      </p:cBhvr>
                                      <p:to>
                                        <p:strVal val="visible"/>
                                      </p:to>
                                    </p:set>
                                    <p:animEffect transition="in" filter="fade">
                                      <p:cBhvr>
                                        <p:cTn id="119" dur="1000"/>
                                        <p:tgtEl>
                                          <p:spTgt spid="72"/>
                                        </p:tgtEl>
                                      </p:cBhvr>
                                    </p:animEffect>
                                    <p:anim calcmode="lin" valueType="num">
                                      <p:cBhvr>
                                        <p:cTn id="120" dur="1000" fill="hold"/>
                                        <p:tgtEl>
                                          <p:spTgt spid="72"/>
                                        </p:tgtEl>
                                        <p:attrNameLst>
                                          <p:attrName>ppt_x</p:attrName>
                                        </p:attrNameLst>
                                      </p:cBhvr>
                                      <p:tavLst>
                                        <p:tav tm="0">
                                          <p:val>
                                            <p:strVal val="#ppt_x"/>
                                          </p:val>
                                        </p:tav>
                                        <p:tav tm="100000">
                                          <p:val>
                                            <p:strVal val="#ppt_x"/>
                                          </p:val>
                                        </p:tav>
                                      </p:tavLst>
                                    </p:anim>
                                    <p:anim calcmode="lin" valueType="num">
                                      <p:cBhvr>
                                        <p:cTn id="121"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fade">
                                      <p:cBhvr>
                                        <p:cTn id="126" dur="1000"/>
                                        <p:tgtEl>
                                          <p:spTgt spid="64"/>
                                        </p:tgtEl>
                                      </p:cBhvr>
                                    </p:animEffect>
                                    <p:anim calcmode="lin" valueType="num">
                                      <p:cBhvr>
                                        <p:cTn id="127" dur="1000" fill="hold"/>
                                        <p:tgtEl>
                                          <p:spTgt spid="64"/>
                                        </p:tgtEl>
                                        <p:attrNameLst>
                                          <p:attrName>ppt_x</p:attrName>
                                        </p:attrNameLst>
                                      </p:cBhvr>
                                      <p:tavLst>
                                        <p:tav tm="0">
                                          <p:val>
                                            <p:strVal val="#ppt_x"/>
                                          </p:val>
                                        </p:tav>
                                        <p:tav tm="100000">
                                          <p:val>
                                            <p:strVal val="#ppt_x"/>
                                          </p:val>
                                        </p:tav>
                                      </p:tavLst>
                                    </p:anim>
                                    <p:anim calcmode="lin" valueType="num">
                                      <p:cBhvr>
                                        <p:cTn id="128" dur="1000" fill="hold"/>
                                        <p:tgtEl>
                                          <p:spTgt spid="64"/>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1000"/>
                                        <p:tgtEl>
                                          <p:spTgt spid="30"/>
                                        </p:tgtEl>
                                      </p:cBhvr>
                                    </p:animEffect>
                                    <p:anim calcmode="lin" valueType="num">
                                      <p:cBhvr>
                                        <p:cTn id="132" dur="1000" fill="hold"/>
                                        <p:tgtEl>
                                          <p:spTgt spid="30"/>
                                        </p:tgtEl>
                                        <p:attrNameLst>
                                          <p:attrName>ppt_x</p:attrName>
                                        </p:attrNameLst>
                                      </p:cBhvr>
                                      <p:tavLst>
                                        <p:tav tm="0">
                                          <p:val>
                                            <p:strVal val="#ppt_x"/>
                                          </p:val>
                                        </p:tav>
                                        <p:tav tm="100000">
                                          <p:val>
                                            <p:strVal val="#ppt_x"/>
                                          </p:val>
                                        </p:tav>
                                      </p:tavLst>
                                    </p:anim>
                                    <p:anim calcmode="lin" valueType="num">
                                      <p:cBhvr>
                                        <p:cTn id="133" dur="1000" fill="hold"/>
                                        <p:tgtEl>
                                          <p:spTgt spid="30"/>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77"/>
                                        </p:tgtEl>
                                        <p:attrNameLst>
                                          <p:attrName>style.visibility</p:attrName>
                                        </p:attrNameLst>
                                      </p:cBhvr>
                                      <p:to>
                                        <p:strVal val="visible"/>
                                      </p:to>
                                    </p:set>
                                    <p:animEffect transition="in" filter="fade">
                                      <p:cBhvr>
                                        <p:cTn id="136" dur="1000"/>
                                        <p:tgtEl>
                                          <p:spTgt spid="77"/>
                                        </p:tgtEl>
                                      </p:cBhvr>
                                    </p:animEffect>
                                    <p:anim calcmode="lin" valueType="num">
                                      <p:cBhvr>
                                        <p:cTn id="137" dur="1000" fill="hold"/>
                                        <p:tgtEl>
                                          <p:spTgt spid="77"/>
                                        </p:tgtEl>
                                        <p:attrNameLst>
                                          <p:attrName>ppt_x</p:attrName>
                                        </p:attrNameLst>
                                      </p:cBhvr>
                                      <p:tavLst>
                                        <p:tav tm="0">
                                          <p:val>
                                            <p:strVal val="#ppt_x"/>
                                          </p:val>
                                        </p:tav>
                                        <p:tav tm="100000">
                                          <p:val>
                                            <p:strVal val="#ppt_x"/>
                                          </p:val>
                                        </p:tav>
                                      </p:tavLst>
                                    </p:anim>
                                    <p:anim calcmode="lin" valueType="num">
                                      <p:cBhvr>
                                        <p:cTn id="138"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42" presetClass="entr" presetSubtype="0" fill="hold" nodeType="click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1000"/>
                                        <p:tgtEl>
                                          <p:spTgt spid="55"/>
                                        </p:tgtEl>
                                      </p:cBhvr>
                                    </p:animEffect>
                                    <p:anim calcmode="lin" valueType="num">
                                      <p:cBhvr>
                                        <p:cTn id="144" dur="1000" fill="hold"/>
                                        <p:tgtEl>
                                          <p:spTgt spid="55"/>
                                        </p:tgtEl>
                                        <p:attrNameLst>
                                          <p:attrName>ppt_x</p:attrName>
                                        </p:attrNameLst>
                                      </p:cBhvr>
                                      <p:tavLst>
                                        <p:tav tm="0">
                                          <p:val>
                                            <p:strVal val="#ppt_x"/>
                                          </p:val>
                                        </p:tav>
                                        <p:tav tm="100000">
                                          <p:val>
                                            <p:strVal val="#ppt_x"/>
                                          </p:val>
                                        </p:tav>
                                      </p:tavLst>
                                    </p:anim>
                                    <p:anim calcmode="lin" valueType="num">
                                      <p:cBhvr>
                                        <p:cTn id="145" dur="1000" fill="hold"/>
                                        <p:tgtEl>
                                          <p:spTgt spid="55"/>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78"/>
                                        </p:tgtEl>
                                        <p:attrNameLst>
                                          <p:attrName>style.visibility</p:attrName>
                                        </p:attrNameLst>
                                      </p:cBhvr>
                                      <p:to>
                                        <p:strVal val="visible"/>
                                      </p:to>
                                    </p:set>
                                    <p:animEffect transition="in" filter="fade">
                                      <p:cBhvr>
                                        <p:cTn id="148" dur="1000"/>
                                        <p:tgtEl>
                                          <p:spTgt spid="78"/>
                                        </p:tgtEl>
                                      </p:cBhvr>
                                    </p:animEffect>
                                    <p:anim calcmode="lin" valueType="num">
                                      <p:cBhvr>
                                        <p:cTn id="149" dur="1000" fill="hold"/>
                                        <p:tgtEl>
                                          <p:spTgt spid="78"/>
                                        </p:tgtEl>
                                        <p:attrNameLst>
                                          <p:attrName>ppt_x</p:attrName>
                                        </p:attrNameLst>
                                      </p:cBhvr>
                                      <p:tavLst>
                                        <p:tav tm="0">
                                          <p:val>
                                            <p:strVal val="#ppt_x"/>
                                          </p:val>
                                        </p:tav>
                                        <p:tav tm="100000">
                                          <p:val>
                                            <p:strVal val="#ppt_x"/>
                                          </p:val>
                                        </p:tav>
                                      </p:tavLst>
                                    </p:anim>
                                    <p:anim calcmode="lin" valueType="num">
                                      <p:cBhvr>
                                        <p:cTn id="150" dur="1000" fill="hold"/>
                                        <p:tgtEl>
                                          <p:spTgt spid="78"/>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000"/>
                                        <p:tgtEl>
                                          <p:spTgt spid="32"/>
                                        </p:tgtEl>
                                      </p:cBhvr>
                                    </p:animEffect>
                                    <p:anim calcmode="lin" valueType="num">
                                      <p:cBhvr>
                                        <p:cTn id="154" dur="1000" fill="hold"/>
                                        <p:tgtEl>
                                          <p:spTgt spid="32"/>
                                        </p:tgtEl>
                                        <p:attrNameLst>
                                          <p:attrName>ppt_x</p:attrName>
                                        </p:attrNameLst>
                                      </p:cBhvr>
                                      <p:tavLst>
                                        <p:tav tm="0">
                                          <p:val>
                                            <p:strVal val="#ppt_x"/>
                                          </p:val>
                                        </p:tav>
                                        <p:tav tm="100000">
                                          <p:val>
                                            <p:strVal val="#ppt_x"/>
                                          </p:val>
                                        </p:tav>
                                      </p:tavLst>
                                    </p:anim>
                                    <p:anim calcmode="lin" valueType="num">
                                      <p:cBhvr>
                                        <p:cTn id="15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nodeType="click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1000"/>
                                        <p:tgtEl>
                                          <p:spTgt spid="57"/>
                                        </p:tgtEl>
                                      </p:cBhvr>
                                    </p:animEffect>
                                    <p:anim calcmode="lin" valueType="num">
                                      <p:cBhvr>
                                        <p:cTn id="161" dur="1000" fill="hold"/>
                                        <p:tgtEl>
                                          <p:spTgt spid="57"/>
                                        </p:tgtEl>
                                        <p:attrNameLst>
                                          <p:attrName>ppt_x</p:attrName>
                                        </p:attrNameLst>
                                      </p:cBhvr>
                                      <p:tavLst>
                                        <p:tav tm="0">
                                          <p:val>
                                            <p:strVal val="#ppt_x"/>
                                          </p:val>
                                        </p:tav>
                                        <p:tav tm="100000">
                                          <p:val>
                                            <p:strVal val="#ppt_x"/>
                                          </p:val>
                                        </p:tav>
                                      </p:tavLst>
                                    </p:anim>
                                    <p:anim calcmode="lin" valueType="num">
                                      <p:cBhvr>
                                        <p:cTn id="162" dur="1000" fill="hold"/>
                                        <p:tgtEl>
                                          <p:spTgt spid="57"/>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79"/>
                                        </p:tgtEl>
                                        <p:attrNameLst>
                                          <p:attrName>style.visibility</p:attrName>
                                        </p:attrNameLst>
                                      </p:cBhvr>
                                      <p:to>
                                        <p:strVal val="visible"/>
                                      </p:to>
                                    </p:set>
                                    <p:animEffect transition="in" filter="fade">
                                      <p:cBhvr>
                                        <p:cTn id="165" dur="1000"/>
                                        <p:tgtEl>
                                          <p:spTgt spid="79"/>
                                        </p:tgtEl>
                                      </p:cBhvr>
                                    </p:animEffect>
                                    <p:anim calcmode="lin" valueType="num">
                                      <p:cBhvr>
                                        <p:cTn id="166" dur="1000" fill="hold"/>
                                        <p:tgtEl>
                                          <p:spTgt spid="79"/>
                                        </p:tgtEl>
                                        <p:attrNameLst>
                                          <p:attrName>ppt_x</p:attrName>
                                        </p:attrNameLst>
                                      </p:cBhvr>
                                      <p:tavLst>
                                        <p:tav tm="0">
                                          <p:val>
                                            <p:strVal val="#ppt_x"/>
                                          </p:val>
                                        </p:tav>
                                        <p:tav tm="100000">
                                          <p:val>
                                            <p:strVal val="#ppt_x"/>
                                          </p:val>
                                        </p:tav>
                                      </p:tavLst>
                                    </p:anim>
                                    <p:anim calcmode="lin" valueType="num">
                                      <p:cBhvr>
                                        <p:cTn id="167" dur="1000" fill="hold"/>
                                        <p:tgtEl>
                                          <p:spTgt spid="79"/>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34"/>
                                        </p:tgtEl>
                                        <p:attrNameLst>
                                          <p:attrName>style.visibility</p:attrName>
                                        </p:attrNameLst>
                                      </p:cBhvr>
                                      <p:to>
                                        <p:strVal val="visible"/>
                                      </p:to>
                                    </p:set>
                                    <p:animEffect transition="in" filter="fade">
                                      <p:cBhvr>
                                        <p:cTn id="170" dur="1000"/>
                                        <p:tgtEl>
                                          <p:spTgt spid="34"/>
                                        </p:tgtEl>
                                      </p:cBhvr>
                                    </p:animEffect>
                                    <p:anim calcmode="lin" valueType="num">
                                      <p:cBhvr>
                                        <p:cTn id="171" dur="1000" fill="hold"/>
                                        <p:tgtEl>
                                          <p:spTgt spid="34"/>
                                        </p:tgtEl>
                                        <p:attrNameLst>
                                          <p:attrName>ppt_x</p:attrName>
                                        </p:attrNameLst>
                                      </p:cBhvr>
                                      <p:tavLst>
                                        <p:tav tm="0">
                                          <p:val>
                                            <p:strVal val="#ppt_x"/>
                                          </p:val>
                                        </p:tav>
                                        <p:tav tm="100000">
                                          <p:val>
                                            <p:strVal val="#ppt_x"/>
                                          </p:val>
                                        </p:tav>
                                      </p:tavLst>
                                    </p:anim>
                                    <p:anim calcmode="lin" valueType="num">
                                      <p:cBhvr>
                                        <p:cTn id="17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42" presetClass="entr" presetSubtype="0" fill="hold" grpId="0" nodeType="clickEffect">
                                  <p:stCondLst>
                                    <p:cond delay="0"/>
                                  </p:stCondLst>
                                  <p:childTnLst>
                                    <p:set>
                                      <p:cBhvr>
                                        <p:cTn id="176" dur="1" fill="hold">
                                          <p:stCondLst>
                                            <p:cond delay="0"/>
                                          </p:stCondLst>
                                        </p:cTn>
                                        <p:tgtEl>
                                          <p:spTgt spid="80"/>
                                        </p:tgtEl>
                                        <p:attrNameLst>
                                          <p:attrName>style.visibility</p:attrName>
                                        </p:attrNameLst>
                                      </p:cBhvr>
                                      <p:to>
                                        <p:strVal val="visible"/>
                                      </p:to>
                                    </p:set>
                                    <p:animEffect transition="in" filter="fade">
                                      <p:cBhvr>
                                        <p:cTn id="177" dur="1000"/>
                                        <p:tgtEl>
                                          <p:spTgt spid="80"/>
                                        </p:tgtEl>
                                      </p:cBhvr>
                                    </p:animEffect>
                                    <p:anim calcmode="lin" valueType="num">
                                      <p:cBhvr>
                                        <p:cTn id="178" dur="1000" fill="hold"/>
                                        <p:tgtEl>
                                          <p:spTgt spid="80"/>
                                        </p:tgtEl>
                                        <p:attrNameLst>
                                          <p:attrName>ppt_x</p:attrName>
                                        </p:attrNameLst>
                                      </p:cBhvr>
                                      <p:tavLst>
                                        <p:tav tm="0">
                                          <p:val>
                                            <p:strVal val="#ppt_x"/>
                                          </p:val>
                                        </p:tav>
                                        <p:tav tm="100000">
                                          <p:val>
                                            <p:strVal val="#ppt_x"/>
                                          </p:val>
                                        </p:tav>
                                      </p:tavLst>
                                    </p:anim>
                                    <p:anim calcmode="lin" valueType="num">
                                      <p:cBhvr>
                                        <p:cTn id="179"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0" grpId="0"/>
      <p:bldP spid="22" grpId="0"/>
      <p:bldP spid="24" grpId="0"/>
      <p:bldP spid="26" grpId="0"/>
      <p:bldP spid="28" grpId="0"/>
      <p:bldP spid="30" grpId="0"/>
      <p:bldP spid="32" grpId="0"/>
      <p:bldP spid="34" grpId="0"/>
      <p:bldP spid="69" grpId="0"/>
      <p:bldP spid="70" grpId="0"/>
      <p:bldP spid="71" grpId="0"/>
      <p:bldP spid="72" grpId="0"/>
      <p:bldP spid="73" grpId="0"/>
      <p:bldP spid="75" grpId="0"/>
      <p:bldP spid="76" grpId="0"/>
      <p:bldP spid="77" grpId="0"/>
      <p:bldP spid="78" grpId="0"/>
      <p:bldP spid="79" grpId="0"/>
      <p:bldP spid="8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pic>
        <p:nvPicPr>
          <p:cNvPr id="463" name="Google Shape;463;p29"/>
          <p:cNvPicPr preferRelativeResize="0"/>
          <p:nvPr/>
        </p:nvPicPr>
        <p:blipFill>
          <a:blip r:embed="rId3">
            <a:alphaModFix/>
          </a:blip>
          <a:stretch>
            <a:fillRect/>
          </a:stretch>
        </p:blipFill>
        <p:spPr>
          <a:xfrm>
            <a:off x="7499275" y="0"/>
            <a:ext cx="4730725" cy="6858001"/>
          </a:xfrm>
          <a:prstGeom prst="rect">
            <a:avLst/>
          </a:prstGeom>
          <a:noFill/>
          <a:ln>
            <a:noFill/>
          </a:ln>
        </p:spPr>
      </p:pic>
      <p:pic>
        <p:nvPicPr>
          <p:cNvPr id="464" name="Google Shape;464;p29"/>
          <p:cNvPicPr preferRelativeResize="0"/>
          <p:nvPr/>
        </p:nvPicPr>
        <p:blipFill rotWithShape="1">
          <a:blip r:embed="rId4">
            <a:alphaModFix/>
          </a:blip>
          <a:srcRect/>
          <a:stretch/>
        </p:blipFill>
        <p:spPr>
          <a:xfrm rot="-589488">
            <a:off x="502555" y="693215"/>
            <a:ext cx="202415" cy="158251"/>
          </a:xfrm>
          <a:prstGeom prst="rect">
            <a:avLst/>
          </a:prstGeom>
          <a:noFill/>
          <a:ln>
            <a:noFill/>
          </a:ln>
        </p:spPr>
      </p:pic>
      <p:pic>
        <p:nvPicPr>
          <p:cNvPr id="465" name="Google Shape;465;p29"/>
          <p:cNvPicPr preferRelativeResize="0"/>
          <p:nvPr/>
        </p:nvPicPr>
        <p:blipFill rotWithShape="1">
          <a:blip r:embed="rId5">
            <a:alphaModFix/>
          </a:blip>
          <a:srcRect/>
          <a:stretch/>
        </p:blipFill>
        <p:spPr>
          <a:xfrm rot="-605715">
            <a:off x="6849105" y="637128"/>
            <a:ext cx="124112" cy="97032"/>
          </a:xfrm>
          <a:prstGeom prst="rect">
            <a:avLst/>
          </a:prstGeom>
          <a:noFill/>
          <a:ln>
            <a:noFill/>
          </a:ln>
        </p:spPr>
      </p:pic>
      <p:pic>
        <p:nvPicPr>
          <p:cNvPr id="466" name="Google Shape;466;p29"/>
          <p:cNvPicPr preferRelativeResize="0"/>
          <p:nvPr/>
        </p:nvPicPr>
        <p:blipFill rotWithShape="1">
          <a:blip r:embed="rId6">
            <a:alphaModFix/>
          </a:blip>
          <a:srcRect/>
          <a:stretch/>
        </p:blipFill>
        <p:spPr>
          <a:xfrm>
            <a:off x="10818935" y="838200"/>
            <a:ext cx="1544422" cy="774338"/>
          </a:xfrm>
          <a:prstGeom prst="rect">
            <a:avLst/>
          </a:prstGeom>
          <a:noFill/>
          <a:ln>
            <a:noFill/>
          </a:ln>
        </p:spPr>
      </p:pic>
      <p:grpSp>
        <p:nvGrpSpPr>
          <p:cNvPr id="467" name="Google Shape;467;p29"/>
          <p:cNvGrpSpPr/>
          <p:nvPr/>
        </p:nvGrpSpPr>
        <p:grpSpPr>
          <a:xfrm rot="1405703">
            <a:off x="10667299" y="3986292"/>
            <a:ext cx="1102133" cy="624167"/>
            <a:chOff x="6829425" y="9525"/>
            <a:chExt cx="1866900" cy="1057275"/>
          </a:xfrm>
        </p:grpSpPr>
        <p:sp>
          <p:nvSpPr>
            <p:cNvPr id="468" name="Google Shape;468;p29"/>
            <p:cNvSpPr/>
            <p:nvPr/>
          </p:nvSpPr>
          <p:spPr>
            <a:xfrm>
              <a:off x="6829425" y="9525"/>
              <a:ext cx="1866900" cy="105727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69" name="Google Shape;469;p29"/>
            <p:cNvGrpSpPr/>
            <p:nvPr/>
          </p:nvGrpSpPr>
          <p:grpSpPr>
            <a:xfrm>
              <a:off x="7052278" y="386540"/>
              <a:ext cx="1421194" cy="303245"/>
              <a:chOff x="8753449" y="924310"/>
              <a:chExt cx="3134840" cy="668892"/>
            </a:xfrm>
          </p:grpSpPr>
          <p:sp>
            <p:nvSpPr>
              <p:cNvPr id="470" name="Google Shape;470;p29"/>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1" name="Google Shape;471;p29"/>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2" name="Google Shape;472;p29"/>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3" name="Google Shape;473;p29"/>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4" name="Google Shape;474;p29"/>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5" name="Google Shape;475;p29"/>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C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476" name="Google Shape;476;p29"/>
          <p:cNvGrpSpPr/>
          <p:nvPr/>
        </p:nvGrpSpPr>
        <p:grpSpPr>
          <a:xfrm>
            <a:off x="10285997" y="2005674"/>
            <a:ext cx="909340" cy="643836"/>
            <a:chOff x="10444163" y="1759843"/>
            <a:chExt cx="749522" cy="749470"/>
          </a:xfrm>
        </p:grpSpPr>
        <p:sp>
          <p:nvSpPr>
            <p:cNvPr id="477" name="Google Shape;477;p29"/>
            <p:cNvSpPr/>
            <p:nvPr/>
          </p:nvSpPr>
          <p:spPr>
            <a:xfrm>
              <a:off x="10444163" y="1759843"/>
              <a:ext cx="749522" cy="749470"/>
            </a:xfrm>
            <a:custGeom>
              <a:avLst/>
              <a:gdLst/>
              <a:ahLst/>
              <a:cxnLst/>
              <a:rect l="l" t="t" r="r" b="b"/>
              <a:pathLst>
                <a:path w="749522" h="749470" extrusionOk="0">
                  <a:moveTo>
                    <a:pt x="749523" y="374709"/>
                  </a:moveTo>
                  <a:cubicBezTo>
                    <a:pt x="749523" y="167784"/>
                    <a:pt x="581739" y="0"/>
                    <a:pt x="374761" y="0"/>
                  </a:cubicBezTo>
                  <a:cubicBezTo>
                    <a:pt x="167784" y="0"/>
                    <a:pt x="0" y="167784"/>
                    <a:pt x="0" y="374709"/>
                  </a:cubicBezTo>
                  <a:cubicBezTo>
                    <a:pt x="0" y="581634"/>
                    <a:pt x="167784" y="749471"/>
                    <a:pt x="374761" y="749471"/>
                  </a:cubicBezTo>
                  <a:cubicBezTo>
                    <a:pt x="581739" y="749471"/>
                    <a:pt x="749523" y="581634"/>
                    <a:pt x="749523" y="374709"/>
                  </a:cubicBezTo>
                  <a:close/>
                </a:path>
              </a:pathLst>
            </a:custGeom>
            <a:solidFill>
              <a:srgbClr val="39519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8" name="Google Shape;478;p29"/>
            <p:cNvSpPr/>
            <p:nvPr/>
          </p:nvSpPr>
          <p:spPr>
            <a:xfrm>
              <a:off x="10715435" y="1912649"/>
              <a:ext cx="207185" cy="443858"/>
            </a:xfrm>
            <a:custGeom>
              <a:avLst/>
              <a:gdLst/>
              <a:ahLst/>
              <a:cxnLst/>
              <a:rect l="l" t="t" r="r" b="b"/>
              <a:pathLst>
                <a:path w="207185" h="443858" extrusionOk="0">
                  <a:moveTo>
                    <a:pt x="136524" y="133184"/>
                  </a:moveTo>
                  <a:lnTo>
                    <a:pt x="136524" y="97696"/>
                  </a:lnTo>
                  <a:cubicBezTo>
                    <a:pt x="136524" y="80422"/>
                    <a:pt x="148057" y="76351"/>
                    <a:pt x="156146" y="76351"/>
                  </a:cubicBezTo>
                  <a:lnTo>
                    <a:pt x="205986" y="76351"/>
                  </a:lnTo>
                  <a:lnTo>
                    <a:pt x="205986" y="313"/>
                  </a:lnTo>
                  <a:lnTo>
                    <a:pt x="137411" y="0"/>
                  </a:lnTo>
                  <a:cubicBezTo>
                    <a:pt x="61269" y="0"/>
                    <a:pt x="43994" y="56728"/>
                    <a:pt x="43994" y="93051"/>
                  </a:cubicBezTo>
                  <a:lnTo>
                    <a:pt x="43994" y="133131"/>
                  </a:lnTo>
                  <a:lnTo>
                    <a:pt x="0" y="133131"/>
                  </a:lnTo>
                  <a:lnTo>
                    <a:pt x="0" y="221903"/>
                  </a:lnTo>
                  <a:lnTo>
                    <a:pt x="44412" y="221903"/>
                  </a:lnTo>
                  <a:lnTo>
                    <a:pt x="44412" y="443858"/>
                  </a:lnTo>
                  <a:lnTo>
                    <a:pt x="133184" y="443858"/>
                  </a:lnTo>
                  <a:lnTo>
                    <a:pt x="133184" y="221903"/>
                  </a:lnTo>
                  <a:lnTo>
                    <a:pt x="199097" y="221903"/>
                  </a:lnTo>
                  <a:lnTo>
                    <a:pt x="207186" y="133131"/>
                  </a:lnTo>
                  <a:lnTo>
                    <a:pt x="136628" y="13313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479" name="Google Shape;479;p29"/>
          <p:cNvPicPr preferRelativeResize="0"/>
          <p:nvPr/>
        </p:nvPicPr>
        <p:blipFill rotWithShape="1">
          <a:blip r:embed="rId7">
            <a:alphaModFix/>
          </a:blip>
          <a:srcRect/>
          <a:stretch/>
        </p:blipFill>
        <p:spPr>
          <a:xfrm>
            <a:off x="8690071" y="3181873"/>
            <a:ext cx="905486" cy="905486"/>
          </a:xfrm>
          <a:prstGeom prst="rect">
            <a:avLst/>
          </a:prstGeom>
          <a:noFill/>
          <a:ln>
            <a:noFill/>
          </a:ln>
        </p:spPr>
      </p:pic>
      <p:pic>
        <p:nvPicPr>
          <p:cNvPr id="481" name="Google Shape;481;p29"/>
          <p:cNvPicPr preferRelativeResize="0"/>
          <p:nvPr/>
        </p:nvPicPr>
        <p:blipFill rotWithShape="1">
          <a:blip r:embed="rId8">
            <a:alphaModFix/>
          </a:blip>
          <a:srcRect/>
          <a:stretch/>
        </p:blipFill>
        <p:spPr>
          <a:xfrm>
            <a:off x="9134856" y="1277886"/>
            <a:ext cx="554389" cy="596634"/>
          </a:xfrm>
          <a:prstGeom prst="rect">
            <a:avLst/>
          </a:prstGeom>
          <a:noFill/>
          <a:ln>
            <a:noFill/>
          </a:ln>
        </p:spPr>
      </p:pic>
      <p:pic>
        <p:nvPicPr>
          <p:cNvPr id="482" name="Google Shape;482;p29"/>
          <p:cNvPicPr preferRelativeResize="0"/>
          <p:nvPr/>
        </p:nvPicPr>
        <p:blipFill rotWithShape="1">
          <a:blip r:embed="rId9">
            <a:alphaModFix/>
          </a:blip>
          <a:srcRect/>
          <a:stretch/>
        </p:blipFill>
        <p:spPr>
          <a:xfrm>
            <a:off x="6868058" y="2873372"/>
            <a:ext cx="643836" cy="643836"/>
          </a:xfrm>
          <a:prstGeom prst="rect">
            <a:avLst/>
          </a:prstGeom>
          <a:noFill/>
          <a:ln>
            <a:noFill/>
          </a:ln>
        </p:spPr>
      </p:pic>
      <p:sp>
        <p:nvSpPr>
          <p:cNvPr id="483" name="Google Shape;483;p29"/>
          <p:cNvSpPr txBox="1"/>
          <p:nvPr/>
        </p:nvSpPr>
        <p:spPr>
          <a:xfrm>
            <a:off x="709690" y="1097770"/>
            <a:ext cx="6228000" cy="51702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dirty="0">
                <a:solidFill>
                  <a:srgbClr val="0C0C0C"/>
                </a:solidFill>
                <a:latin typeface="Calibri"/>
                <a:ea typeface="Calibri"/>
                <a:cs typeface="Calibri"/>
                <a:sym typeface="Calibri"/>
              </a:rPr>
              <a:t>The following slide provides information about the social media following of Zomato across various media platforms such as Facebook, Twitter, Instagram </a:t>
            </a:r>
            <a:r>
              <a:rPr lang="en-US" sz="1200" dirty="0" err="1">
                <a:solidFill>
                  <a:srgbClr val="0C0C0C"/>
                </a:solidFill>
                <a:latin typeface="Calibri"/>
                <a:ea typeface="Calibri"/>
                <a:cs typeface="Calibri"/>
                <a:sym typeface="Calibri"/>
              </a:rPr>
              <a:t>etc</a:t>
            </a:r>
            <a:endParaRPr lang="en-US" sz="1200" dirty="0">
              <a:solidFill>
                <a:srgbClr val="0C0C0C"/>
              </a:solidFill>
              <a:latin typeface="Calibri"/>
              <a:ea typeface="Calibri"/>
              <a:cs typeface="Calibri"/>
              <a:sym typeface="Calibri"/>
            </a:endParaRPr>
          </a:p>
        </p:txBody>
      </p:sp>
      <p:sp>
        <p:nvSpPr>
          <p:cNvPr id="484" name="Google Shape;484;p29"/>
          <p:cNvSpPr txBox="1">
            <a:spLocks noGrp="1"/>
          </p:cNvSpPr>
          <p:nvPr>
            <p:ph type="title"/>
          </p:nvPr>
        </p:nvSpPr>
        <p:spPr>
          <a:xfrm>
            <a:off x="685800" y="579437"/>
            <a:ext cx="6654900" cy="51180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Zomato Social Media following</a:t>
            </a:r>
            <a:endParaRPr dirty="0"/>
          </a:p>
        </p:txBody>
      </p:sp>
      <p:graphicFrame>
        <p:nvGraphicFramePr>
          <p:cNvPr id="12" name="Chart 11">
            <a:extLst>
              <a:ext uri="{FF2B5EF4-FFF2-40B4-BE49-F238E27FC236}">
                <a16:creationId xmlns:a16="http://schemas.microsoft.com/office/drawing/2014/main" id="{2A3B67EC-F827-51BA-85F3-79EAD69D9FF8}"/>
              </a:ext>
            </a:extLst>
          </p:cNvPr>
          <p:cNvGraphicFramePr/>
          <p:nvPr>
            <p:extLst>
              <p:ext uri="{D42A27DB-BD31-4B8C-83A1-F6EECF244321}">
                <p14:modId xmlns:p14="http://schemas.microsoft.com/office/powerpoint/2010/main" val="2715619875"/>
              </p:ext>
            </p:extLst>
          </p:nvPr>
        </p:nvGraphicFramePr>
        <p:xfrm>
          <a:off x="567380" y="1796454"/>
          <a:ext cx="6215776" cy="3832771"/>
        </p:xfrm>
        <a:graphic>
          <a:graphicData uri="http://schemas.openxmlformats.org/drawingml/2006/chart">
            <c:chart xmlns:c="http://schemas.openxmlformats.org/drawingml/2006/chart" xmlns:r="http://schemas.openxmlformats.org/officeDocument/2006/relationships" r:id="rId10"/>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80">
                                          <p:stCondLst>
                                            <p:cond delay="0"/>
                                          </p:stCondLst>
                                        </p:cTn>
                                        <p:tgtEl>
                                          <p:spTgt spid="12"/>
                                        </p:tgtEl>
                                      </p:cBhvr>
                                    </p:animEffect>
                                    <p:anim calcmode="lin" valueType="num">
                                      <p:cBhvr>
                                        <p:cTn id="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3" dur="26">
                                          <p:stCondLst>
                                            <p:cond delay="650"/>
                                          </p:stCondLst>
                                        </p:cTn>
                                        <p:tgtEl>
                                          <p:spTgt spid="12"/>
                                        </p:tgtEl>
                                      </p:cBhvr>
                                      <p:to x="100000" y="60000"/>
                                    </p:animScale>
                                    <p:animScale>
                                      <p:cBhvr>
                                        <p:cTn id="14" dur="166" decel="50000">
                                          <p:stCondLst>
                                            <p:cond delay="676"/>
                                          </p:stCondLst>
                                        </p:cTn>
                                        <p:tgtEl>
                                          <p:spTgt spid="12"/>
                                        </p:tgtEl>
                                      </p:cBhvr>
                                      <p:to x="100000" y="100000"/>
                                    </p:animScale>
                                    <p:animScale>
                                      <p:cBhvr>
                                        <p:cTn id="15" dur="26">
                                          <p:stCondLst>
                                            <p:cond delay="1312"/>
                                          </p:stCondLst>
                                        </p:cTn>
                                        <p:tgtEl>
                                          <p:spTgt spid="12"/>
                                        </p:tgtEl>
                                      </p:cBhvr>
                                      <p:to x="100000" y="80000"/>
                                    </p:animScale>
                                    <p:animScale>
                                      <p:cBhvr>
                                        <p:cTn id="16" dur="166" decel="50000">
                                          <p:stCondLst>
                                            <p:cond delay="1338"/>
                                          </p:stCondLst>
                                        </p:cTn>
                                        <p:tgtEl>
                                          <p:spTgt spid="12"/>
                                        </p:tgtEl>
                                      </p:cBhvr>
                                      <p:to x="100000" y="100000"/>
                                    </p:animScale>
                                    <p:animScale>
                                      <p:cBhvr>
                                        <p:cTn id="17" dur="26">
                                          <p:stCondLst>
                                            <p:cond delay="1642"/>
                                          </p:stCondLst>
                                        </p:cTn>
                                        <p:tgtEl>
                                          <p:spTgt spid="12"/>
                                        </p:tgtEl>
                                      </p:cBhvr>
                                      <p:to x="100000" y="90000"/>
                                    </p:animScale>
                                    <p:animScale>
                                      <p:cBhvr>
                                        <p:cTn id="18" dur="166" decel="50000">
                                          <p:stCondLst>
                                            <p:cond delay="1668"/>
                                          </p:stCondLst>
                                        </p:cTn>
                                        <p:tgtEl>
                                          <p:spTgt spid="12"/>
                                        </p:tgtEl>
                                      </p:cBhvr>
                                      <p:to x="100000" y="100000"/>
                                    </p:animScale>
                                    <p:animScale>
                                      <p:cBhvr>
                                        <p:cTn id="19" dur="26">
                                          <p:stCondLst>
                                            <p:cond delay="1808"/>
                                          </p:stCondLst>
                                        </p:cTn>
                                        <p:tgtEl>
                                          <p:spTgt spid="12"/>
                                        </p:tgtEl>
                                      </p:cBhvr>
                                      <p:to x="100000" y="95000"/>
                                    </p:animScale>
                                    <p:animScale>
                                      <p:cBhvr>
                                        <p:cTn id="20" dur="166" decel="50000">
                                          <p:stCondLst>
                                            <p:cond delay="1834"/>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0" name="Google Shape;490;p30"/>
          <p:cNvPicPr preferRelativeResize="0"/>
          <p:nvPr/>
        </p:nvPicPr>
        <p:blipFill>
          <a:blip r:embed="rId3">
            <a:alphaModFix/>
          </a:blip>
          <a:stretch>
            <a:fillRect/>
          </a:stretch>
        </p:blipFill>
        <p:spPr>
          <a:xfrm>
            <a:off x="8580150" y="0"/>
            <a:ext cx="3608575" cy="6858000"/>
          </a:xfrm>
          <a:prstGeom prst="rect">
            <a:avLst/>
          </a:prstGeom>
          <a:noFill/>
          <a:ln>
            <a:noFill/>
          </a:ln>
        </p:spPr>
      </p:pic>
      <p:pic>
        <p:nvPicPr>
          <p:cNvPr id="491" name="Google Shape;491;p30"/>
          <p:cNvPicPr preferRelativeResize="0"/>
          <p:nvPr/>
        </p:nvPicPr>
        <p:blipFill rotWithShape="1">
          <a:blip r:embed="rId4">
            <a:alphaModFix/>
          </a:blip>
          <a:srcRect/>
          <a:stretch/>
        </p:blipFill>
        <p:spPr>
          <a:xfrm rot="-589488">
            <a:off x="538196" y="939841"/>
            <a:ext cx="202415" cy="158251"/>
          </a:xfrm>
          <a:prstGeom prst="rect">
            <a:avLst/>
          </a:prstGeom>
          <a:noFill/>
          <a:ln>
            <a:noFill/>
          </a:ln>
        </p:spPr>
      </p:pic>
      <p:pic>
        <p:nvPicPr>
          <p:cNvPr id="492" name="Google Shape;492;p30"/>
          <p:cNvPicPr preferRelativeResize="0"/>
          <p:nvPr/>
        </p:nvPicPr>
        <p:blipFill rotWithShape="1">
          <a:blip r:embed="rId5">
            <a:alphaModFix/>
          </a:blip>
          <a:srcRect/>
          <a:stretch/>
        </p:blipFill>
        <p:spPr>
          <a:xfrm rot="-605715">
            <a:off x="6414272" y="974945"/>
            <a:ext cx="124112" cy="97032"/>
          </a:xfrm>
          <a:prstGeom prst="rect">
            <a:avLst/>
          </a:prstGeom>
          <a:noFill/>
          <a:ln>
            <a:noFill/>
          </a:ln>
        </p:spPr>
      </p:pic>
      <p:sp>
        <p:nvSpPr>
          <p:cNvPr id="493" name="Google Shape;493;p30"/>
          <p:cNvSpPr/>
          <p:nvPr/>
        </p:nvSpPr>
        <p:spPr>
          <a:xfrm>
            <a:off x="9995615" y="4590662"/>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4" name="Google Shape;494;p30"/>
          <p:cNvSpPr/>
          <p:nvPr/>
        </p:nvSpPr>
        <p:spPr>
          <a:xfrm>
            <a:off x="11671797" y="4587112"/>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30"/>
          <p:cNvSpPr/>
          <p:nvPr/>
        </p:nvSpPr>
        <p:spPr>
          <a:xfrm>
            <a:off x="9502720" y="4592034"/>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30"/>
          <p:cNvSpPr/>
          <p:nvPr/>
        </p:nvSpPr>
        <p:spPr>
          <a:xfrm>
            <a:off x="10800479" y="4577829"/>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7" name="Google Shape;497;p30"/>
          <p:cNvSpPr/>
          <p:nvPr/>
        </p:nvSpPr>
        <p:spPr>
          <a:xfrm>
            <a:off x="9029221" y="4607543"/>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30"/>
          <p:cNvSpPr/>
          <p:nvPr/>
        </p:nvSpPr>
        <p:spPr>
          <a:xfrm>
            <a:off x="11327770" y="4453164"/>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9" name="Google Shape;499;p30"/>
          <p:cNvSpPr/>
          <p:nvPr/>
        </p:nvSpPr>
        <p:spPr>
          <a:xfrm>
            <a:off x="9995615" y="3887794"/>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0" name="Google Shape;500;p30"/>
          <p:cNvSpPr/>
          <p:nvPr/>
        </p:nvSpPr>
        <p:spPr>
          <a:xfrm>
            <a:off x="11671797" y="3884244"/>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1" name="Google Shape;501;p30"/>
          <p:cNvSpPr/>
          <p:nvPr/>
        </p:nvSpPr>
        <p:spPr>
          <a:xfrm>
            <a:off x="9502720" y="3889166"/>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2" name="Google Shape;502;p30"/>
          <p:cNvSpPr/>
          <p:nvPr/>
        </p:nvSpPr>
        <p:spPr>
          <a:xfrm>
            <a:off x="10800479" y="3874961"/>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30"/>
          <p:cNvSpPr/>
          <p:nvPr/>
        </p:nvSpPr>
        <p:spPr>
          <a:xfrm>
            <a:off x="9029221" y="3904675"/>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4" name="Google Shape;504;p30"/>
          <p:cNvSpPr/>
          <p:nvPr/>
        </p:nvSpPr>
        <p:spPr>
          <a:xfrm>
            <a:off x="11327770" y="3750296"/>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5" name="Google Shape;505;p30"/>
          <p:cNvSpPr/>
          <p:nvPr/>
        </p:nvSpPr>
        <p:spPr>
          <a:xfrm>
            <a:off x="9995615" y="318492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30"/>
          <p:cNvSpPr/>
          <p:nvPr/>
        </p:nvSpPr>
        <p:spPr>
          <a:xfrm>
            <a:off x="11671797" y="3181376"/>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7" name="Google Shape;507;p30"/>
          <p:cNvSpPr/>
          <p:nvPr/>
        </p:nvSpPr>
        <p:spPr>
          <a:xfrm>
            <a:off x="9502720" y="3186298"/>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8" name="Google Shape;508;p30"/>
          <p:cNvSpPr/>
          <p:nvPr/>
        </p:nvSpPr>
        <p:spPr>
          <a:xfrm>
            <a:off x="10800479" y="317209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9" name="Google Shape;509;p30"/>
          <p:cNvSpPr/>
          <p:nvPr/>
        </p:nvSpPr>
        <p:spPr>
          <a:xfrm>
            <a:off x="9029221" y="320180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30"/>
          <p:cNvSpPr/>
          <p:nvPr/>
        </p:nvSpPr>
        <p:spPr>
          <a:xfrm>
            <a:off x="11327770" y="3047428"/>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1" name="Google Shape;511;p30"/>
          <p:cNvSpPr/>
          <p:nvPr/>
        </p:nvSpPr>
        <p:spPr>
          <a:xfrm>
            <a:off x="9995615" y="248205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2" name="Google Shape;512;p30"/>
          <p:cNvSpPr/>
          <p:nvPr/>
        </p:nvSpPr>
        <p:spPr>
          <a:xfrm>
            <a:off x="11671797" y="247850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30"/>
          <p:cNvSpPr/>
          <p:nvPr/>
        </p:nvSpPr>
        <p:spPr>
          <a:xfrm>
            <a:off x="9502720" y="248343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4" name="Google Shape;514;p30"/>
          <p:cNvSpPr/>
          <p:nvPr/>
        </p:nvSpPr>
        <p:spPr>
          <a:xfrm>
            <a:off x="10800479" y="246922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5" name="Google Shape;515;p30"/>
          <p:cNvSpPr/>
          <p:nvPr/>
        </p:nvSpPr>
        <p:spPr>
          <a:xfrm>
            <a:off x="9029221" y="249893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6" name="Google Shape;516;p30"/>
          <p:cNvSpPr/>
          <p:nvPr/>
        </p:nvSpPr>
        <p:spPr>
          <a:xfrm>
            <a:off x="11327770" y="234456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7" name="Google Shape;517;p30"/>
          <p:cNvSpPr/>
          <p:nvPr/>
        </p:nvSpPr>
        <p:spPr>
          <a:xfrm>
            <a:off x="9995615" y="1779190"/>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8" name="Google Shape;518;p30"/>
          <p:cNvSpPr/>
          <p:nvPr/>
        </p:nvSpPr>
        <p:spPr>
          <a:xfrm>
            <a:off x="11671797" y="177564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9" name="Google Shape;519;p30"/>
          <p:cNvSpPr/>
          <p:nvPr/>
        </p:nvSpPr>
        <p:spPr>
          <a:xfrm>
            <a:off x="9502720" y="1780562"/>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0" name="Google Shape;520;p30"/>
          <p:cNvSpPr/>
          <p:nvPr/>
        </p:nvSpPr>
        <p:spPr>
          <a:xfrm>
            <a:off x="10800479" y="1766357"/>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1" name="Google Shape;521;p30"/>
          <p:cNvSpPr/>
          <p:nvPr/>
        </p:nvSpPr>
        <p:spPr>
          <a:xfrm>
            <a:off x="9029221" y="1796071"/>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2" name="Google Shape;522;p30"/>
          <p:cNvSpPr/>
          <p:nvPr/>
        </p:nvSpPr>
        <p:spPr>
          <a:xfrm>
            <a:off x="11327770" y="1641692"/>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3" name="Google Shape;523;p30"/>
          <p:cNvSpPr/>
          <p:nvPr/>
        </p:nvSpPr>
        <p:spPr>
          <a:xfrm>
            <a:off x="9995615" y="1076322"/>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30"/>
          <p:cNvSpPr/>
          <p:nvPr/>
        </p:nvSpPr>
        <p:spPr>
          <a:xfrm>
            <a:off x="11671797" y="1072772"/>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30"/>
          <p:cNvSpPr/>
          <p:nvPr/>
        </p:nvSpPr>
        <p:spPr>
          <a:xfrm>
            <a:off x="9502720" y="1077694"/>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6" name="Google Shape;526;p30"/>
          <p:cNvSpPr/>
          <p:nvPr/>
        </p:nvSpPr>
        <p:spPr>
          <a:xfrm>
            <a:off x="10800479" y="1063489"/>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7" name="Google Shape;527;p30"/>
          <p:cNvSpPr/>
          <p:nvPr/>
        </p:nvSpPr>
        <p:spPr>
          <a:xfrm>
            <a:off x="9029221" y="1093203"/>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30"/>
          <p:cNvSpPr/>
          <p:nvPr/>
        </p:nvSpPr>
        <p:spPr>
          <a:xfrm>
            <a:off x="11327770" y="938824"/>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alpha val="3176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9" name="Google Shape;529;p30"/>
          <p:cNvSpPr txBox="1"/>
          <p:nvPr/>
        </p:nvSpPr>
        <p:spPr>
          <a:xfrm>
            <a:off x="700646" y="4705471"/>
            <a:ext cx="1661400" cy="94175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dirty="0">
                <a:solidFill>
                  <a:srgbClr val="0C0C0C"/>
                </a:solidFill>
                <a:latin typeface="Calibri"/>
                <a:ea typeface="Calibri"/>
                <a:cs typeface="Calibri"/>
                <a:sym typeface="Calibri"/>
              </a:rPr>
              <a:t>Provide access to restaurant food to customer at their doorstep</a:t>
            </a:r>
            <a:endParaRPr sz="1200" dirty="0">
              <a:solidFill>
                <a:srgbClr val="0C0C0C"/>
              </a:solidFill>
              <a:latin typeface="Calibri"/>
              <a:ea typeface="Calibri"/>
              <a:cs typeface="Calibri"/>
              <a:sym typeface="Calibri"/>
            </a:endParaRPr>
          </a:p>
        </p:txBody>
      </p:sp>
      <p:cxnSp>
        <p:nvCxnSpPr>
          <p:cNvPr id="530" name="Google Shape;530;p30"/>
          <p:cNvCxnSpPr/>
          <p:nvPr/>
        </p:nvCxnSpPr>
        <p:spPr>
          <a:xfrm>
            <a:off x="1528109" y="3496099"/>
            <a:ext cx="6569" cy="637808"/>
          </a:xfrm>
          <a:prstGeom prst="straightConnector1">
            <a:avLst/>
          </a:prstGeom>
          <a:noFill/>
          <a:ln w="9525" cap="flat" cmpd="sng">
            <a:solidFill>
              <a:schemeClr val="accent1"/>
            </a:solidFill>
            <a:prstDash val="solid"/>
            <a:miter lim="800000"/>
            <a:headEnd type="none" w="sm" len="sm"/>
            <a:tailEnd type="stealth" w="med" len="med"/>
          </a:ln>
        </p:spPr>
      </p:cxnSp>
      <p:grpSp>
        <p:nvGrpSpPr>
          <p:cNvPr id="531" name="Google Shape;531;p30"/>
          <p:cNvGrpSpPr/>
          <p:nvPr/>
        </p:nvGrpSpPr>
        <p:grpSpPr>
          <a:xfrm>
            <a:off x="1042851" y="2628900"/>
            <a:ext cx="977084" cy="977080"/>
            <a:chOff x="946966" y="2451920"/>
            <a:chExt cx="977084" cy="977080"/>
          </a:xfrm>
        </p:grpSpPr>
        <p:sp>
          <p:nvSpPr>
            <p:cNvPr id="532" name="Google Shape;532;p30"/>
            <p:cNvSpPr/>
            <p:nvPr/>
          </p:nvSpPr>
          <p:spPr>
            <a:xfrm>
              <a:off x="946966" y="2451920"/>
              <a:ext cx="977084" cy="977080"/>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33" name="Google Shape;533;p30"/>
            <p:cNvGrpSpPr/>
            <p:nvPr/>
          </p:nvGrpSpPr>
          <p:grpSpPr>
            <a:xfrm>
              <a:off x="1203583" y="2694040"/>
              <a:ext cx="463852" cy="492842"/>
              <a:chOff x="1287553" y="3010348"/>
              <a:chExt cx="273685" cy="290790"/>
            </a:xfrm>
          </p:grpSpPr>
          <p:sp>
            <p:nvSpPr>
              <p:cNvPr id="534" name="Google Shape;534;p30"/>
              <p:cNvSpPr/>
              <p:nvPr/>
            </p:nvSpPr>
            <p:spPr>
              <a:xfrm>
                <a:off x="1355974" y="3010348"/>
                <a:ext cx="136842" cy="136842"/>
              </a:xfrm>
              <a:custGeom>
                <a:avLst/>
                <a:gdLst/>
                <a:ahLst/>
                <a:cxnLst/>
                <a:rect l="l" t="t" r="r" b="b"/>
                <a:pathLst>
                  <a:path w="136842" h="136842" extrusionOk="0">
                    <a:moveTo>
                      <a:pt x="136843" y="68421"/>
                    </a:moveTo>
                    <a:cubicBezTo>
                      <a:pt x="136843" y="106209"/>
                      <a:pt x="106209" y="136843"/>
                      <a:pt x="68421" y="136843"/>
                    </a:cubicBezTo>
                    <a:cubicBezTo>
                      <a:pt x="30633" y="136843"/>
                      <a:pt x="0" y="106209"/>
                      <a:pt x="0" y="68421"/>
                    </a:cubicBezTo>
                    <a:cubicBezTo>
                      <a:pt x="0" y="30633"/>
                      <a:pt x="30633" y="0"/>
                      <a:pt x="68421" y="0"/>
                    </a:cubicBezTo>
                    <a:cubicBezTo>
                      <a:pt x="106209" y="0"/>
                      <a:pt x="136843" y="30633"/>
                      <a:pt x="136843" y="684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5" name="Google Shape;535;p30"/>
              <p:cNvSpPr/>
              <p:nvPr/>
            </p:nvSpPr>
            <p:spPr>
              <a:xfrm>
                <a:off x="1287553" y="3164296"/>
                <a:ext cx="273685" cy="136842"/>
              </a:xfrm>
              <a:custGeom>
                <a:avLst/>
                <a:gdLst/>
                <a:ahLst/>
                <a:cxnLst/>
                <a:rect l="l" t="t" r="r" b="b"/>
                <a:pathLst>
                  <a:path w="273685" h="136842" extrusionOk="0">
                    <a:moveTo>
                      <a:pt x="273685" y="136843"/>
                    </a:moveTo>
                    <a:lnTo>
                      <a:pt x="273685" y="68421"/>
                    </a:lnTo>
                    <a:cubicBezTo>
                      <a:pt x="273685" y="58158"/>
                      <a:pt x="268554" y="47895"/>
                      <a:pt x="260001" y="41053"/>
                    </a:cubicBezTo>
                    <a:cubicBezTo>
                      <a:pt x="241185" y="25658"/>
                      <a:pt x="217238" y="15395"/>
                      <a:pt x="193290" y="8553"/>
                    </a:cubicBezTo>
                    <a:cubicBezTo>
                      <a:pt x="176185" y="3421"/>
                      <a:pt x="157369" y="0"/>
                      <a:pt x="136843" y="0"/>
                    </a:cubicBezTo>
                    <a:cubicBezTo>
                      <a:pt x="118027" y="0"/>
                      <a:pt x="99211" y="3421"/>
                      <a:pt x="80395" y="8553"/>
                    </a:cubicBezTo>
                    <a:cubicBezTo>
                      <a:pt x="56448" y="15395"/>
                      <a:pt x="32500" y="27369"/>
                      <a:pt x="13684" y="41053"/>
                    </a:cubicBezTo>
                    <a:cubicBezTo>
                      <a:pt x="5132" y="47895"/>
                      <a:pt x="0" y="58158"/>
                      <a:pt x="0" y="68421"/>
                    </a:cubicBezTo>
                    <a:lnTo>
                      <a:pt x="0" y="136843"/>
                    </a:lnTo>
                    <a:lnTo>
                      <a:pt x="273685" y="13684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536" name="Google Shape;536;p30"/>
          <p:cNvSpPr txBox="1"/>
          <p:nvPr/>
        </p:nvSpPr>
        <p:spPr>
          <a:xfrm>
            <a:off x="2676131" y="4705471"/>
            <a:ext cx="1661400" cy="94175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dirty="0">
                <a:solidFill>
                  <a:srgbClr val="0C0C0C"/>
                </a:solidFill>
                <a:latin typeface="Calibri"/>
                <a:ea typeface="Calibri"/>
                <a:cs typeface="Calibri"/>
                <a:sym typeface="Calibri"/>
              </a:rPr>
              <a:t>Provides restaurant ratings and reviews allows customers to determine food quality </a:t>
            </a:r>
            <a:endParaRPr sz="1200" dirty="0">
              <a:solidFill>
                <a:srgbClr val="0C0C0C"/>
              </a:solidFill>
              <a:latin typeface="Calibri"/>
              <a:ea typeface="Calibri"/>
              <a:cs typeface="Calibri"/>
              <a:sym typeface="Calibri"/>
            </a:endParaRPr>
          </a:p>
        </p:txBody>
      </p:sp>
      <p:cxnSp>
        <p:nvCxnSpPr>
          <p:cNvPr id="537" name="Google Shape;537;p30"/>
          <p:cNvCxnSpPr/>
          <p:nvPr/>
        </p:nvCxnSpPr>
        <p:spPr>
          <a:xfrm>
            <a:off x="3503594" y="3496099"/>
            <a:ext cx="6569" cy="637808"/>
          </a:xfrm>
          <a:prstGeom prst="straightConnector1">
            <a:avLst/>
          </a:prstGeom>
          <a:noFill/>
          <a:ln w="9525" cap="flat" cmpd="sng">
            <a:solidFill>
              <a:schemeClr val="accent1"/>
            </a:solidFill>
            <a:prstDash val="solid"/>
            <a:miter lim="800000"/>
            <a:headEnd type="none" w="sm" len="sm"/>
            <a:tailEnd type="stealth" w="med" len="med"/>
          </a:ln>
        </p:spPr>
      </p:cxnSp>
      <p:grpSp>
        <p:nvGrpSpPr>
          <p:cNvPr id="538" name="Google Shape;538;p30"/>
          <p:cNvGrpSpPr/>
          <p:nvPr/>
        </p:nvGrpSpPr>
        <p:grpSpPr>
          <a:xfrm>
            <a:off x="3018336" y="2628900"/>
            <a:ext cx="977084" cy="977080"/>
            <a:chOff x="3055166" y="2451920"/>
            <a:chExt cx="977084" cy="977080"/>
          </a:xfrm>
        </p:grpSpPr>
        <p:sp>
          <p:nvSpPr>
            <p:cNvPr id="539" name="Google Shape;539;p30"/>
            <p:cNvSpPr/>
            <p:nvPr/>
          </p:nvSpPr>
          <p:spPr>
            <a:xfrm>
              <a:off x="3055166" y="2451920"/>
              <a:ext cx="977084" cy="977080"/>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0" name="Google Shape;540;p30"/>
            <p:cNvSpPr/>
            <p:nvPr/>
          </p:nvSpPr>
          <p:spPr>
            <a:xfrm>
              <a:off x="3267891" y="2667967"/>
              <a:ext cx="551634" cy="544986"/>
            </a:xfrm>
            <a:custGeom>
              <a:avLst/>
              <a:gdLst/>
              <a:ahLst/>
              <a:cxnLst/>
              <a:rect l="l" t="t" r="r" b="b"/>
              <a:pathLst>
                <a:path w="516098" h="509879" extrusionOk="0">
                  <a:moveTo>
                    <a:pt x="290651" y="11019"/>
                  </a:moveTo>
                  <a:lnTo>
                    <a:pt x="323430" y="35555"/>
                  </a:lnTo>
                  <a:cubicBezTo>
                    <a:pt x="332395" y="42266"/>
                    <a:pt x="341831" y="45700"/>
                    <a:pt x="353012" y="46322"/>
                  </a:cubicBezTo>
                  <a:lnTo>
                    <a:pt x="393893" y="48596"/>
                  </a:lnTo>
                  <a:cubicBezTo>
                    <a:pt x="418372" y="49958"/>
                    <a:pt x="438254" y="66639"/>
                    <a:pt x="443845" y="90511"/>
                  </a:cubicBezTo>
                  <a:lnTo>
                    <a:pt x="453184" y="130377"/>
                  </a:lnTo>
                  <a:cubicBezTo>
                    <a:pt x="455738" y="141279"/>
                    <a:pt x="460759" y="149976"/>
                    <a:pt x="468924" y="157639"/>
                  </a:cubicBezTo>
                  <a:lnTo>
                    <a:pt x="498779" y="185659"/>
                  </a:lnTo>
                  <a:cubicBezTo>
                    <a:pt x="516656" y="202437"/>
                    <a:pt x="521162" y="227996"/>
                    <a:pt x="510102" y="249876"/>
                  </a:cubicBezTo>
                  <a:lnTo>
                    <a:pt x="491631" y="286417"/>
                  </a:lnTo>
                  <a:cubicBezTo>
                    <a:pt x="486580" y="296411"/>
                    <a:pt x="484836" y="306300"/>
                    <a:pt x="486165" y="317419"/>
                  </a:cubicBezTo>
                  <a:lnTo>
                    <a:pt x="491025" y="358074"/>
                  </a:lnTo>
                  <a:cubicBezTo>
                    <a:pt x="493934" y="382418"/>
                    <a:pt x="480958" y="404893"/>
                    <a:pt x="458421" y="414545"/>
                  </a:cubicBezTo>
                  <a:lnTo>
                    <a:pt x="420783" y="430665"/>
                  </a:lnTo>
                  <a:cubicBezTo>
                    <a:pt x="410489" y="435073"/>
                    <a:pt x="402797" y="441528"/>
                    <a:pt x="396668" y="450899"/>
                  </a:cubicBezTo>
                  <a:lnTo>
                    <a:pt x="374257" y="485166"/>
                  </a:lnTo>
                  <a:cubicBezTo>
                    <a:pt x="360839" y="505684"/>
                    <a:pt x="336451" y="514560"/>
                    <a:pt x="312983" y="507468"/>
                  </a:cubicBezTo>
                  <a:lnTo>
                    <a:pt x="273790" y="495623"/>
                  </a:lnTo>
                  <a:cubicBezTo>
                    <a:pt x="263071" y="492384"/>
                    <a:pt x="253030" y="492384"/>
                    <a:pt x="242310" y="495623"/>
                  </a:cubicBezTo>
                  <a:lnTo>
                    <a:pt x="203117" y="507468"/>
                  </a:lnTo>
                  <a:cubicBezTo>
                    <a:pt x="179649" y="514560"/>
                    <a:pt x="155261" y="505684"/>
                    <a:pt x="141843" y="485166"/>
                  </a:cubicBezTo>
                  <a:lnTo>
                    <a:pt x="119432" y="450899"/>
                  </a:lnTo>
                  <a:cubicBezTo>
                    <a:pt x="113302" y="441528"/>
                    <a:pt x="105610" y="435073"/>
                    <a:pt x="95318" y="430665"/>
                  </a:cubicBezTo>
                  <a:lnTo>
                    <a:pt x="57677" y="414543"/>
                  </a:lnTo>
                  <a:cubicBezTo>
                    <a:pt x="35140" y="404891"/>
                    <a:pt x="22164" y="382416"/>
                    <a:pt x="25073" y="358072"/>
                  </a:cubicBezTo>
                  <a:lnTo>
                    <a:pt x="29933" y="317416"/>
                  </a:lnTo>
                  <a:cubicBezTo>
                    <a:pt x="31262" y="306298"/>
                    <a:pt x="29518" y="296409"/>
                    <a:pt x="24467" y="286415"/>
                  </a:cubicBezTo>
                  <a:lnTo>
                    <a:pt x="5996" y="249874"/>
                  </a:lnTo>
                  <a:cubicBezTo>
                    <a:pt x="-5064" y="227995"/>
                    <a:pt x="-558" y="202436"/>
                    <a:pt x="17319" y="185657"/>
                  </a:cubicBezTo>
                  <a:lnTo>
                    <a:pt x="47174" y="157636"/>
                  </a:lnTo>
                  <a:cubicBezTo>
                    <a:pt x="55339" y="149973"/>
                    <a:pt x="60359" y="141277"/>
                    <a:pt x="62913" y="130374"/>
                  </a:cubicBezTo>
                  <a:lnTo>
                    <a:pt x="72252" y="90509"/>
                  </a:lnTo>
                  <a:cubicBezTo>
                    <a:pt x="77843" y="66638"/>
                    <a:pt x="97725" y="49957"/>
                    <a:pt x="122204" y="48594"/>
                  </a:cubicBezTo>
                  <a:lnTo>
                    <a:pt x="163085" y="46320"/>
                  </a:lnTo>
                  <a:cubicBezTo>
                    <a:pt x="174266" y="45699"/>
                    <a:pt x="183702" y="42263"/>
                    <a:pt x="192667" y="35553"/>
                  </a:cubicBezTo>
                  <a:lnTo>
                    <a:pt x="225446" y="11017"/>
                  </a:lnTo>
                  <a:cubicBezTo>
                    <a:pt x="245071" y="-3673"/>
                    <a:pt x="271025" y="-3673"/>
                    <a:pt x="290651" y="11019"/>
                  </a:cubicBezTo>
                  <a:close/>
                  <a:moveTo>
                    <a:pt x="237138" y="268982"/>
                  </a:moveTo>
                  <a:lnTo>
                    <a:pt x="201566" y="233409"/>
                  </a:lnTo>
                  <a:cubicBezTo>
                    <a:pt x="192346" y="224190"/>
                    <a:pt x="177391" y="224190"/>
                    <a:pt x="168172" y="233409"/>
                  </a:cubicBezTo>
                  <a:cubicBezTo>
                    <a:pt x="158953" y="242629"/>
                    <a:pt x="158953" y="257583"/>
                    <a:pt x="168172" y="266803"/>
                  </a:cubicBezTo>
                  <a:lnTo>
                    <a:pt x="220493" y="319123"/>
                  </a:lnTo>
                  <a:cubicBezTo>
                    <a:pt x="229713" y="328342"/>
                    <a:pt x="244668" y="328343"/>
                    <a:pt x="253887" y="319123"/>
                  </a:cubicBezTo>
                  <a:cubicBezTo>
                    <a:pt x="285423" y="287586"/>
                    <a:pt x="316602" y="255695"/>
                    <a:pt x="347992" y="224014"/>
                  </a:cubicBezTo>
                  <a:cubicBezTo>
                    <a:pt x="357145" y="214776"/>
                    <a:pt x="357116" y="199869"/>
                    <a:pt x="347890" y="190695"/>
                  </a:cubicBezTo>
                  <a:cubicBezTo>
                    <a:pt x="338663" y="181518"/>
                    <a:pt x="323713" y="181544"/>
                    <a:pt x="314550" y="190798"/>
                  </a:cubicBezTo>
                  <a:close/>
                  <a:moveTo>
                    <a:pt x="258048" y="79094"/>
                  </a:moveTo>
                  <a:cubicBezTo>
                    <a:pt x="209491" y="79094"/>
                    <a:pt x="165529" y="98776"/>
                    <a:pt x="133707" y="130598"/>
                  </a:cubicBezTo>
                  <a:cubicBezTo>
                    <a:pt x="101885" y="162421"/>
                    <a:pt x="82202" y="206382"/>
                    <a:pt x="82202" y="254939"/>
                  </a:cubicBezTo>
                  <a:cubicBezTo>
                    <a:pt x="82202" y="303497"/>
                    <a:pt x="101885" y="347459"/>
                    <a:pt x="133707" y="379281"/>
                  </a:cubicBezTo>
                  <a:cubicBezTo>
                    <a:pt x="165529" y="411102"/>
                    <a:pt x="209491" y="430785"/>
                    <a:pt x="258048" y="430785"/>
                  </a:cubicBezTo>
                  <a:cubicBezTo>
                    <a:pt x="306605" y="430785"/>
                    <a:pt x="350567" y="411102"/>
                    <a:pt x="382389" y="379281"/>
                  </a:cubicBezTo>
                  <a:cubicBezTo>
                    <a:pt x="414211" y="347459"/>
                    <a:pt x="433894" y="303497"/>
                    <a:pt x="433894" y="254939"/>
                  </a:cubicBezTo>
                  <a:cubicBezTo>
                    <a:pt x="433894" y="206382"/>
                    <a:pt x="414211" y="162420"/>
                    <a:pt x="382389" y="130598"/>
                  </a:cubicBezTo>
                  <a:cubicBezTo>
                    <a:pt x="350567" y="98776"/>
                    <a:pt x="306605" y="79094"/>
                    <a:pt x="258048" y="79094"/>
                  </a:cubicBezTo>
                  <a:close/>
                  <a:moveTo>
                    <a:pt x="370225" y="142762"/>
                  </a:moveTo>
                  <a:cubicBezTo>
                    <a:pt x="341517" y="114054"/>
                    <a:pt x="301856" y="96297"/>
                    <a:pt x="258048" y="96297"/>
                  </a:cubicBezTo>
                  <a:cubicBezTo>
                    <a:pt x="214240" y="96297"/>
                    <a:pt x="174579" y="114054"/>
                    <a:pt x="145871" y="142762"/>
                  </a:cubicBezTo>
                  <a:cubicBezTo>
                    <a:pt x="117162" y="171470"/>
                    <a:pt x="99405" y="211131"/>
                    <a:pt x="99405" y="254939"/>
                  </a:cubicBezTo>
                  <a:cubicBezTo>
                    <a:pt x="99405" y="298748"/>
                    <a:pt x="117162" y="338409"/>
                    <a:pt x="145871" y="367117"/>
                  </a:cubicBezTo>
                  <a:cubicBezTo>
                    <a:pt x="174579" y="395825"/>
                    <a:pt x="214240" y="413582"/>
                    <a:pt x="258048" y="413582"/>
                  </a:cubicBezTo>
                  <a:cubicBezTo>
                    <a:pt x="301856" y="413582"/>
                    <a:pt x="341517" y="395825"/>
                    <a:pt x="370225" y="367118"/>
                  </a:cubicBezTo>
                  <a:cubicBezTo>
                    <a:pt x="398933" y="338410"/>
                    <a:pt x="416689" y="298749"/>
                    <a:pt x="416689" y="254940"/>
                  </a:cubicBezTo>
                  <a:cubicBezTo>
                    <a:pt x="416690" y="211131"/>
                    <a:pt x="398933" y="171470"/>
                    <a:pt x="370225" y="14276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41" name="Google Shape;541;p30"/>
          <p:cNvSpPr txBox="1"/>
          <p:nvPr/>
        </p:nvSpPr>
        <p:spPr>
          <a:xfrm>
            <a:off x="4651616" y="4705471"/>
            <a:ext cx="1661400" cy="517024"/>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dirty="0">
                <a:solidFill>
                  <a:srgbClr val="0C0C0C"/>
                </a:solidFill>
                <a:latin typeface="Calibri"/>
                <a:ea typeface="Calibri"/>
                <a:cs typeface="Calibri"/>
                <a:sym typeface="Calibri"/>
              </a:rPr>
              <a:t>Provides top notch customer support </a:t>
            </a:r>
            <a:endParaRPr sz="1200" dirty="0">
              <a:solidFill>
                <a:srgbClr val="0C0C0C"/>
              </a:solidFill>
              <a:latin typeface="Calibri"/>
              <a:ea typeface="Calibri"/>
              <a:cs typeface="Calibri"/>
              <a:sym typeface="Calibri"/>
            </a:endParaRPr>
          </a:p>
        </p:txBody>
      </p:sp>
      <p:cxnSp>
        <p:nvCxnSpPr>
          <p:cNvPr id="542" name="Google Shape;542;p30"/>
          <p:cNvCxnSpPr/>
          <p:nvPr/>
        </p:nvCxnSpPr>
        <p:spPr>
          <a:xfrm>
            <a:off x="5479079" y="3496099"/>
            <a:ext cx="6569" cy="637808"/>
          </a:xfrm>
          <a:prstGeom prst="straightConnector1">
            <a:avLst/>
          </a:prstGeom>
          <a:noFill/>
          <a:ln w="9525" cap="flat" cmpd="sng">
            <a:solidFill>
              <a:schemeClr val="accent1"/>
            </a:solidFill>
            <a:prstDash val="solid"/>
            <a:miter lim="800000"/>
            <a:headEnd type="none" w="sm" len="sm"/>
            <a:tailEnd type="stealth" w="med" len="med"/>
          </a:ln>
        </p:spPr>
      </p:cxnSp>
      <p:grpSp>
        <p:nvGrpSpPr>
          <p:cNvPr id="543" name="Google Shape;543;p30"/>
          <p:cNvGrpSpPr/>
          <p:nvPr/>
        </p:nvGrpSpPr>
        <p:grpSpPr>
          <a:xfrm>
            <a:off x="4993821" y="2628900"/>
            <a:ext cx="977084" cy="977080"/>
            <a:chOff x="5131616" y="2451920"/>
            <a:chExt cx="977084" cy="977080"/>
          </a:xfrm>
        </p:grpSpPr>
        <p:sp>
          <p:nvSpPr>
            <p:cNvPr id="544" name="Google Shape;544;p30"/>
            <p:cNvSpPr/>
            <p:nvPr/>
          </p:nvSpPr>
          <p:spPr>
            <a:xfrm>
              <a:off x="5131616" y="2451920"/>
              <a:ext cx="977084" cy="977080"/>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545" name="Google Shape;545;p30"/>
            <p:cNvGrpSpPr/>
            <p:nvPr/>
          </p:nvGrpSpPr>
          <p:grpSpPr>
            <a:xfrm>
              <a:off x="5323013" y="2694734"/>
              <a:ext cx="594291" cy="491452"/>
              <a:chOff x="5291163" y="2678448"/>
              <a:chExt cx="594291" cy="491452"/>
            </a:xfrm>
          </p:grpSpPr>
          <p:sp>
            <p:nvSpPr>
              <p:cNvPr id="546" name="Google Shape;546;p30"/>
              <p:cNvSpPr/>
              <p:nvPr/>
            </p:nvSpPr>
            <p:spPr>
              <a:xfrm>
                <a:off x="5291163" y="2678448"/>
                <a:ext cx="594291" cy="491452"/>
              </a:xfrm>
              <a:custGeom>
                <a:avLst/>
                <a:gdLst/>
                <a:ahLst/>
                <a:cxnLst/>
                <a:rect l="l" t="t" r="r" b="b"/>
                <a:pathLst>
                  <a:path w="594291" h="491452" extrusionOk="0">
                    <a:moveTo>
                      <a:pt x="304798" y="130"/>
                    </a:moveTo>
                    <a:cubicBezTo>
                      <a:pt x="257007" y="-1462"/>
                      <a:pt x="208723" y="11577"/>
                      <a:pt x="167037" y="39403"/>
                    </a:cubicBezTo>
                    <a:cubicBezTo>
                      <a:pt x="120217" y="70688"/>
                      <a:pt x="87497" y="116888"/>
                      <a:pt x="72426" y="168534"/>
                    </a:cubicBezTo>
                    <a:cubicBezTo>
                      <a:pt x="68264" y="168026"/>
                      <a:pt x="63280" y="168250"/>
                      <a:pt x="57362" y="169924"/>
                    </a:cubicBezTo>
                    <a:cubicBezTo>
                      <a:pt x="35267" y="176193"/>
                      <a:pt x="18650" y="194298"/>
                      <a:pt x="11178" y="210243"/>
                    </a:cubicBezTo>
                    <a:cubicBezTo>
                      <a:pt x="1486" y="231023"/>
                      <a:pt x="-2601" y="258505"/>
                      <a:pt x="1710" y="286876"/>
                    </a:cubicBezTo>
                    <a:cubicBezTo>
                      <a:pt x="5992" y="315158"/>
                      <a:pt x="17940" y="338470"/>
                      <a:pt x="32884" y="352944"/>
                    </a:cubicBezTo>
                    <a:cubicBezTo>
                      <a:pt x="47873" y="367425"/>
                      <a:pt x="64797" y="372132"/>
                      <a:pt x="81609" y="368598"/>
                    </a:cubicBezTo>
                    <a:cubicBezTo>
                      <a:pt x="106640" y="363255"/>
                      <a:pt x="119051" y="359258"/>
                      <a:pt x="115547" y="335937"/>
                    </a:cubicBezTo>
                    <a:lnTo>
                      <a:pt x="98578" y="222893"/>
                    </a:lnTo>
                    <a:cubicBezTo>
                      <a:pt x="102000" y="161712"/>
                      <a:pt x="133674" y="104118"/>
                      <a:pt x="186651" y="68701"/>
                    </a:cubicBezTo>
                    <a:cubicBezTo>
                      <a:pt x="257560" y="21335"/>
                      <a:pt x="350527" y="24369"/>
                      <a:pt x="418164" y="76292"/>
                    </a:cubicBezTo>
                    <a:cubicBezTo>
                      <a:pt x="465215" y="112367"/>
                      <a:pt x="492533" y="166420"/>
                      <a:pt x="495686" y="223162"/>
                    </a:cubicBezTo>
                    <a:lnTo>
                      <a:pt x="483821" y="302239"/>
                    </a:lnTo>
                    <a:cubicBezTo>
                      <a:pt x="457355" y="374665"/>
                      <a:pt x="391743" y="424832"/>
                      <a:pt x="315820" y="431953"/>
                    </a:cubicBezTo>
                    <a:lnTo>
                      <a:pt x="265264" y="431953"/>
                    </a:lnTo>
                    <a:cubicBezTo>
                      <a:pt x="252218" y="431953"/>
                      <a:pt x="241712" y="442459"/>
                      <a:pt x="241712" y="455490"/>
                    </a:cubicBezTo>
                    <a:lnTo>
                      <a:pt x="241712" y="467908"/>
                    </a:lnTo>
                    <a:cubicBezTo>
                      <a:pt x="241712" y="480947"/>
                      <a:pt x="252218" y="491453"/>
                      <a:pt x="265264" y="491453"/>
                    </a:cubicBezTo>
                    <a:lnTo>
                      <a:pt x="329008" y="491453"/>
                    </a:lnTo>
                    <a:cubicBezTo>
                      <a:pt x="342046" y="491453"/>
                      <a:pt x="352507" y="480947"/>
                      <a:pt x="352507" y="467908"/>
                    </a:cubicBezTo>
                    <a:lnTo>
                      <a:pt x="352507" y="461415"/>
                    </a:lnTo>
                    <a:cubicBezTo>
                      <a:pt x="409758" y="447442"/>
                      <a:pt x="459731" y="412257"/>
                      <a:pt x="492271" y="363188"/>
                    </a:cubicBezTo>
                    <a:lnTo>
                      <a:pt x="512692" y="368605"/>
                    </a:lnTo>
                    <a:cubicBezTo>
                      <a:pt x="529310" y="372917"/>
                      <a:pt x="546436" y="367425"/>
                      <a:pt x="561418" y="352951"/>
                    </a:cubicBezTo>
                    <a:cubicBezTo>
                      <a:pt x="576362" y="338470"/>
                      <a:pt x="588302" y="315165"/>
                      <a:pt x="592591" y="286884"/>
                    </a:cubicBezTo>
                    <a:cubicBezTo>
                      <a:pt x="596917" y="258512"/>
                      <a:pt x="592710" y="231075"/>
                      <a:pt x="583131" y="210251"/>
                    </a:cubicBezTo>
                    <a:cubicBezTo>
                      <a:pt x="573515" y="189426"/>
                      <a:pt x="559191" y="176201"/>
                      <a:pt x="542655" y="171456"/>
                    </a:cubicBezTo>
                    <a:cubicBezTo>
                      <a:pt x="535729" y="169461"/>
                      <a:pt x="528212" y="168729"/>
                      <a:pt x="521764" y="168534"/>
                    </a:cubicBezTo>
                    <a:cubicBezTo>
                      <a:pt x="508135" y="121834"/>
                      <a:pt x="480077" y="79363"/>
                      <a:pt x="439639" y="48354"/>
                    </a:cubicBezTo>
                    <a:cubicBezTo>
                      <a:pt x="399880" y="17846"/>
                      <a:pt x="352589" y="1699"/>
                      <a:pt x="304798" y="13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7" name="Google Shape;547;p30"/>
              <p:cNvSpPr/>
              <p:nvPr/>
            </p:nvSpPr>
            <p:spPr>
              <a:xfrm>
                <a:off x="5426518" y="2750728"/>
                <a:ext cx="323553" cy="336002"/>
              </a:xfrm>
              <a:custGeom>
                <a:avLst/>
                <a:gdLst/>
                <a:ahLst/>
                <a:cxnLst/>
                <a:rect l="l" t="t" r="r" b="b"/>
                <a:pathLst>
                  <a:path w="323553" h="336002" extrusionOk="0">
                    <a:moveTo>
                      <a:pt x="244051" y="131224"/>
                    </a:moveTo>
                    <a:cubicBezTo>
                      <a:pt x="260901" y="131224"/>
                      <a:pt x="274559" y="144883"/>
                      <a:pt x="274597" y="161777"/>
                    </a:cubicBezTo>
                    <a:cubicBezTo>
                      <a:pt x="274559" y="178626"/>
                      <a:pt x="260901" y="192322"/>
                      <a:pt x="244051" y="192322"/>
                    </a:cubicBezTo>
                    <a:cubicBezTo>
                      <a:pt x="227157" y="192322"/>
                      <a:pt x="213461" y="178626"/>
                      <a:pt x="213461" y="161777"/>
                    </a:cubicBezTo>
                    <a:cubicBezTo>
                      <a:pt x="213461" y="144890"/>
                      <a:pt x="227164" y="131224"/>
                      <a:pt x="244051" y="131224"/>
                    </a:cubicBezTo>
                    <a:close/>
                    <a:moveTo>
                      <a:pt x="161784" y="131224"/>
                    </a:moveTo>
                    <a:cubicBezTo>
                      <a:pt x="178671" y="131224"/>
                      <a:pt x="192330" y="144883"/>
                      <a:pt x="192330" y="161777"/>
                    </a:cubicBezTo>
                    <a:cubicBezTo>
                      <a:pt x="192330" y="178626"/>
                      <a:pt x="178671" y="192322"/>
                      <a:pt x="161784" y="192322"/>
                    </a:cubicBezTo>
                    <a:cubicBezTo>
                      <a:pt x="144883" y="192322"/>
                      <a:pt x="131224" y="178626"/>
                      <a:pt x="131224" y="161777"/>
                    </a:cubicBezTo>
                    <a:cubicBezTo>
                      <a:pt x="131224" y="144890"/>
                      <a:pt x="144883" y="131224"/>
                      <a:pt x="161784" y="131224"/>
                    </a:cubicBezTo>
                    <a:close/>
                    <a:moveTo>
                      <a:pt x="79547" y="131224"/>
                    </a:moveTo>
                    <a:cubicBezTo>
                      <a:pt x="96397" y="131224"/>
                      <a:pt x="110093" y="144883"/>
                      <a:pt x="110093" y="161777"/>
                    </a:cubicBezTo>
                    <a:cubicBezTo>
                      <a:pt x="110093" y="178626"/>
                      <a:pt x="96397" y="192322"/>
                      <a:pt x="79547" y="192322"/>
                    </a:cubicBezTo>
                    <a:cubicBezTo>
                      <a:pt x="62660" y="192322"/>
                      <a:pt x="48994" y="178626"/>
                      <a:pt x="48994" y="161777"/>
                    </a:cubicBezTo>
                    <a:cubicBezTo>
                      <a:pt x="48994" y="144890"/>
                      <a:pt x="62660" y="131224"/>
                      <a:pt x="79547" y="131224"/>
                    </a:cubicBezTo>
                    <a:close/>
                    <a:moveTo>
                      <a:pt x="161784" y="0"/>
                    </a:moveTo>
                    <a:cubicBezTo>
                      <a:pt x="72195" y="0"/>
                      <a:pt x="0" y="69819"/>
                      <a:pt x="0" y="161777"/>
                    </a:cubicBezTo>
                    <a:cubicBezTo>
                      <a:pt x="0" y="205944"/>
                      <a:pt x="16700" y="244978"/>
                      <a:pt x="43906" y="273618"/>
                    </a:cubicBezTo>
                    <a:lnTo>
                      <a:pt x="34252" y="316896"/>
                    </a:lnTo>
                    <a:cubicBezTo>
                      <a:pt x="31069" y="331138"/>
                      <a:pt x="40947" y="340717"/>
                      <a:pt x="53746" y="333588"/>
                    </a:cubicBezTo>
                    <a:lnTo>
                      <a:pt x="96008" y="310014"/>
                    </a:lnTo>
                    <a:cubicBezTo>
                      <a:pt x="116093" y="318734"/>
                      <a:pt x="138307" y="323554"/>
                      <a:pt x="161784" y="323554"/>
                    </a:cubicBezTo>
                    <a:cubicBezTo>
                      <a:pt x="251404" y="323554"/>
                      <a:pt x="323554" y="253780"/>
                      <a:pt x="323554" y="161777"/>
                    </a:cubicBezTo>
                    <a:cubicBezTo>
                      <a:pt x="323554" y="69819"/>
                      <a:pt x="251404" y="0"/>
                      <a:pt x="16178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548" name="Google Shape;548;p30"/>
          <p:cNvSpPr txBox="1"/>
          <p:nvPr/>
        </p:nvSpPr>
        <p:spPr>
          <a:xfrm>
            <a:off x="6627100" y="4705471"/>
            <a:ext cx="1661400" cy="94175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dirty="0">
                <a:solidFill>
                  <a:srgbClr val="0C0C0C"/>
                </a:solidFill>
                <a:latin typeface="Calibri"/>
                <a:ea typeface="Calibri"/>
                <a:cs typeface="Calibri"/>
                <a:sym typeface="Calibri"/>
              </a:rPr>
              <a:t>Provides wide range of foods to select from with wide range of services</a:t>
            </a:r>
            <a:endParaRPr sz="1200" dirty="0">
              <a:solidFill>
                <a:srgbClr val="0C0C0C"/>
              </a:solidFill>
              <a:latin typeface="Calibri"/>
              <a:ea typeface="Calibri"/>
              <a:cs typeface="Calibri"/>
              <a:sym typeface="Calibri"/>
            </a:endParaRPr>
          </a:p>
        </p:txBody>
      </p:sp>
      <p:cxnSp>
        <p:nvCxnSpPr>
          <p:cNvPr id="549" name="Google Shape;549;p30"/>
          <p:cNvCxnSpPr/>
          <p:nvPr/>
        </p:nvCxnSpPr>
        <p:spPr>
          <a:xfrm>
            <a:off x="7454563" y="3496099"/>
            <a:ext cx="6569" cy="637808"/>
          </a:xfrm>
          <a:prstGeom prst="straightConnector1">
            <a:avLst/>
          </a:prstGeom>
          <a:noFill/>
          <a:ln w="9525" cap="flat" cmpd="sng">
            <a:solidFill>
              <a:schemeClr val="accent1"/>
            </a:solidFill>
            <a:prstDash val="solid"/>
            <a:miter lim="800000"/>
            <a:headEnd type="none" w="sm" len="sm"/>
            <a:tailEnd type="stealth" w="med" len="med"/>
          </a:ln>
        </p:spPr>
      </p:cxnSp>
      <p:grpSp>
        <p:nvGrpSpPr>
          <p:cNvPr id="550" name="Google Shape;550;p30"/>
          <p:cNvGrpSpPr/>
          <p:nvPr/>
        </p:nvGrpSpPr>
        <p:grpSpPr>
          <a:xfrm>
            <a:off x="6969305" y="2628900"/>
            <a:ext cx="977084" cy="977080"/>
            <a:chOff x="7265216" y="2454685"/>
            <a:chExt cx="977084" cy="977080"/>
          </a:xfrm>
        </p:grpSpPr>
        <p:sp>
          <p:nvSpPr>
            <p:cNvPr id="551" name="Google Shape;551;p30"/>
            <p:cNvSpPr/>
            <p:nvPr/>
          </p:nvSpPr>
          <p:spPr>
            <a:xfrm>
              <a:off x="7265216" y="2454685"/>
              <a:ext cx="977084" cy="977080"/>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52" name="Google Shape;552;p30"/>
            <p:cNvPicPr preferRelativeResize="0"/>
            <p:nvPr/>
          </p:nvPicPr>
          <p:blipFill rotWithShape="1">
            <a:blip r:embed="rId6">
              <a:alphaModFix/>
            </a:blip>
            <a:srcRect/>
            <a:stretch/>
          </p:blipFill>
          <p:spPr>
            <a:xfrm>
              <a:off x="7528141" y="2724887"/>
              <a:ext cx="451234" cy="436676"/>
            </a:xfrm>
            <a:prstGeom prst="rect">
              <a:avLst/>
            </a:prstGeom>
            <a:noFill/>
            <a:ln>
              <a:noFill/>
            </a:ln>
          </p:spPr>
        </p:pic>
      </p:grpSp>
      <p:sp>
        <p:nvSpPr>
          <p:cNvPr id="553" name="Google Shape;553;p30"/>
          <p:cNvSpPr txBox="1"/>
          <p:nvPr/>
        </p:nvSpPr>
        <p:spPr>
          <a:xfrm>
            <a:off x="708025" y="1408325"/>
            <a:ext cx="7762800" cy="94175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0" i="0" dirty="0">
                <a:solidFill>
                  <a:srgbClr val="0C0C0C"/>
                </a:solidFill>
                <a:latin typeface="Calibri"/>
                <a:ea typeface="Calibri"/>
                <a:cs typeface="Calibri"/>
                <a:sym typeface="Calibri"/>
              </a:rPr>
              <a:t>Zomato’s customer-centric approach revolves around easy accessibility, allowing users to order food or discover restaurants with just a few taps. It emphasizes personalized experiences, using data-driven insights to tailor recommendations and offers. Through transparent reviews, responsive support, and intuitive design, Zomato builds trust and keeps the customer journey seamless.</a:t>
            </a:r>
          </a:p>
        </p:txBody>
      </p:sp>
      <p:sp>
        <p:nvSpPr>
          <p:cNvPr id="554" name="Google Shape;554;p30"/>
          <p:cNvSpPr txBox="1">
            <a:spLocks noGrp="1"/>
          </p:cNvSpPr>
          <p:nvPr>
            <p:ph type="title"/>
          </p:nvPr>
        </p:nvSpPr>
        <p:spPr>
          <a:xfrm>
            <a:off x="711200" y="823118"/>
            <a:ext cx="5915900"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Customer Centric Principles</a:t>
            </a:r>
            <a:endParaRPr dirty="0"/>
          </a:p>
        </p:txBody>
      </p:sp>
      <p:sp>
        <p:nvSpPr>
          <p:cNvPr id="555" name="Google Shape;555;p30"/>
          <p:cNvSpPr txBox="1">
            <a:spLocks noGrp="1"/>
          </p:cNvSpPr>
          <p:nvPr>
            <p:ph type="body" idx="1"/>
          </p:nvPr>
        </p:nvSpPr>
        <p:spPr>
          <a:xfrm>
            <a:off x="678180" y="4175760"/>
            <a:ext cx="1714500" cy="286192"/>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rgbClr val="0C0C0C"/>
              </a:buClr>
              <a:buSzPts val="1400"/>
              <a:buNone/>
            </a:pPr>
            <a:r>
              <a:rPr lang="en-US" sz="1400" b="1" dirty="0">
                <a:solidFill>
                  <a:srgbClr val="0C0C0C"/>
                </a:solidFill>
                <a:latin typeface="Poppins"/>
                <a:ea typeface="Poppins"/>
                <a:cs typeface="Poppins"/>
                <a:sym typeface="Poppins"/>
              </a:rPr>
              <a:t>Accessibility</a:t>
            </a:r>
            <a:endParaRPr sz="1400" b="1" dirty="0">
              <a:solidFill>
                <a:srgbClr val="0C0C0C"/>
              </a:solidFill>
              <a:latin typeface="Poppins"/>
              <a:ea typeface="Poppins"/>
              <a:cs typeface="Poppins"/>
              <a:sym typeface="Poppins"/>
            </a:endParaRPr>
          </a:p>
        </p:txBody>
      </p:sp>
      <p:sp>
        <p:nvSpPr>
          <p:cNvPr id="556" name="Google Shape;556;p30"/>
          <p:cNvSpPr txBox="1">
            <a:spLocks noGrp="1"/>
          </p:cNvSpPr>
          <p:nvPr>
            <p:ph type="body" idx="2"/>
          </p:nvPr>
        </p:nvSpPr>
        <p:spPr>
          <a:xfrm>
            <a:off x="2644140" y="4175760"/>
            <a:ext cx="1714500" cy="480091"/>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rgbClr val="0C0C0C"/>
              </a:buClr>
              <a:buSzPts val="1400"/>
              <a:buNone/>
            </a:pPr>
            <a:r>
              <a:rPr lang="en-US" sz="1400" b="1" dirty="0">
                <a:solidFill>
                  <a:srgbClr val="0C0C0C"/>
                </a:solidFill>
                <a:latin typeface="Poppins"/>
                <a:ea typeface="Poppins"/>
                <a:cs typeface="Poppins"/>
                <a:sym typeface="Poppins"/>
              </a:rPr>
              <a:t>Quality Assurance</a:t>
            </a:r>
            <a:endParaRPr sz="1400" b="1" dirty="0">
              <a:solidFill>
                <a:srgbClr val="0C0C0C"/>
              </a:solidFill>
              <a:latin typeface="Poppins"/>
              <a:ea typeface="Poppins"/>
              <a:cs typeface="Poppins"/>
              <a:sym typeface="Poppins"/>
            </a:endParaRPr>
          </a:p>
        </p:txBody>
      </p:sp>
      <p:sp>
        <p:nvSpPr>
          <p:cNvPr id="557" name="Google Shape;557;p30"/>
          <p:cNvSpPr txBox="1">
            <a:spLocks noGrp="1"/>
          </p:cNvSpPr>
          <p:nvPr>
            <p:ph type="body" idx="3"/>
          </p:nvPr>
        </p:nvSpPr>
        <p:spPr>
          <a:xfrm>
            <a:off x="4632960" y="4175760"/>
            <a:ext cx="1714500" cy="481927"/>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rgbClr val="0C0C0C"/>
              </a:buClr>
              <a:buSzPts val="1400"/>
              <a:buNone/>
            </a:pPr>
            <a:r>
              <a:rPr lang="en-US" sz="1400" b="1">
                <a:solidFill>
                  <a:srgbClr val="0C0C0C"/>
                </a:solidFill>
                <a:latin typeface="Poppins"/>
                <a:ea typeface="Poppins"/>
                <a:cs typeface="Poppins"/>
                <a:sym typeface="Poppins"/>
              </a:rPr>
              <a:t>Customer Support</a:t>
            </a:r>
            <a:endParaRPr sz="1400" b="1">
              <a:solidFill>
                <a:srgbClr val="0C0C0C"/>
              </a:solidFill>
              <a:latin typeface="Poppins"/>
              <a:ea typeface="Poppins"/>
              <a:cs typeface="Poppins"/>
              <a:sym typeface="Poppins"/>
            </a:endParaRPr>
          </a:p>
        </p:txBody>
      </p:sp>
      <p:sp>
        <p:nvSpPr>
          <p:cNvPr id="558" name="Google Shape;558;p30"/>
          <p:cNvSpPr txBox="1">
            <a:spLocks noGrp="1"/>
          </p:cNvSpPr>
          <p:nvPr>
            <p:ph type="body" idx="4"/>
          </p:nvPr>
        </p:nvSpPr>
        <p:spPr>
          <a:xfrm>
            <a:off x="6606540" y="4175760"/>
            <a:ext cx="1714500" cy="286192"/>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rgbClr val="0C0C0C"/>
              </a:buClr>
              <a:buSzPts val="1400"/>
              <a:buNone/>
            </a:pPr>
            <a:r>
              <a:rPr lang="en-US" sz="1400" b="1" dirty="0">
                <a:solidFill>
                  <a:srgbClr val="0C0C0C"/>
                </a:solidFill>
                <a:latin typeface="Poppins"/>
                <a:ea typeface="Poppins"/>
                <a:cs typeface="Poppins"/>
                <a:sym typeface="Poppins"/>
              </a:rPr>
              <a:t>Assortment</a:t>
            </a:r>
            <a:endParaRPr sz="1400" b="1" dirty="0">
              <a:solidFill>
                <a:srgbClr val="0C0C0C"/>
              </a:solidFill>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5">
                                            <p:txEl>
                                              <p:pRg st="0" end="0"/>
                                            </p:txEl>
                                          </p:spTgt>
                                        </p:tgtEl>
                                        <p:attrNameLst>
                                          <p:attrName>style.visibility</p:attrName>
                                        </p:attrNameLst>
                                      </p:cBhvr>
                                      <p:to>
                                        <p:strVal val="visible"/>
                                      </p:to>
                                    </p:set>
                                    <p:animEffect transition="in" filter="fade">
                                      <p:cBhvr>
                                        <p:cTn id="7" dur="1000"/>
                                        <p:tgtEl>
                                          <p:spTgt spid="555">
                                            <p:txEl>
                                              <p:pRg st="0" end="0"/>
                                            </p:txEl>
                                          </p:spTgt>
                                        </p:tgtEl>
                                      </p:cBhvr>
                                    </p:animEffect>
                                    <p:anim calcmode="lin" valueType="num">
                                      <p:cBhvr>
                                        <p:cTn id="8" dur="1000" fill="hold"/>
                                        <p:tgtEl>
                                          <p:spTgt spid="5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5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31"/>
                                        </p:tgtEl>
                                        <p:attrNameLst>
                                          <p:attrName>style.visibility</p:attrName>
                                        </p:attrNameLst>
                                      </p:cBhvr>
                                      <p:to>
                                        <p:strVal val="visible"/>
                                      </p:to>
                                    </p:set>
                                    <p:animEffect transition="in" filter="fade">
                                      <p:cBhvr>
                                        <p:cTn id="12" dur="1000"/>
                                        <p:tgtEl>
                                          <p:spTgt spid="531"/>
                                        </p:tgtEl>
                                      </p:cBhvr>
                                    </p:animEffect>
                                    <p:anim calcmode="lin" valueType="num">
                                      <p:cBhvr>
                                        <p:cTn id="13" dur="1000" fill="hold"/>
                                        <p:tgtEl>
                                          <p:spTgt spid="531"/>
                                        </p:tgtEl>
                                        <p:attrNameLst>
                                          <p:attrName>ppt_x</p:attrName>
                                        </p:attrNameLst>
                                      </p:cBhvr>
                                      <p:tavLst>
                                        <p:tav tm="0">
                                          <p:val>
                                            <p:strVal val="#ppt_x"/>
                                          </p:val>
                                        </p:tav>
                                        <p:tav tm="100000">
                                          <p:val>
                                            <p:strVal val="#ppt_x"/>
                                          </p:val>
                                        </p:tav>
                                      </p:tavLst>
                                    </p:anim>
                                    <p:anim calcmode="lin" valueType="num">
                                      <p:cBhvr>
                                        <p:cTn id="14" dur="1000" fill="hold"/>
                                        <p:tgtEl>
                                          <p:spTgt spid="5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29"/>
                                        </p:tgtEl>
                                        <p:attrNameLst>
                                          <p:attrName>style.visibility</p:attrName>
                                        </p:attrNameLst>
                                      </p:cBhvr>
                                      <p:to>
                                        <p:strVal val="visible"/>
                                      </p:to>
                                    </p:set>
                                    <p:animEffect transition="in" filter="fade">
                                      <p:cBhvr>
                                        <p:cTn id="17" dur="1000"/>
                                        <p:tgtEl>
                                          <p:spTgt spid="529"/>
                                        </p:tgtEl>
                                      </p:cBhvr>
                                    </p:animEffect>
                                    <p:anim calcmode="lin" valueType="num">
                                      <p:cBhvr>
                                        <p:cTn id="18" dur="1000" fill="hold"/>
                                        <p:tgtEl>
                                          <p:spTgt spid="529"/>
                                        </p:tgtEl>
                                        <p:attrNameLst>
                                          <p:attrName>ppt_x</p:attrName>
                                        </p:attrNameLst>
                                      </p:cBhvr>
                                      <p:tavLst>
                                        <p:tav tm="0">
                                          <p:val>
                                            <p:strVal val="#ppt_x"/>
                                          </p:val>
                                        </p:tav>
                                        <p:tav tm="100000">
                                          <p:val>
                                            <p:strVal val="#ppt_x"/>
                                          </p:val>
                                        </p:tav>
                                      </p:tavLst>
                                    </p:anim>
                                    <p:anim calcmode="lin" valueType="num">
                                      <p:cBhvr>
                                        <p:cTn id="19" dur="1000" fill="hold"/>
                                        <p:tgtEl>
                                          <p:spTgt spid="52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38"/>
                                        </p:tgtEl>
                                        <p:attrNameLst>
                                          <p:attrName>style.visibility</p:attrName>
                                        </p:attrNameLst>
                                      </p:cBhvr>
                                      <p:to>
                                        <p:strVal val="visible"/>
                                      </p:to>
                                    </p:set>
                                    <p:animEffect transition="in" filter="fade">
                                      <p:cBhvr>
                                        <p:cTn id="24" dur="1000"/>
                                        <p:tgtEl>
                                          <p:spTgt spid="538"/>
                                        </p:tgtEl>
                                      </p:cBhvr>
                                    </p:animEffect>
                                    <p:anim calcmode="lin" valueType="num">
                                      <p:cBhvr>
                                        <p:cTn id="25" dur="1000" fill="hold"/>
                                        <p:tgtEl>
                                          <p:spTgt spid="538"/>
                                        </p:tgtEl>
                                        <p:attrNameLst>
                                          <p:attrName>ppt_x</p:attrName>
                                        </p:attrNameLst>
                                      </p:cBhvr>
                                      <p:tavLst>
                                        <p:tav tm="0">
                                          <p:val>
                                            <p:strVal val="#ppt_x"/>
                                          </p:val>
                                        </p:tav>
                                        <p:tav tm="100000">
                                          <p:val>
                                            <p:strVal val="#ppt_x"/>
                                          </p:val>
                                        </p:tav>
                                      </p:tavLst>
                                    </p:anim>
                                    <p:anim calcmode="lin" valueType="num">
                                      <p:cBhvr>
                                        <p:cTn id="26" dur="1000" fill="hold"/>
                                        <p:tgtEl>
                                          <p:spTgt spid="53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56">
                                            <p:txEl>
                                              <p:pRg st="0" end="0"/>
                                            </p:txEl>
                                          </p:spTgt>
                                        </p:tgtEl>
                                        <p:attrNameLst>
                                          <p:attrName>style.visibility</p:attrName>
                                        </p:attrNameLst>
                                      </p:cBhvr>
                                      <p:to>
                                        <p:strVal val="visible"/>
                                      </p:to>
                                    </p:set>
                                    <p:animEffect transition="in" filter="fade">
                                      <p:cBhvr>
                                        <p:cTn id="29" dur="1000"/>
                                        <p:tgtEl>
                                          <p:spTgt spid="556">
                                            <p:txEl>
                                              <p:pRg st="0" end="0"/>
                                            </p:txEl>
                                          </p:spTgt>
                                        </p:tgtEl>
                                      </p:cBhvr>
                                    </p:animEffect>
                                    <p:anim calcmode="lin" valueType="num">
                                      <p:cBhvr>
                                        <p:cTn id="30" dur="1000" fill="hold"/>
                                        <p:tgtEl>
                                          <p:spTgt spid="556">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556">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536"/>
                                        </p:tgtEl>
                                        <p:attrNameLst>
                                          <p:attrName>style.visibility</p:attrName>
                                        </p:attrNameLst>
                                      </p:cBhvr>
                                      <p:to>
                                        <p:strVal val="visible"/>
                                      </p:to>
                                    </p:set>
                                    <p:animEffect transition="in" filter="fade">
                                      <p:cBhvr>
                                        <p:cTn id="34" dur="1000"/>
                                        <p:tgtEl>
                                          <p:spTgt spid="536"/>
                                        </p:tgtEl>
                                      </p:cBhvr>
                                    </p:animEffect>
                                    <p:anim calcmode="lin" valueType="num">
                                      <p:cBhvr>
                                        <p:cTn id="35" dur="1000" fill="hold"/>
                                        <p:tgtEl>
                                          <p:spTgt spid="536"/>
                                        </p:tgtEl>
                                        <p:attrNameLst>
                                          <p:attrName>ppt_x</p:attrName>
                                        </p:attrNameLst>
                                      </p:cBhvr>
                                      <p:tavLst>
                                        <p:tav tm="0">
                                          <p:val>
                                            <p:strVal val="#ppt_x"/>
                                          </p:val>
                                        </p:tav>
                                        <p:tav tm="100000">
                                          <p:val>
                                            <p:strVal val="#ppt_x"/>
                                          </p:val>
                                        </p:tav>
                                      </p:tavLst>
                                    </p:anim>
                                    <p:anim calcmode="lin" valueType="num">
                                      <p:cBhvr>
                                        <p:cTn id="36" dur="1000" fill="hold"/>
                                        <p:tgtEl>
                                          <p:spTgt spid="53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43"/>
                                        </p:tgtEl>
                                        <p:attrNameLst>
                                          <p:attrName>style.visibility</p:attrName>
                                        </p:attrNameLst>
                                      </p:cBhvr>
                                      <p:to>
                                        <p:strVal val="visible"/>
                                      </p:to>
                                    </p:set>
                                    <p:animEffect transition="in" filter="fade">
                                      <p:cBhvr>
                                        <p:cTn id="41" dur="1000"/>
                                        <p:tgtEl>
                                          <p:spTgt spid="543"/>
                                        </p:tgtEl>
                                      </p:cBhvr>
                                    </p:animEffect>
                                    <p:anim calcmode="lin" valueType="num">
                                      <p:cBhvr>
                                        <p:cTn id="42" dur="1000" fill="hold"/>
                                        <p:tgtEl>
                                          <p:spTgt spid="543"/>
                                        </p:tgtEl>
                                        <p:attrNameLst>
                                          <p:attrName>ppt_x</p:attrName>
                                        </p:attrNameLst>
                                      </p:cBhvr>
                                      <p:tavLst>
                                        <p:tav tm="0">
                                          <p:val>
                                            <p:strVal val="#ppt_x"/>
                                          </p:val>
                                        </p:tav>
                                        <p:tav tm="100000">
                                          <p:val>
                                            <p:strVal val="#ppt_x"/>
                                          </p:val>
                                        </p:tav>
                                      </p:tavLst>
                                    </p:anim>
                                    <p:anim calcmode="lin" valueType="num">
                                      <p:cBhvr>
                                        <p:cTn id="43" dur="1000" fill="hold"/>
                                        <p:tgtEl>
                                          <p:spTgt spid="543"/>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557">
                                            <p:txEl>
                                              <p:pRg st="0" end="0"/>
                                            </p:txEl>
                                          </p:spTgt>
                                        </p:tgtEl>
                                        <p:attrNameLst>
                                          <p:attrName>style.visibility</p:attrName>
                                        </p:attrNameLst>
                                      </p:cBhvr>
                                      <p:to>
                                        <p:strVal val="visible"/>
                                      </p:to>
                                    </p:set>
                                    <p:animEffect transition="in" filter="fade">
                                      <p:cBhvr>
                                        <p:cTn id="46" dur="1000"/>
                                        <p:tgtEl>
                                          <p:spTgt spid="557">
                                            <p:txEl>
                                              <p:pRg st="0" end="0"/>
                                            </p:txEl>
                                          </p:spTgt>
                                        </p:tgtEl>
                                      </p:cBhvr>
                                    </p:animEffect>
                                    <p:anim calcmode="lin" valueType="num">
                                      <p:cBhvr>
                                        <p:cTn id="47" dur="1000" fill="hold"/>
                                        <p:tgtEl>
                                          <p:spTgt spid="557">
                                            <p:txEl>
                                              <p:pRg st="0" end="0"/>
                                            </p:txEl>
                                          </p:spTgt>
                                        </p:tgtEl>
                                        <p:attrNameLst>
                                          <p:attrName>ppt_x</p:attrName>
                                        </p:attrNameLst>
                                      </p:cBhvr>
                                      <p:tavLst>
                                        <p:tav tm="0">
                                          <p:val>
                                            <p:strVal val="#ppt_x"/>
                                          </p:val>
                                        </p:tav>
                                        <p:tav tm="100000">
                                          <p:val>
                                            <p:strVal val="#ppt_x"/>
                                          </p:val>
                                        </p:tav>
                                      </p:tavLst>
                                    </p:anim>
                                    <p:anim calcmode="lin" valueType="num">
                                      <p:cBhvr>
                                        <p:cTn id="48" dur="1000" fill="hold"/>
                                        <p:tgtEl>
                                          <p:spTgt spid="557">
                                            <p:txEl>
                                              <p:pRg st="0" end="0"/>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541"/>
                                        </p:tgtEl>
                                        <p:attrNameLst>
                                          <p:attrName>style.visibility</p:attrName>
                                        </p:attrNameLst>
                                      </p:cBhvr>
                                      <p:to>
                                        <p:strVal val="visible"/>
                                      </p:to>
                                    </p:set>
                                    <p:animEffect transition="in" filter="fade">
                                      <p:cBhvr>
                                        <p:cTn id="51" dur="1000"/>
                                        <p:tgtEl>
                                          <p:spTgt spid="541"/>
                                        </p:tgtEl>
                                      </p:cBhvr>
                                    </p:animEffect>
                                    <p:anim calcmode="lin" valueType="num">
                                      <p:cBhvr>
                                        <p:cTn id="52" dur="1000" fill="hold"/>
                                        <p:tgtEl>
                                          <p:spTgt spid="541"/>
                                        </p:tgtEl>
                                        <p:attrNameLst>
                                          <p:attrName>ppt_x</p:attrName>
                                        </p:attrNameLst>
                                      </p:cBhvr>
                                      <p:tavLst>
                                        <p:tav tm="0">
                                          <p:val>
                                            <p:strVal val="#ppt_x"/>
                                          </p:val>
                                        </p:tav>
                                        <p:tav tm="100000">
                                          <p:val>
                                            <p:strVal val="#ppt_x"/>
                                          </p:val>
                                        </p:tav>
                                      </p:tavLst>
                                    </p:anim>
                                    <p:anim calcmode="lin" valueType="num">
                                      <p:cBhvr>
                                        <p:cTn id="53" dur="1000" fill="hold"/>
                                        <p:tgtEl>
                                          <p:spTgt spid="541"/>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550"/>
                                        </p:tgtEl>
                                        <p:attrNameLst>
                                          <p:attrName>style.visibility</p:attrName>
                                        </p:attrNameLst>
                                      </p:cBhvr>
                                      <p:to>
                                        <p:strVal val="visible"/>
                                      </p:to>
                                    </p:set>
                                    <p:animEffect transition="in" filter="fade">
                                      <p:cBhvr>
                                        <p:cTn id="58" dur="1000"/>
                                        <p:tgtEl>
                                          <p:spTgt spid="550"/>
                                        </p:tgtEl>
                                      </p:cBhvr>
                                    </p:animEffect>
                                    <p:anim calcmode="lin" valueType="num">
                                      <p:cBhvr>
                                        <p:cTn id="59" dur="1000" fill="hold"/>
                                        <p:tgtEl>
                                          <p:spTgt spid="550"/>
                                        </p:tgtEl>
                                        <p:attrNameLst>
                                          <p:attrName>ppt_x</p:attrName>
                                        </p:attrNameLst>
                                      </p:cBhvr>
                                      <p:tavLst>
                                        <p:tav tm="0">
                                          <p:val>
                                            <p:strVal val="#ppt_x"/>
                                          </p:val>
                                        </p:tav>
                                        <p:tav tm="100000">
                                          <p:val>
                                            <p:strVal val="#ppt_x"/>
                                          </p:val>
                                        </p:tav>
                                      </p:tavLst>
                                    </p:anim>
                                    <p:anim calcmode="lin" valueType="num">
                                      <p:cBhvr>
                                        <p:cTn id="60" dur="1000" fill="hold"/>
                                        <p:tgtEl>
                                          <p:spTgt spid="550"/>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558">
                                            <p:txEl>
                                              <p:pRg st="0" end="0"/>
                                            </p:txEl>
                                          </p:spTgt>
                                        </p:tgtEl>
                                        <p:attrNameLst>
                                          <p:attrName>style.visibility</p:attrName>
                                        </p:attrNameLst>
                                      </p:cBhvr>
                                      <p:to>
                                        <p:strVal val="visible"/>
                                      </p:to>
                                    </p:set>
                                    <p:animEffect transition="in" filter="fade">
                                      <p:cBhvr>
                                        <p:cTn id="63" dur="1000"/>
                                        <p:tgtEl>
                                          <p:spTgt spid="558">
                                            <p:txEl>
                                              <p:pRg st="0" end="0"/>
                                            </p:txEl>
                                          </p:spTgt>
                                        </p:tgtEl>
                                      </p:cBhvr>
                                    </p:animEffect>
                                    <p:anim calcmode="lin" valueType="num">
                                      <p:cBhvr>
                                        <p:cTn id="64" dur="1000" fill="hold"/>
                                        <p:tgtEl>
                                          <p:spTgt spid="558">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558">
                                            <p:txEl>
                                              <p:pRg st="0" end="0"/>
                                            </p:txEl>
                                          </p:spTgt>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548"/>
                                        </p:tgtEl>
                                        <p:attrNameLst>
                                          <p:attrName>style.visibility</p:attrName>
                                        </p:attrNameLst>
                                      </p:cBhvr>
                                      <p:to>
                                        <p:strVal val="visible"/>
                                      </p:to>
                                    </p:set>
                                    <p:animEffect transition="in" filter="fade">
                                      <p:cBhvr>
                                        <p:cTn id="68" dur="1000"/>
                                        <p:tgtEl>
                                          <p:spTgt spid="548"/>
                                        </p:tgtEl>
                                      </p:cBhvr>
                                    </p:animEffect>
                                    <p:anim calcmode="lin" valueType="num">
                                      <p:cBhvr>
                                        <p:cTn id="69" dur="1000" fill="hold"/>
                                        <p:tgtEl>
                                          <p:spTgt spid="548"/>
                                        </p:tgtEl>
                                        <p:attrNameLst>
                                          <p:attrName>ppt_x</p:attrName>
                                        </p:attrNameLst>
                                      </p:cBhvr>
                                      <p:tavLst>
                                        <p:tav tm="0">
                                          <p:val>
                                            <p:strVal val="#ppt_x"/>
                                          </p:val>
                                        </p:tav>
                                        <p:tav tm="100000">
                                          <p:val>
                                            <p:strVal val="#ppt_x"/>
                                          </p:val>
                                        </p:tav>
                                      </p:tavLst>
                                    </p:anim>
                                    <p:anim calcmode="lin" valueType="num">
                                      <p:cBhvr>
                                        <p:cTn id="70" dur="1000" fill="hold"/>
                                        <p:tgtEl>
                                          <p:spTgt spid="5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 grpId="0"/>
      <p:bldP spid="536" grpId="0"/>
      <p:bldP spid="541" grpId="0"/>
      <p:bldP spid="548" grpId="0"/>
      <p:bldP spid="555" grpId="0" build="p"/>
      <p:bldP spid="556" grpId="0" build="p"/>
      <p:bldP spid="557" grpId="0" build="p"/>
      <p:bldP spid="55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5">
          <a:extLst>
            <a:ext uri="{FF2B5EF4-FFF2-40B4-BE49-F238E27FC236}">
              <a16:creationId xmlns:a16="http://schemas.microsoft.com/office/drawing/2014/main" id="{D0B907CE-8088-4EA1-5B77-02152892B068}"/>
            </a:ext>
          </a:extLst>
        </p:cNvPr>
        <p:cNvGrpSpPr/>
        <p:nvPr/>
      </p:nvGrpSpPr>
      <p:grpSpPr>
        <a:xfrm>
          <a:off x="0" y="0"/>
          <a:ext cx="0" cy="0"/>
          <a:chOff x="0" y="0"/>
          <a:chExt cx="0" cy="0"/>
        </a:xfrm>
      </p:grpSpPr>
      <p:sp>
        <p:nvSpPr>
          <p:cNvPr id="11" name="Oval 10">
            <a:extLst>
              <a:ext uri="{FF2B5EF4-FFF2-40B4-BE49-F238E27FC236}">
                <a16:creationId xmlns:a16="http://schemas.microsoft.com/office/drawing/2014/main" id="{AE1BA5CC-CBF1-4504-6119-A33E90B82B9E}"/>
              </a:ext>
            </a:extLst>
          </p:cNvPr>
          <p:cNvSpPr/>
          <p:nvPr/>
        </p:nvSpPr>
        <p:spPr>
          <a:xfrm>
            <a:off x="2423179" y="1370048"/>
            <a:ext cx="1472101" cy="1298619"/>
          </a:xfrm>
          <a:prstGeom prst="ellipse">
            <a:avLst/>
          </a:prstGeom>
          <a:blipFill dpi="0" rotWithShape="1">
            <a:blip r:embed="rId3">
              <a:alphaModFix amt="20000"/>
              <a:extLst>
                <a:ext uri="{28A0092B-C50C-407E-A947-70E740481C1C}">
                  <a14:useLocalDpi xmlns:a14="http://schemas.microsoft.com/office/drawing/2010/main" val="0"/>
                </a:ext>
              </a:extLst>
            </a:blip>
            <a:srcRect/>
            <a:stretch>
              <a:fillRect/>
            </a:stretch>
          </a:blip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tx1"/>
                </a:solidFill>
              </a:rPr>
              <a:t>Swiggy</a:t>
            </a:r>
          </a:p>
        </p:txBody>
      </p:sp>
      <p:pic>
        <p:nvPicPr>
          <p:cNvPr id="276" name="Google Shape;276;p24">
            <a:extLst>
              <a:ext uri="{FF2B5EF4-FFF2-40B4-BE49-F238E27FC236}">
                <a16:creationId xmlns:a16="http://schemas.microsoft.com/office/drawing/2014/main" id="{BB9331DF-35ED-23E8-7746-0E7864C3BC01}"/>
              </a:ext>
            </a:extLst>
          </p:cNvPr>
          <p:cNvPicPr preferRelativeResize="0"/>
          <p:nvPr/>
        </p:nvPicPr>
        <p:blipFill>
          <a:blip r:embed="rId4">
            <a:alphaModFix/>
          </a:blip>
          <a:stretch>
            <a:fillRect/>
          </a:stretch>
        </p:blipFill>
        <p:spPr>
          <a:xfrm>
            <a:off x="10856258" y="1"/>
            <a:ext cx="1339403" cy="4369248"/>
          </a:xfrm>
          <a:prstGeom prst="rect">
            <a:avLst/>
          </a:prstGeom>
          <a:noFill/>
          <a:ln>
            <a:noFill/>
          </a:ln>
        </p:spPr>
      </p:pic>
      <p:pic>
        <p:nvPicPr>
          <p:cNvPr id="277" name="Google Shape;277;p24">
            <a:extLst>
              <a:ext uri="{FF2B5EF4-FFF2-40B4-BE49-F238E27FC236}">
                <a16:creationId xmlns:a16="http://schemas.microsoft.com/office/drawing/2014/main" id="{F6E43C43-58BA-0E01-ABF4-8692AD9A3000}"/>
              </a:ext>
            </a:extLst>
          </p:cNvPr>
          <p:cNvPicPr preferRelativeResize="0"/>
          <p:nvPr/>
        </p:nvPicPr>
        <p:blipFill rotWithShape="1">
          <a:blip r:embed="rId5">
            <a:alphaModFix/>
          </a:blip>
          <a:srcRect/>
          <a:stretch/>
        </p:blipFill>
        <p:spPr>
          <a:xfrm rot="-589488">
            <a:off x="12017" y="198985"/>
            <a:ext cx="202415" cy="158251"/>
          </a:xfrm>
          <a:prstGeom prst="rect">
            <a:avLst/>
          </a:prstGeom>
          <a:noFill/>
          <a:ln>
            <a:noFill/>
          </a:ln>
        </p:spPr>
      </p:pic>
      <p:pic>
        <p:nvPicPr>
          <p:cNvPr id="278" name="Google Shape;278;p24">
            <a:extLst>
              <a:ext uri="{FF2B5EF4-FFF2-40B4-BE49-F238E27FC236}">
                <a16:creationId xmlns:a16="http://schemas.microsoft.com/office/drawing/2014/main" id="{A54CB97A-0F1C-51D6-1C1A-881980E301EF}"/>
              </a:ext>
            </a:extLst>
          </p:cNvPr>
          <p:cNvPicPr preferRelativeResize="0"/>
          <p:nvPr/>
        </p:nvPicPr>
        <p:blipFill rotWithShape="1">
          <a:blip r:embed="rId6">
            <a:alphaModFix/>
          </a:blip>
          <a:srcRect/>
          <a:stretch/>
        </p:blipFill>
        <p:spPr>
          <a:xfrm rot="-605715">
            <a:off x="5379710" y="49192"/>
            <a:ext cx="124112" cy="97032"/>
          </a:xfrm>
          <a:prstGeom prst="rect">
            <a:avLst/>
          </a:prstGeom>
          <a:noFill/>
          <a:ln>
            <a:noFill/>
          </a:ln>
        </p:spPr>
      </p:pic>
      <p:pic>
        <p:nvPicPr>
          <p:cNvPr id="280" name="Google Shape;280;p24">
            <a:extLst>
              <a:ext uri="{FF2B5EF4-FFF2-40B4-BE49-F238E27FC236}">
                <a16:creationId xmlns:a16="http://schemas.microsoft.com/office/drawing/2014/main" id="{0CBE478C-C110-0C2B-7E75-EB0F21CAAE02}"/>
              </a:ext>
            </a:extLst>
          </p:cNvPr>
          <p:cNvPicPr preferRelativeResize="0"/>
          <p:nvPr/>
        </p:nvPicPr>
        <p:blipFill rotWithShape="1">
          <a:blip r:embed="rId7">
            <a:alphaModFix/>
          </a:blip>
          <a:srcRect/>
          <a:stretch/>
        </p:blipFill>
        <p:spPr>
          <a:xfrm>
            <a:off x="8910108" y="431800"/>
            <a:ext cx="1544422" cy="774338"/>
          </a:xfrm>
          <a:prstGeom prst="rect">
            <a:avLst/>
          </a:prstGeom>
          <a:noFill/>
          <a:ln>
            <a:noFill/>
          </a:ln>
        </p:spPr>
      </p:pic>
      <p:pic>
        <p:nvPicPr>
          <p:cNvPr id="281" name="Google Shape;281;p24" descr="A black background with a black square&#10;&#10;Description automatically generated with medium confidence">
            <a:extLst>
              <a:ext uri="{FF2B5EF4-FFF2-40B4-BE49-F238E27FC236}">
                <a16:creationId xmlns:a16="http://schemas.microsoft.com/office/drawing/2014/main" id="{87C4E99D-EBD8-DA68-A54F-85ADCED8586E}"/>
              </a:ext>
            </a:extLst>
          </p:cNvPr>
          <p:cNvPicPr preferRelativeResize="0"/>
          <p:nvPr/>
        </p:nvPicPr>
        <p:blipFill rotWithShape="1">
          <a:blip r:embed="rId8">
            <a:alphaModFix/>
          </a:blip>
          <a:srcRect/>
          <a:stretch/>
        </p:blipFill>
        <p:spPr>
          <a:xfrm rot="2349536">
            <a:off x="9527566" y="3955160"/>
            <a:ext cx="3383027" cy="295563"/>
          </a:xfrm>
          <a:prstGeom prst="rect">
            <a:avLst/>
          </a:prstGeom>
          <a:noFill/>
          <a:ln>
            <a:noFill/>
          </a:ln>
        </p:spPr>
      </p:pic>
      <p:grpSp>
        <p:nvGrpSpPr>
          <p:cNvPr id="282" name="Google Shape;282;p24">
            <a:extLst>
              <a:ext uri="{FF2B5EF4-FFF2-40B4-BE49-F238E27FC236}">
                <a16:creationId xmlns:a16="http://schemas.microsoft.com/office/drawing/2014/main" id="{30728F54-648F-E1FD-6316-09B537F5A927}"/>
              </a:ext>
            </a:extLst>
          </p:cNvPr>
          <p:cNvGrpSpPr/>
          <p:nvPr/>
        </p:nvGrpSpPr>
        <p:grpSpPr>
          <a:xfrm>
            <a:off x="11481558" y="75056"/>
            <a:ext cx="685825" cy="3214201"/>
            <a:chOff x="11059391" y="2420023"/>
            <a:chExt cx="668892" cy="3134840"/>
          </a:xfrm>
        </p:grpSpPr>
        <p:sp>
          <p:nvSpPr>
            <p:cNvPr id="283" name="Google Shape;283;p24">
              <a:extLst>
                <a:ext uri="{FF2B5EF4-FFF2-40B4-BE49-F238E27FC236}">
                  <a16:creationId xmlns:a16="http://schemas.microsoft.com/office/drawing/2014/main" id="{64C86312-5CE9-CDD6-37C1-70C1F7CAFA73}"/>
                </a:ext>
              </a:extLst>
            </p:cNvPr>
            <p:cNvSpPr/>
            <p:nvPr/>
          </p:nvSpPr>
          <p:spPr>
            <a:xfrm rot="5400000">
              <a:off x="10934570" y="352398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24">
              <a:extLst>
                <a:ext uri="{FF2B5EF4-FFF2-40B4-BE49-F238E27FC236}">
                  <a16:creationId xmlns:a16="http://schemas.microsoft.com/office/drawing/2014/main" id="{EA7A57FA-7035-9186-2D95-4F6CD2FBEFE2}"/>
                </a:ext>
              </a:extLst>
            </p:cNvPr>
            <p:cNvSpPr/>
            <p:nvPr/>
          </p:nvSpPr>
          <p:spPr>
            <a:xfrm rot="5400000">
              <a:off x="11081233" y="504176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24">
              <a:extLst>
                <a:ext uri="{FF2B5EF4-FFF2-40B4-BE49-F238E27FC236}">
                  <a16:creationId xmlns:a16="http://schemas.microsoft.com/office/drawing/2014/main" id="{34273B03-B76D-AE4B-3F3D-C0336AA97897}"/>
                </a:ext>
              </a:extLst>
            </p:cNvPr>
            <p:cNvSpPr/>
            <p:nvPr/>
          </p:nvSpPr>
          <p:spPr>
            <a:xfrm rot="5400000">
              <a:off x="11081802" y="287111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24">
              <a:extLst>
                <a:ext uri="{FF2B5EF4-FFF2-40B4-BE49-F238E27FC236}">
                  <a16:creationId xmlns:a16="http://schemas.microsoft.com/office/drawing/2014/main" id="{C38840A0-E977-E281-63F0-0777771E8C7F}"/>
                </a:ext>
              </a:extLst>
            </p:cNvPr>
            <p:cNvSpPr/>
            <p:nvPr/>
          </p:nvSpPr>
          <p:spPr>
            <a:xfrm rot="5400000">
              <a:off x="11093113" y="416978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24">
              <a:extLst>
                <a:ext uri="{FF2B5EF4-FFF2-40B4-BE49-F238E27FC236}">
                  <a16:creationId xmlns:a16="http://schemas.microsoft.com/office/drawing/2014/main" id="{CBC9B186-FDB9-7A5C-1D74-AA23ED2EDB0B}"/>
                </a:ext>
              </a:extLst>
            </p:cNvPr>
            <p:cNvSpPr/>
            <p:nvPr/>
          </p:nvSpPr>
          <p:spPr>
            <a:xfrm rot="5400000">
              <a:off x="11086918" y="241187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24">
              <a:extLst>
                <a:ext uri="{FF2B5EF4-FFF2-40B4-BE49-F238E27FC236}">
                  <a16:creationId xmlns:a16="http://schemas.microsoft.com/office/drawing/2014/main" id="{3C7B6370-83BA-17AE-CD23-D2BC092F80CB}"/>
                </a:ext>
              </a:extLst>
            </p:cNvPr>
            <p:cNvSpPr/>
            <p:nvPr/>
          </p:nvSpPr>
          <p:spPr>
            <a:xfrm rot="5400000">
              <a:off x="11219643" y="4563687"/>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0" name="Google Shape;310;p24">
            <a:extLst>
              <a:ext uri="{FF2B5EF4-FFF2-40B4-BE49-F238E27FC236}">
                <a16:creationId xmlns:a16="http://schemas.microsoft.com/office/drawing/2014/main" id="{EF1B3BD8-CB92-12C0-C6C5-72CA6425C166}"/>
              </a:ext>
            </a:extLst>
          </p:cNvPr>
          <p:cNvSpPr txBox="1"/>
          <p:nvPr/>
        </p:nvSpPr>
        <p:spPr>
          <a:xfrm>
            <a:off x="609412" y="730898"/>
            <a:ext cx="10246845" cy="34005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b="0" i="0" dirty="0">
                <a:solidFill>
                  <a:srgbClr val="0C0C0C"/>
                </a:solidFill>
                <a:latin typeface="Calibri"/>
                <a:ea typeface="Calibri"/>
                <a:cs typeface="Calibri"/>
                <a:sym typeface="Calibri"/>
              </a:rPr>
              <a:t>Here are some popular apps that offer services like Zomato—like food delivery, restaurant discovery, and table reservations</a:t>
            </a:r>
            <a:endParaRPr lang="en-US" dirty="0">
              <a:solidFill>
                <a:srgbClr val="0C0C0C"/>
              </a:solidFill>
              <a:latin typeface="Calibri"/>
              <a:ea typeface="Calibri"/>
              <a:cs typeface="Calibri"/>
              <a:sym typeface="Calibri"/>
            </a:endParaRPr>
          </a:p>
        </p:txBody>
      </p:sp>
      <p:sp>
        <p:nvSpPr>
          <p:cNvPr id="311" name="Google Shape;311;p24">
            <a:extLst>
              <a:ext uri="{FF2B5EF4-FFF2-40B4-BE49-F238E27FC236}">
                <a16:creationId xmlns:a16="http://schemas.microsoft.com/office/drawing/2014/main" id="{5498474B-91DA-4906-A13B-0AB04A3F2C75}"/>
              </a:ext>
            </a:extLst>
          </p:cNvPr>
          <p:cNvSpPr txBox="1">
            <a:spLocks noGrp="1"/>
          </p:cNvSpPr>
          <p:nvPr>
            <p:ph type="title"/>
          </p:nvPr>
        </p:nvSpPr>
        <p:spPr>
          <a:xfrm>
            <a:off x="198835" y="0"/>
            <a:ext cx="5079447"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Competitors of Zomato</a:t>
            </a:r>
            <a:endParaRPr dirty="0"/>
          </a:p>
        </p:txBody>
      </p:sp>
      <p:sp>
        <p:nvSpPr>
          <p:cNvPr id="10" name="Oval 9">
            <a:extLst>
              <a:ext uri="{FF2B5EF4-FFF2-40B4-BE49-F238E27FC236}">
                <a16:creationId xmlns:a16="http://schemas.microsoft.com/office/drawing/2014/main" id="{D0EFB0E4-08B1-BEDC-36ED-B575E19AFD8F}"/>
              </a:ext>
            </a:extLst>
          </p:cNvPr>
          <p:cNvSpPr/>
          <p:nvPr/>
        </p:nvSpPr>
        <p:spPr>
          <a:xfrm>
            <a:off x="4553494" y="2183835"/>
            <a:ext cx="1757082" cy="1571065"/>
          </a:xfrm>
          <a:prstGeom prst="ellipse">
            <a:avLst/>
          </a:pr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0D76994B-B5AD-EE75-D720-4DD5616BDDC3}"/>
              </a:ext>
            </a:extLst>
          </p:cNvPr>
          <p:cNvSpPr/>
          <p:nvPr/>
        </p:nvSpPr>
        <p:spPr>
          <a:xfrm>
            <a:off x="1982294" y="2803712"/>
            <a:ext cx="1289823" cy="1160929"/>
          </a:xfrm>
          <a:prstGeom prst="ellipse">
            <a:avLst/>
          </a:prstGeom>
          <a:blipFill dpi="0" rotWithShape="1">
            <a:blip r:embed="rId10">
              <a:alphaModFix amt="20000"/>
              <a:extLst>
                <a:ext uri="{28A0092B-C50C-407E-A947-70E740481C1C}">
                  <a14:useLocalDpi xmlns:a14="http://schemas.microsoft.com/office/drawing/2010/main" val="0"/>
                </a:ext>
              </a:extLst>
            </a:blip>
            <a:srcRect/>
            <a:stretch>
              <a:fillRect/>
            </a:stretch>
          </a:blipFill>
          <a:ln>
            <a:no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b="1" dirty="0" err="1">
                <a:solidFill>
                  <a:schemeClr val="tx1"/>
                </a:solidFill>
              </a:rPr>
              <a:t>Dunzo</a:t>
            </a:r>
            <a:endParaRPr lang="en-US" b="1" dirty="0">
              <a:solidFill>
                <a:schemeClr val="tx1"/>
              </a:solidFill>
            </a:endParaRPr>
          </a:p>
        </p:txBody>
      </p:sp>
      <p:sp>
        <p:nvSpPr>
          <p:cNvPr id="14" name="Oval 13">
            <a:extLst>
              <a:ext uri="{FF2B5EF4-FFF2-40B4-BE49-F238E27FC236}">
                <a16:creationId xmlns:a16="http://schemas.microsoft.com/office/drawing/2014/main" id="{FBCAA85D-2586-E531-664E-BD831A0DC5CE}"/>
              </a:ext>
            </a:extLst>
          </p:cNvPr>
          <p:cNvSpPr/>
          <p:nvPr/>
        </p:nvSpPr>
        <p:spPr>
          <a:xfrm>
            <a:off x="3473226" y="3964641"/>
            <a:ext cx="1306540" cy="1207017"/>
          </a:xfrm>
          <a:prstGeom prst="ellipse">
            <a:avLst/>
          </a:prstGeom>
          <a:blipFill dpi="0" rotWithShape="1">
            <a:blip r:embed="rId11">
              <a:alphaModFix amt="35000"/>
              <a:extLst>
                <a:ext uri="{28A0092B-C50C-407E-A947-70E740481C1C}">
                  <a14:useLocalDpi xmlns:a14="http://schemas.microsoft.com/office/drawing/2010/main" val="0"/>
                </a:ext>
              </a:extLst>
            </a:blip>
            <a:srcRect/>
            <a:stretch>
              <a:fillRect/>
            </a:stretch>
          </a:blipFill>
          <a:ln>
            <a:no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b="1" dirty="0">
                <a:solidFill>
                  <a:schemeClr val="tx1"/>
                </a:solidFill>
              </a:rPr>
              <a:t>Food Panda</a:t>
            </a:r>
          </a:p>
        </p:txBody>
      </p:sp>
      <p:sp>
        <p:nvSpPr>
          <p:cNvPr id="15" name="Oval 14">
            <a:extLst>
              <a:ext uri="{FF2B5EF4-FFF2-40B4-BE49-F238E27FC236}">
                <a16:creationId xmlns:a16="http://schemas.microsoft.com/office/drawing/2014/main" id="{569406D5-8759-B66D-E791-DA65C282B7C3}"/>
              </a:ext>
            </a:extLst>
          </p:cNvPr>
          <p:cNvSpPr/>
          <p:nvPr/>
        </p:nvSpPr>
        <p:spPr>
          <a:xfrm>
            <a:off x="8435581" y="3289257"/>
            <a:ext cx="1212967" cy="1183280"/>
          </a:xfrm>
          <a:prstGeom prst="ellipse">
            <a:avLst/>
          </a:prstGeom>
          <a:blipFill dpi="0" rotWithShape="1">
            <a:blip r:embed="rId12">
              <a:alphaModFix amt="20000"/>
              <a:extLst>
                <a:ext uri="{28A0092B-C50C-407E-A947-70E740481C1C}">
                  <a14:useLocalDpi xmlns:a14="http://schemas.microsoft.com/office/drawing/2010/main" val="0"/>
                </a:ext>
              </a:extLst>
            </a:blip>
            <a:srcRect/>
            <a:stretch>
              <a:fillRect/>
            </a:stretch>
          </a:blip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rPr>
              <a:t>Eat Fit</a:t>
            </a:r>
          </a:p>
        </p:txBody>
      </p:sp>
      <p:sp>
        <p:nvSpPr>
          <p:cNvPr id="16" name="Oval 15">
            <a:extLst>
              <a:ext uri="{FF2B5EF4-FFF2-40B4-BE49-F238E27FC236}">
                <a16:creationId xmlns:a16="http://schemas.microsoft.com/office/drawing/2014/main" id="{8EE22173-6D7B-C1CC-F7F9-FA2C782261E0}"/>
              </a:ext>
            </a:extLst>
          </p:cNvPr>
          <p:cNvSpPr/>
          <p:nvPr/>
        </p:nvSpPr>
        <p:spPr>
          <a:xfrm>
            <a:off x="6605721" y="1379023"/>
            <a:ext cx="2271727" cy="1775047"/>
          </a:xfrm>
          <a:prstGeom prst="ellipse">
            <a:avLst/>
          </a:prstGeom>
          <a:blipFill dpi="0" rotWithShape="1">
            <a:blip r:embed="rId13">
              <a:alphaModFix amt="20000"/>
              <a:extLst>
                <a:ext uri="{28A0092B-C50C-407E-A947-70E740481C1C}">
                  <a14:useLocalDpi xmlns:a14="http://schemas.microsoft.com/office/drawing/2010/main" val="0"/>
                </a:ext>
              </a:extLst>
            </a:blip>
            <a:srcRect/>
            <a:stretch>
              <a:fillRect/>
            </a:stretch>
          </a:blip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800" b="1" dirty="0">
                <a:solidFill>
                  <a:schemeClr val="tx1"/>
                </a:solidFill>
              </a:rPr>
              <a:t>Eat Sure</a:t>
            </a:r>
          </a:p>
        </p:txBody>
      </p:sp>
      <p:sp>
        <p:nvSpPr>
          <p:cNvPr id="17" name="Oval 16">
            <a:extLst>
              <a:ext uri="{FF2B5EF4-FFF2-40B4-BE49-F238E27FC236}">
                <a16:creationId xmlns:a16="http://schemas.microsoft.com/office/drawing/2014/main" id="{D4868003-CD4E-9D2E-D41F-1CA8DE8E6386}"/>
              </a:ext>
            </a:extLst>
          </p:cNvPr>
          <p:cNvSpPr/>
          <p:nvPr/>
        </p:nvSpPr>
        <p:spPr>
          <a:xfrm>
            <a:off x="7307334" y="4472537"/>
            <a:ext cx="1212967" cy="1183280"/>
          </a:xfrm>
          <a:prstGeom prst="ellipse">
            <a:avLst/>
          </a:prstGeom>
          <a:blipFill dpi="0" rotWithShape="1">
            <a:blip r:embed="rId14">
              <a:alphaModFix amt="20000"/>
              <a:extLst>
                <a:ext uri="{28A0092B-C50C-407E-A947-70E740481C1C}">
                  <a14:useLocalDpi xmlns:a14="http://schemas.microsoft.com/office/drawing/2010/main" val="0"/>
                </a:ext>
              </a:extLst>
            </a:blip>
            <a:srcRect/>
            <a:stretch>
              <a:fillRect/>
            </a:stretch>
          </a:blipFill>
          <a:ln>
            <a:solidFill>
              <a:schemeClr val="accent2">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Door Dash</a:t>
            </a:r>
          </a:p>
        </p:txBody>
      </p:sp>
      <p:sp>
        <p:nvSpPr>
          <p:cNvPr id="18" name="Oval 17">
            <a:extLst>
              <a:ext uri="{FF2B5EF4-FFF2-40B4-BE49-F238E27FC236}">
                <a16:creationId xmlns:a16="http://schemas.microsoft.com/office/drawing/2014/main" id="{D0819D19-C05D-62E7-E442-EB22B2805077}"/>
              </a:ext>
            </a:extLst>
          </p:cNvPr>
          <p:cNvSpPr/>
          <p:nvPr/>
        </p:nvSpPr>
        <p:spPr>
          <a:xfrm>
            <a:off x="5278282" y="4547325"/>
            <a:ext cx="1433510" cy="1372386"/>
          </a:xfrm>
          <a:prstGeom prst="ellipse">
            <a:avLst/>
          </a:prstGeom>
          <a:blipFill dpi="0" rotWithShape="1">
            <a:blip r:embed="rId15">
              <a:alphaModFix amt="20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Delivery Hero</a:t>
            </a:r>
          </a:p>
        </p:txBody>
      </p:sp>
      <p:sp>
        <p:nvSpPr>
          <p:cNvPr id="19" name="Oval 18">
            <a:extLst>
              <a:ext uri="{FF2B5EF4-FFF2-40B4-BE49-F238E27FC236}">
                <a16:creationId xmlns:a16="http://schemas.microsoft.com/office/drawing/2014/main" id="{D4A84208-6EBF-063A-1C78-883A0483DB65}"/>
              </a:ext>
            </a:extLst>
          </p:cNvPr>
          <p:cNvSpPr/>
          <p:nvPr/>
        </p:nvSpPr>
        <p:spPr>
          <a:xfrm>
            <a:off x="9349981" y="4607724"/>
            <a:ext cx="1326984" cy="1183280"/>
          </a:xfrm>
          <a:prstGeom prst="ellipse">
            <a:avLst/>
          </a:prstGeom>
          <a:blipFill dpi="0" rotWithShape="1">
            <a:blip r:embed="rId16">
              <a:alphaModFix amt="20000"/>
              <a:extLst>
                <a:ext uri="{28A0092B-C50C-407E-A947-70E740481C1C}">
                  <a14:useLocalDpi xmlns:a14="http://schemas.microsoft.com/office/drawing/2010/main" val="0"/>
                </a:ext>
              </a:extLst>
            </a:blip>
            <a:srcRect/>
            <a:stretch>
              <a:fillRect/>
            </a:stretch>
          </a:blip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rPr>
              <a:t>Just Eat</a:t>
            </a:r>
          </a:p>
        </p:txBody>
      </p:sp>
    </p:spTree>
    <p:extLst>
      <p:ext uri="{BB962C8B-B14F-4D97-AF65-F5344CB8AC3E}">
        <p14:creationId xmlns:p14="http://schemas.microsoft.com/office/powerpoint/2010/main" val="254303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80">
                                          <p:stCondLst>
                                            <p:cond delay="0"/>
                                          </p:stCondLst>
                                        </p:cTn>
                                        <p:tgtEl>
                                          <p:spTgt spid="11"/>
                                        </p:tgtEl>
                                      </p:cBhvr>
                                    </p:animEffect>
                                    <p:anim calcmode="lin" valueType="num">
                                      <p:cBhvr>
                                        <p:cTn id="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3" dur="26">
                                          <p:stCondLst>
                                            <p:cond delay="650"/>
                                          </p:stCondLst>
                                        </p:cTn>
                                        <p:tgtEl>
                                          <p:spTgt spid="11"/>
                                        </p:tgtEl>
                                      </p:cBhvr>
                                      <p:to x="100000" y="60000"/>
                                    </p:animScale>
                                    <p:animScale>
                                      <p:cBhvr>
                                        <p:cTn id="14" dur="166" decel="50000">
                                          <p:stCondLst>
                                            <p:cond delay="676"/>
                                          </p:stCondLst>
                                        </p:cTn>
                                        <p:tgtEl>
                                          <p:spTgt spid="11"/>
                                        </p:tgtEl>
                                      </p:cBhvr>
                                      <p:to x="100000" y="100000"/>
                                    </p:animScale>
                                    <p:animScale>
                                      <p:cBhvr>
                                        <p:cTn id="15" dur="26">
                                          <p:stCondLst>
                                            <p:cond delay="1312"/>
                                          </p:stCondLst>
                                        </p:cTn>
                                        <p:tgtEl>
                                          <p:spTgt spid="11"/>
                                        </p:tgtEl>
                                      </p:cBhvr>
                                      <p:to x="100000" y="80000"/>
                                    </p:animScale>
                                    <p:animScale>
                                      <p:cBhvr>
                                        <p:cTn id="16" dur="166" decel="50000">
                                          <p:stCondLst>
                                            <p:cond delay="1338"/>
                                          </p:stCondLst>
                                        </p:cTn>
                                        <p:tgtEl>
                                          <p:spTgt spid="11"/>
                                        </p:tgtEl>
                                      </p:cBhvr>
                                      <p:to x="100000" y="100000"/>
                                    </p:animScale>
                                    <p:animScale>
                                      <p:cBhvr>
                                        <p:cTn id="17" dur="26">
                                          <p:stCondLst>
                                            <p:cond delay="1642"/>
                                          </p:stCondLst>
                                        </p:cTn>
                                        <p:tgtEl>
                                          <p:spTgt spid="11"/>
                                        </p:tgtEl>
                                      </p:cBhvr>
                                      <p:to x="100000" y="90000"/>
                                    </p:animScale>
                                    <p:animScale>
                                      <p:cBhvr>
                                        <p:cTn id="18" dur="166" decel="50000">
                                          <p:stCondLst>
                                            <p:cond delay="1668"/>
                                          </p:stCondLst>
                                        </p:cTn>
                                        <p:tgtEl>
                                          <p:spTgt spid="11"/>
                                        </p:tgtEl>
                                      </p:cBhvr>
                                      <p:to x="100000" y="100000"/>
                                    </p:animScale>
                                    <p:animScale>
                                      <p:cBhvr>
                                        <p:cTn id="19" dur="26">
                                          <p:stCondLst>
                                            <p:cond delay="1808"/>
                                          </p:stCondLst>
                                        </p:cTn>
                                        <p:tgtEl>
                                          <p:spTgt spid="11"/>
                                        </p:tgtEl>
                                      </p:cBhvr>
                                      <p:to x="100000" y="95000"/>
                                    </p:animScale>
                                    <p:animScale>
                                      <p:cBhvr>
                                        <p:cTn id="20" dur="166" decel="50000">
                                          <p:stCondLst>
                                            <p:cond delay="1834"/>
                                          </p:stCondLst>
                                        </p:cTn>
                                        <p:tgtEl>
                                          <p:spTgt spid="11"/>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80">
                                          <p:stCondLst>
                                            <p:cond delay="0"/>
                                          </p:stCondLst>
                                        </p:cTn>
                                        <p:tgtEl>
                                          <p:spTgt spid="13"/>
                                        </p:tgtEl>
                                      </p:cBhvr>
                                    </p:animEffect>
                                    <p:anim calcmode="lin" valueType="num">
                                      <p:cBhvr>
                                        <p:cTn id="24"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29" dur="26">
                                          <p:stCondLst>
                                            <p:cond delay="650"/>
                                          </p:stCondLst>
                                        </p:cTn>
                                        <p:tgtEl>
                                          <p:spTgt spid="13"/>
                                        </p:tgtEl>
                                      </p:cBhvr>
                                      <p:to x="100000" y="60000"/>
                                    </p:animScale>
                                    <p:animScale>
                                      <p:cBhvr>
                                        <p:cTn id="30" dur="166" decel="50000">
                                          <p:stCondLst>
                                            <p:cond delay="676"/>
                                          </p:stCondLst>
                                        </p:cTn>
                                        <p:tgtEl>
                                          <p:spTgt spid="13"/>
                                        </p:tgtEl>
                                      </p:cBhvr>
                                      <p:to x="100000" y="100000"/>
                                    </p:animScale>
                                    <p:animScale>
                                      <p:cBhvr>
                                        <p:cTn id="31" dur="26">
                                          <p:stCondLst>
                                            <p:cond delay="1312"/>
                                          </p:stCondLst>
                                        </p:cTn>
                                        <p:tgtEl>
                                          <p:spTgt spid="13"/>
                                        </p:tgtEl>
                                      </p:cBhvr>
                                      <p:to x="100000" y="80000"/>
                                    </p:animScale>
                                    <p:animScale>
                                      <p:cBhvr>
                                        <p:cTn id="32" dur="166" decel="50000">
                                          <p:stCondLst>
                                            <p:cond delay="1338"/>
                                          </p:stCondLst>
                                        </p:cTn>
                                        <p:tgtEl>
                                          <p:spTgt spid="13"/>
                                        </p:tgtEl>
                                      </p:cBhvr>
                                      <p:to x="100000" y="100000"/>
                                    </p:animScale>
                                    <p:animScale>
                                      <p:cBhvr>
                                        <p:cTn id="33" dur="26">
                                          <p:stCondLst>
                                            <p:cond delay="1642"/>
                                          </p:stCondLst>
                                        </p:cTn>
                                        <p:tgtEl>
                                          <p:spTgt spid="13"/>
                                        </p:tgtEl>
                                      </p:cBhvr>
                                      <p:to x="100000" y="90000"/>
                                    </p:animScale>
                                    <p:animScale>
                                      <p:cBhvr>
                                        <p:cTn id="34" dur="166" decel="50000">
                                          <p:stCondLst>
                                            <p:cond delay="1668"/>
                                          </p:stCondLst>
                                        </p:cTn>
                                        <p:tgtEl>
                                          <p:spTgt spid="13"/>
                                        </p:tgtEl>
                                      </p:cBhvr>
                                      <p:to x="100000" y="100000"/>
                                    </p:animScale>
                                    <p:animScale>
                                      <p:cBhvr>
                                        <p:cTn id="35" dur="26">
                                          <p:stCondLst>
                                            <p:cond delay="1808"/>
                                          </p:stCondLst>
                                        </p:cTn>
                                        <p:tgtEl>
                                          <p:spTgt spid="13"/>
                                        </p:tgtEl>
                                      </p:cBhvr>
                                      <p:to x="100000" y="95000"/>
                                    </p:animScale>
                                    <p:animScale>
                                      <p:cBhvr>
                                        <p:cTn id="36" dur="166" decel="50000">
                                          <p:stCondLst>
                                            <p:cond delay="1834"/>
                                          </p:stCondLst>
                                        </p:cTn>
                                        <p:tgtEl>
                                          <p:spTgt spid="13"/>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580">
                                          <p:stCondLst>
                                            <p:cond delay="0"/>
                                          </p:stCondLst>
                                        </p:cTn>
                                        <p:tgtEl>
                                          <p:spTgt spid="14"/>
                                        </p:tgtEl>
                                      </p:cBhvr>
                                    </p:animEffect>
                                    <p:anim calcmode="lin" valueType="num">
                                      <p:cBhvr>
                                        <p:cTn id="40"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45" dur="26">
                                          <p:stCondLst>
                                            <p:cond delay="650"/>
                                          </p:stCondLst>
                                        </p:cTn>
                                        <p:tgtEl>
                                          <p:spTgt spid="14"/>
                                        </p:tgtEl>
                                      </p:cBhvr>
                                      <p:to x="100000" y="60000"/>
                                    </p:animScale>
                                    <p:animScale>
                                      <p:cBhvr>
                                        <p:cTn id="46" dur="166" decel="50000">
                                          <p:stCondLst>
                                            <p:cond delay="676"/>
                                          </p:stCondLst>
                                        </p:cTn>
                                        <p:tgtEl>
                                          <p:spTgt spid="14"/>
                                        </p:tgtEl>
                                      </p:cBhvr>
                                      <p:to x="100000" y="100000"/>
                                    </p:animScale>
                                    <p:animScale>
                                      <p:cBhvr>
                                        <p:cTn id="47" dur="26">
                                          <p:stCondLst>
                                            <p:cond delay="1312"/>
                                          </p:stCondLst>
                                        </p:cTn>
                                        <p:tgtEl>
                                          <p:spTgt spid="14"/>
                                        </p:tgtEl>
                                      </p:cBhvr>
                                      <p:to x="100000" y="80000"/>
                                    </p:animScale>
                                    <p:animScale>
                                      <p:cBhvr>
                                        <p:cTn id="48" dur="166" decel="50000">
                                          <p:stCondLst>
                                            <p:cond delay="1338"/>
                                          </p:stCondLst>
                                        </p:cTn>
                                        <p:tgtEl>
                                          <p:spTgt spid="14"/>
                                        </p:tgtEl>
                                      </p:cBhvr>
                                      <p:to x="100000" y="100000"/>
                                    </p:animScale>
                                    <p:animScale>
                                      <p:cBhvr>
                                        <p:cTn id="49" dur="26">
                                          <p:stCondLst>
                                            <p:cond delay="1642"/>
                                          </p:stCondLst>
                                        </p:cTn>
                                        <p:tgtEl>
                                          <p:spTgt spid="14"/>
                                        </p:tgtEl>
                                      </p:cBhvr>
                                      <p:to x="100000" y="90000"/>
                                    </p:animScale>
                                    <p:animScale>
                                      <p:cBhvr>
                                        <p:cTn id="50" dur="166" decel="50000">
                                          <p:stCondLst>
                                            <p:cond delay="1668"/>
                                          </p:stCondLst>
                                        </p:cTn>
                                        <p:tgtEl>
                                          <p:spTgt spid="14"/>
                                        </p:tgtEl>
                                      </p:cBhvr>
                                      <p:to x="100000" y="100000"/>
                                    </p:animScale>
                                    <p:animScale>
                                      <p:cBhvr>
                                        <p:cTn id="51" dur="26">
                                          <p:stCondLst>
                                            <p:cond delay="1808"/>
                                          </p:stCondLst>
                                        </p:cTn>
                                        <p:tgtEl>
                                          <p:spTgt spid="14"/>
                                        </p:tgtEl>
                                      </p:cBhvr>
                                      <p:to x="100000" y="95000"/>
                                    </p:animScale>
                                    <p:animScale>
                                      <p:cBhvr>
                                        <p:cTn id="52" dur="166" decel="50000">
                                          <p:stCondLst>
                                            <p:cond delay="1834"/>
                                          </p:stCondLst>
                                        </p:cTn>
                                        <p:tgtEl>
                                          <p:spTgt spid="1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580">
                                          <p:stCondLst>
                                            <p:cond delay="0"/>
                                          </p:stCondLst>
                                        </p:cTn>
                                        <p:tgtEl>
                                          <p:spTgt spid="18"/>
                                        </p:tgtEl>
                                      </p:cBhvr>
                                    </p:animEffect>
                                    <p:anim calcmode="lin" valueType="num">
                                      <p:cBhvr>
                                        <p:cTn id="5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61" dur="26">
                                          <p:stCondLst>
                                            <p:cond delay="650"/>
                                          </p:stCondLst>
                                        </p:cTn>
                                        <p:tgtEl>
                                          <p:spTgt spid="18"/>
                                        </p:tgtEl>
                                      </p:cBhvr>
                                      <p:to x="100000" y="60000"/>
                                    </p:animScale>
                                    <p:animScale>
                                      <p:cBhvr>
                                        <p:cTn id="62" dur="166" decel="50000">
                                          <p:stCondLst>
                                            <p:cond delay="676"/>
                                          </p:stCondLst>
                                        </p:cTn>
                                        <p:tgtEl>
                                          <p:spTgt spid="18"/>
                                        </p:tgtEl>
                                      </p:cBhvr>
                                      <p:to x="100000" y="100000"/>
                                    </p:animScale>
                                    <p:animScale>
                                      <p:cBhvr>
                                        <p:cTn id="63" dur="26">
                                          <p:stCondLst>
                                            <p:cond delay="1312"/>
                                          </p:stCondLst>
                                        </p:cTn>
                                        <p:tgtEl>
                                          <p:spTgt spid="18"/>
                                        </p:tgtEl>
                                      </p:cBhvr>
                                      <p:to x="100000" y="80000"/>
                                    </p:animScale>
                                    <p:animScale>
                                      <p:cBhvr>
                                        <p:cTn id="64" dur="166" decel="50000">
                                          <p:stCondLst>
                                            <p:cond delay="1338"/>
                                          </p:stCondLst>
                                        </p:cTn>
                                        <p:tgtEl>
                                          <p:spTgt spid="18"/>
                                        </p:tgtEl>
                                      </p:cBhvr>
                                      <p:to x="100000" y="100000"/>
                                    </p:animScale>
                                    <p:animScale>
                                      <p:cBhvr>
                                        <p:cTn id="65" dur="26">
                                          <p:stCondLst>
                                            <p:cond delay="1642"/>
                                          </p:stCondLst>
                                        </p:cTn>
                                        <p:tgtEl>
                                          <p:spTgt spid="18"/>
                                        </p:tgtEl>
                                      </p:cBhvr>
                                      <p:to x="100000" y="90000"/>
                                    </p:animScale>
                                    <p:animScale>
                                      <p:cBhvr>
                                        <p:cTn id="66" dur="166" decel="50000">
                                          <p:stCondLst>
                                            <p:cond delay="1668"/>
                                          </p:stCondLst>
                                        </p:cTn>
                                        <p:tgtEl>
                                          <p:spTgt spid="18"/>
                                        </p:tgtEl>
                                      </p:cBhvr>
                                      <p:to x="100000" y="100000"/>
                                    </p:animScale>
                                    <p:animScale>
                                      <p:cBhvr>
                                        <p:cTn id="67" dur="26">
                                          <p:stCondLst>
                                            <p:cond delay="1808"/>
                                          </p:stCondLst>
                                        </p:cTn>
                                        <p:tgtEl>
                                          <p:spTgt spid="18"/>
                                        </p:tgtEl>
                                      </p:cBhvr>
                                      <p:to x="100000" y="95000"/>
                                    </p:animScale>
                                    <p:animScale>
                                      <p:cBhvr>
                                        <p:cTn id="68" dur="166" decel="50000">
                                          <p:stCondLst>
                                            <p:cond delay="1834"/>
                                          </p:stCondLst>
                                        </p:cTn>
                                        <p:tgtEl>
                                          <p:spTgt spid="18"/>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down)">
                                      <p:cBhvr>
                                        <p:cTn id="71" dur="580">
                                          <p:stCondLst>
                                            <p:cond delay="0"/>
                                          </p:stCondLst>
                                        </p:cTn>
                                        <p:tgtEl>
                                          <p:spTgt spid="17"/>
                                        </p:tgtEl>
                                      </p:cBhvr>
                                    </p:animEffect>
                                    <p:anim calcmode="lin" valueType="num">
                                      <p:cBhvr>
                                        <p:cTn id="72"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77" dur="26">
                                          <p:stCondLst>
                                            <p:cond delay="650"/>
                                          </p:stCondLst>
                                        </p:cTn>
                                        <p:tgtEl>
                                          <p:spTgt spid="17"/>
                                        </p:tgtEl>
                                      </p:cBhvr>
                                      <p:to x="100000" y="60000"/>
                                    </p:animScale>
                                    <p:animScale>
                                      <p:cBhvr>
                                        <p:cTn id="78" dur="166" decel="50000">
                                          <p:stCondLst>
                                            <p:cond delay="676"/>
                                          </p:stCondLst>
                                        </p:cTn>
                                        <p:tgtEl>
                                          <p:spTgt spid="17"/>
                                        </p:tgtEl>
                                      </p:cBhvr>
                                      <p:to x="100000" y="100000"/>
                                    </p:animScale>
                                    <p:animScale>
                                      <p:cBhvr>
                                        <p:cTn id="79" dur="26">
                                          <p:stCondLst>
                                            <p:cond delay="1312"/>
                                          </p:stCondLst>
                                        </p:cTn>
                                        <p:tgtEl>
                                          <p:spTgt spid="17"/>
                                        </p:tgtEl>
                                      </p:cBhvr>
                                      <p:to x="100000" y="80000"/>
                                    </p:animScale>
                                    <p:animScale>
                                      <p:cBhvr>
                                        <p:cTn id="80" dur="166" decel="50000">
                                          <p:stCondLst>
                                            <p:cond delay="1338"/>
                                          </p:stCondLst>
                                        </p:cTn>
                                        <p:tgtEl>
                                          <p:spTgt spid="17"/>
                                        </p:tgtEl>
                                      </p:cBhvr>
                                      <p:to x="100000" y="100000"/>
                                    </p:animScale>
                                    <p:animScale>
                                      <p:cBhvr>
                                        <p:cTn id="81" dur="26">
                                          <p:stCondLst>
                                            <p:cond delay="1642"/>
                                          </p:stCondLst>
                                        </p:cTn>
                                        <p:tgtEl>
                                          <p:spTgt spid="17"/>
                                        </p:tgtEl>
                                      </p:cBhvr>
                                      <p:to x="100000" y="90000"/>
                                    </p:animScale>
                                    <p:animScale>
                                      <p:cBhvr>
                                        <p:cTn id="82" dur="166" decel="50000">
                                          <p:stCondLst>
                                            <p:cond delay="1668"/>
                                          </p:stCondLst>
                                        </p:cTn>
                                        <p:tgtEl>
                                          <p:spTgt spid="17"/>
                                        </p:tgtEl>
                                      </p:cBhvr>
                                      <p:to x="100000" y="100000"/>
                                    </p:animScale>
                                    <p:animScale>
                                      <p:cBhvr>
                                        <p:cTn id="83" dur="26">
                                          <p:stCondLst>
                                            <p:cond delay="1808"/>
                                          </p:stCondLst>
                                        </p:cTn>
                                        <p:tgtEl>
                                          <p:spTgt spid="17"/>
                                        </p:tgtEl>
                                      </p:cBhvr>
                                      <p:to x="100000" y="95000"/>
                                    </p:animScale>
                                    <p:animScale>
                                      <p:cBhvr>
                                        <p:cTn id="84" dur="166" decel="50000">
                                          <p:stCondLst>
                                            <p:cond delay="1834"/>
                                          </p:stCondLst>
                                        </p:cTn>
                                        <p:tgtEl>
                                          <p:spTgt spid="17"/>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wipe(down)">
                                      <p:cBhvr>
                                        <p:cTn id="87" dur="580">
                                          <p:stCondLst>
                                            <p:cond delay="0"/>
                                          </p:stCondLst>
                                        </p:cTn>
                                        <p:tgtEl>
                                          <p:spTgt spid="19"/>
                                        </p:tgtEl>
                                      </p:cBhvr>
                                    </p:animEffect>
                                    <p:anim calcmode="lin" valueType="num">
                                      <p:cBhvr>
                                        <p:cTn id="88"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93" dur="26">
                                          <p:stCondLst>
                                            <p:cond delay="650"/>
                                          </p:stCondLst>
                                        </p:cTn>
                                        <p:tgtEl>
                                          <p:spTgt spid="19"/>
                                        </p:tgtEl>
                                      </p:cBhvr>
                                      <p:to x="100000" y="60000"/>
                                    </p:animScale>
                                    <p:animScale>
                                      <p:cBhvr>
                                        <p:cTn id="94" dur="166" decel="50000">
                                          <p:stCondLst>
                                            <p:cond delay="676"/>
                                          </p:stCondLst>
                                        </p:cTn>
                                        <p:tgtEl>
                                          <p:spTgt spid="19"/>
                                        </p:tgtEl>
                                      </p:cBhvr>
                                      <p:to x="100000" y="100000"/>
                                    </p:animScale>
                                    <p:animScale>
                                      <p:cBhvr>
                                        <p:cTn id="95" dur="26">
                                          <p:stCondLst>
                                            <p:cond delay="1312"/>
                                          </p:stCondLst>
                                        </p:cTn>
                                        <p:tgtEl>
                                          <p:spTgt spid="19"/>
                                        </p:tgtEl>
                                      </p:cBhvr>
                                      <p:to x="100000" y="80000"/>
                                    </p:animScale>
                                    <p:animScale>
                                      <p:cBhvr>
                                        <p:cTn id="96" dur="166" decel="50000">
                                          <p:stCondLst>
                                            <p:cond delay="1338"/>
                                          </p:stCondLst>
                                        </p:cTn>
                                        <p:tgtEl>
                                          <p:spTgt spid="19"/>
                                        </p:tgtEl>
                                      </p:cBhvr>
                                      <p:to x="100000" y="100000"/>
                                    </p:animScale>
                                    <p:animScale>
                                      <p:cBhvr>
                                        <p:cTn id="97" dur="26">
                                          <p:stCondLst>
                                            <p:cond delay="1642"/>
                                          </p:stCondLst>
                                        </p:cTn>
                                        <p:tgtEl>
                                          <p:spTgt spid="19"/>
                                        </p:tgtEl>
                                      </p:cBhvr>
                                      <p:to x="100000" y="90000"/>
                                    </p:animScale>
                                    <p:animScale>
                                      <p:cBhvr>
                                        <p:cTn id="98" dur="166" decel="50000">
                                          <p:stCondLst>
                                            <p:cond delay="1668"/>
                                          </p:stCondLst>
                                        </p:cTn>
                                        <p:tgtEl>
                                          <p:spTgt spid="19"/>
                                        </p:tgtEl>
                                      </p:cBhvr>
                                      <p:to x="100000" y="100000"/>
                                    </p:animScale>
                                    <p:animScale>
                                      <p:cBhvr>
                                        <p:cTn id="99" dur="26">
                                          <p:stCondLst>
                                            <p:cond delay="1808"/>
                                          </p:stCondLst>
                                        </p:cTn>
                                        <p:tgtEl>
                                          <p:spTgt spid="19"/>
                                        </p:tgtEl>
                                      </p:cBhvr>
                                      <p:to x="100000" y="95000"/>
                                    </p:animScale>
                                    <p:animScale>
                                      <p:cBhvr>
                                        <p:cTn id="100" dur="166" decel="50000">
                                          <p:stCondLst>
                                            <p:cond delay="1834"/>
                                          </p:stCondLst>
                                        </p:cTn>
                                        <p:tgtEl>
                                          <p:spTgt spid="19"/>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wipe(down)">
                                      <p:cBhvr>
                                        <p:cTn id="103" dur="580">
                                          <p:stCondLst>
                                            <p:cond delay="0"/>
                                          </p:stCondLst>
                                        </p:cTn>
                                        <p:tgtEl>
                                          <p:spTgt spid="15"/>
                                        </p:tgtEl>
                                      </p:cBhvr>
                                    </p:animEffect>
                                    <p:anim calcmode="lin" valueType="num">
                                      <p:cBhvr>
                                        <p:cTn id="104"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09" dur="26">
                                          <p:stCondLst>
                                            <p:cond delay="650"/>
                                          </p:stCondLst>
                                        </p:cTn>
                                        <p:tgtEl>
                                          <p:spTgt spid="15"/>
                                        </p:tgtEl>
                                      </p:cBhvr>
                                      <p:to x="100000" y="60000"/>
                                    </p:animScale>
                                    <p:animScale>
                                      <p:cBhvr>
                                        <p:cTn id="110" dur="166" decel="50000">
                                          <p:stCondLst>
                                            <p:cond delay="676"/>
                                          </p:stCondLst>
                                        </p:cTn>
                                        <p:tgtEl>
                                          <p:spTgt spid="15"/>
                                        </p:tgtEl>
                                      </p:cBhvr>
                                      <p:to x="100000" y="100000"/>
                                    </p:animScale>
                                    <p:animScale>
                                      <p:cBhvr>
                                        <p:cTn id="111" dur="26">
                                          <p:stCondLst>
                                            <p:cond delay="1312"/>
                                          </p:stCondLst>
                                        </p:cTn>
                                        <p:tgtEl>
                                          <p:spTgt spid="15"/>
                                        </p:tgtEl>
                                      </p:cBhvr>
                                      <p:to x="100000" y="80000"/>
                                    </p:animScale>
                                    <p:animScale>
                                      <p:cBhvr>
                                        <p:cTn id="112" dur="166" decel="50000">
                                          <p:stCondLst>
                                            <p:cond delay="1338"/>
                                          </p:stCondLst>
                                        </p:cTn>
                                        <p:tgtEl>
                                          <p:spTgt spid="15"/>
                                        </p:tgtEl>
                                      </p:cBhvr>
                                      <p:to x="100000" y="100000"/>
                                    </p:animScale>
                                    <p:animScale>
                                      <p:cBhvr>
                                        <p:cTn id="113" dur="26">
                                          <p:stCondLst>
                                            <p:cond delay="1642"/>
                                          </p:stCondLst>
                                        </p:cTn>
                                        <p:tgtEl>
                                          <p:spTgt spid="15"/>
                                        </p:tgtEl>
                                      </p:cBhvr>
                                      <p:to x="100000" y="90000"/>
                                    </p:animScale>
                                    <p:animScale>
                                      <p:cBhvr>
                                        <p:cTn id="114" dur="166" decel="50000">
                                          <p:stCondLst>
                                            <p:cond delay="1668"/>
                                          </p:stCondLst>
                                        </p:cTn>
                                        <p:tgtEl>
                                          <p:spTgt spid="15"/>
                                        </p:tgtEl>
                                      </p:cBhvr>
                                      <p:to x="100000" y="100000"/>
                                    </p:animScale>
                                    <p:animScale>
                                      <p:cBhvr>
                                        <p:cTn id="115" dur="26">
                                          <p:stCondLst>
                                            <p:cond delay="1808"/>
                                          </p:stCondLst>
                                        </p:cTn>
                                        <p:tgtEl>
                                          <p:spTgt spid="15"/>
                                        </p:tgtEl>
                                      </p:cBhvr>
                                      <p:to x="100000" y="95000"/>
                                    </p:animScale>
                                    <p:animScale>
                                      <p:cBhvr>
                                        <p:cTn id="116" dur="166" decel="50000">
                                          <p:stCondLst>
                                            <p:cond delay="1834"/>
                                          </p:stCondLst>
                                        </p:cTn>
                                        <p:tgtEl>
                                          <p:spTgt spid="15"/>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6"/>
                                        </p:tgtEl>
                                        <p:attrNameLst>
                                          <p:attrName>style.visibility</p:attrName>
                                        </p:attrNameLst>
                                      </p:cBhvr>
                                      <p:to>
                                        <p:strVal val="visible"/>
                                      </p:to>
                                    </p:set>
                                    <p:animEffect transition="in" filter="wipe(down)">
                                      <p:cBhvr>
                                        <p:cTn id="119" dur="580">
                                          <p:stCondLst>
                                            <p:cond delay="0"/>
                                          </p:stCondLst>
                                        </p:cTn>
                                        <p:tgtEl>
                                          <p:spTgt spid="16"/>
                                        </p:tgtEl>
                                      </p:cBhvr>
                                    </p:animEffect>
                                    <p:anim calcmode="lin" valueType="num">
                                      <p:cBhvr>
                                        <p:cTn id="12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gtEl>
                                      </p:cBhvr>
                                      <p:to x="100000" y="60000"/>
                                    </p:animScale>
                                    <p:animScale>
                                      <p:cBhvr>
                                        <p:cTn id="126" dur="166" decel="50000">
                                          <p:stCondLst>
                                            <p:cond delay="676"/>
                                          </p:stCondLst>
                                        </p:cTn>
                                        <p:tgtEl>
                                          <p:spTgt spid="16"/>
                                        </p:tgtEl>
                                      </p:cBhvr>
                                      <p:to x="100000" y="100000"/>
                                    </p:animScale>
                                    <p:animScale>
                                      <p:cBhvr>
                                        <p:cTn id="127" dur="26">
                                          <p:stCondLst>
                                            <p:cond delay="1312"/>
                                          </p:stCondLst>
                                        </p:cTn>
                                        <p:tgtEl>
                                          <p:spTgt spid="16"/>
                                        </p:tgtEl>
                                      </p:cBhvr>
                                      <p:to x="100000" y="80000"/>
                                    </p:animScale>
                                    <p:animScale>
                                      <p:cBhvr>
                                        <p:cTn id="128" dur="166" decel="50000">
                                          <p:stCondLst>
                                            <p:cond delay="1338"/>
                                          </p:stCondLst>
                                        </p:cTn>
                                        <p:tgtEl>
                                          <p:spTgt spid="16"/>
                                        </p:tgtEl>
                                      </p:cBhvr>
                                      <p:to x="100000" y="100000"/>
                                    </p:animScale>
                                    <p:animScale>
                                      <p:cBhvr>
                                        <p:cTn id="129" dur="26">
                                          <p:stCondLst>
                                            <p:cond delay="1642"/>
                                          </p:stCondLst>
                                        </p:cTn>
                                        <p:tgtEl>
                                          <p:spTgt spid="16"/>
                                        </p:tgtEl>
                                      </p:cBhvr>
                                      <p:to x="100000" y="90000"/>
                                    </p:animScale>
                                    <p:animScale>
                                      <p:cBhvr>
                                        <p:cTn id="130" dur="166" decel="50000">
                                          <p:stCondLst>
                                            <p:cond delay="1668"/>
                                          </p:stCondLst>
                                        </p:cTn>
                                        <p:tgtEl>
                                          <p:spTgt spid="16"/>
                                        </p:tgtEl>
                                      </p:cBhvr>
                                      <p:to x="100000" y="100000"/>
                                    </p:animScale>
                                    <p:animScale>
                                      <p:cBhvr>
                                        <p:cTn id="131" dur="26">
                                          <p:stCondLst>
                                            <p:cond delay="1808"/>
                                          </p:stCondLst>
                                        </p:cTn>
                                        <p:tgtEl>
                                          <p:spTgt spid="16"/>
                                        </p:tgtEl>
                                      </p:cBhvr>
                                      <p:to x="100000" y="95000"/>
                                    </p:animScale>
                                    <p:animScale>
                                      <p:cBhvr>
                                        <p:cTn id="132"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3"/>
          <p:cNvPicPr preferRelativeResize="0"/>
          <p:nvPr/>
        </p:nvPicPr>
        <p:blipFill>
          <a:blip r:embed="rId3">
            <a:alphaModFix/>
          </a:blip>
          <a:stretch>
            <a:fillRect/>
          </a:stretch>
        </p:blipFill>
        <p:spPr>
          <a:xfrm>
            <a:off x="7905000" y="0"/>
            <a:ext cx="4283725" cy="6858000"/>
          </a:xfrm>
          <a:prstGeom prst="rect">
            <a:avLst/>
          </a:prstGeom>
          <a:noFill/>
          <a:ln>
            <a:noFill/>
          </a:ln>
        </p:spPr>
      </p:pic>
      <p:pic>
        <p:nvPicPr>
          <p:cNvPr id="237" name="Google Shape;237;p23"/>
          <p:cNvPicPr preferRelativeResize="0"/>
          <p:nvPr/>
        </p:nvPicPr>
        <p:blipFill rotWithShape="1">
          <a:blip r:embed="rId4">
            <a:alphaModFix/>
          </a:blip>
          <a:srcRect/>
          <a:stretch/>
        </p:blipFill>
        <p:spPr>
          <a:xfrm rot="-589488">
            <a:off x="566055" y="670537"/>
            <a:ext cx="202415" cy="158251"/>
          </a:xfrm>
          <a:prstGeom prst="rect">
            <a:avLst/>
          </a:prstGeom>
          <a:noFill/>
          <a:ln>
            <a:noFill/>
          </a:ln>
        </p:spPr>
      </p:pic>
      <p:pic>
        <p:nvPicPr>
          <p:cNvPr id="238" name="Google Shape;238;p23"/>
          <p:cNvPicPr preferRelativeResize="0"/>
          <p:nvPr/>
        </p:nvPicPr>
        <p:blipFill rotWithShape="1">
          <a:blip r:embed="rId5">
            <a:alphaModFix/>
          </a:blip>
          <a:srcRect/>
          <a:stretch/>
        </p:blipFill>
        <p:spPr>
          <a:xfrm rot="-605715">
            <a:off x="4233719" y="608808"/>
            <a:ext cx="124112" cy="97032"/>
          </a:xfrm>
          <a:prstGeom prst="rect">
            <a:avLst/>
          </a:prstGeom>
          <a:noFill/>
          <a:ln>
            <a:noFill/>
          </a:ln>
        </p:spPr>
      </p:pic>
      <p:pic>
        <p:nvPicPr>
          <p:cNvPr id="239" name="Google Shape;239;p23"/>
          <p:cNvPicPr preferRelativeResize="0"/>
          <p:nvPr/>
        </p:nvPicPr>
        <p:blipFill rotWithShape="1">
          <a:blip r:embed="rId6">
            <a:alphaModFix/>
          </a:blip>
          <a:srcRect/>
          <a:stretch/>
        </p:blipFill>
        <p:spPr>
          <a:xfrm>
            <a:off x="9851269" y="838200"/>
            <a:ext cx="1544422" cy="774338"/>
          </a:xfrm>
          <a:prstGeom prst="rect">
            <a:avLst/>
          </a:prstGeom>
          <a:noFill/>
          <a:ln>
            <a:noFill/>
          </a:ln>
        </p:spPr>
      </p:pic>
      <p:grpSp>
        <p:nvGrpSpPr>
          <p:cNvPr id="240" name="Google Shape;240;p23"/>
          <p:cNvGrpSpPr/>
          <p:nvPr/>
        </p:nvGrpSpPr>
        <p:grpSpPr>
          <a:xfrm>
            <a:off x="7251700" y="4101654"/>
            <a:ext cx="5156200" cy="2388046"/>
            <a:chOff x="6337300" y="2806700"/>
            <a:chExt cx="7924800" cy="3670299"/>
          </a:xfrm>
        </p:grpSpPr>
        <p:pic>
          <p:nvPicPr>
            <p:cNvPr id="241" name="Google Shape;241;p23" descr="A black background with a black square&#10;&#10;Description automatically generated with medium confidence"/>
            <p:cNvPicPr preferRelativeResize="0"/>
            <p:nvPr/>
          </p:nvPicPr>
          <p:blipFill rotWithShape="1">
            <a:blip r:embed="rId7">
              <a:alphaModFix/>
            </a:blip>
            <a:srcRect/>
            <a:stretch/>
          </p:blipFill>
          <p:spPr>
            <a:xfrm>
              <a:off x="6337300" y="6045200"/>
              <a:ext cx="7924800" cy="406400"/>
            </a:xfrm>
            <a:prstGeom prst="rect">
              <a:avLst/>
            </a:prstGeom>
            <a:noFill/>
            <a:ln>
              <a:noFill/>
            </a:ln>
          </p:spPr>
        </p:pic>
        <p:pic>
          <p:nvPicPr>
            <p:cNvPr id="242" name="Google Shape;242;p23" descr="A sandwich on a plate&#10;&#10;Description automatically generated"/>
            <p:cNvPicPr preferRelativeResize="0"/>
            <p:nvPr/>
          </p:nvPicPr>
          <p:blipFill rotWithShape="1">
            <a:blip r:embed="rId8">
              <a:alphaModFix/>
            </a:blip>
            <a:srcRect/>
            <a:stretch/>
          </p:blipFill>
          <p:spPr>
            <a:xfrm>
              <a:off x="7442200" y="2806700"/>
              <a:ext cx="5505447" cy="3670299"/>
            </a:xfrm>
            <a:prstGeom prst="rect">
              <a:avLst/>
            </a:prstGeom>
            <a:noFill/>
            <a:ln>
              <a:noFill/>
            </a:ln>
          </p:spPr>
        </p:pic>
      </p:grpSp>
      <p:grpSp>
        <p:nvGrpSpPr>
          <p:cNvPr id="243" name="Google Shape;243;p23"/>
          <p:cNvGrpSpPr/>
          <p:nvPr/>
        </p:nvGrpSpPr>
        <p:grpSpPr>
          <a:xfrm>
            <a:off x="9480550" y="2667270"/>
            <a:ext cx="2408036" cy="513810"/>
            <a:chOff x="8753449" y="924310"/>
            <a:chExt cx="3134840" cy="668892"/>
          </a:xfrm>
        </p:grpSpPr>
        <p:sp>
          <p:nvSpPr>
            <p:cNvPr id="244" name="Google Shape;244;p23"/>
            <p:cNvSpPr/>
            <p:nvPr/>
          </p:nvSpPr>
          <p:spPr>
            <a:xfrm>
              <a:off x="9719843" y="1061808"/>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3"/>
            <p:cNvSpPr/>
            <p:nvPr/>
          </p:nvSpPr>
          <p:spPr>
            <a:xfrm>
              <a:off x="11396025" y="1058258"/>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23"/>
            <p:cNvSpPr/>
            <p:nvPr/>
          </p:nvSpPr>
          <p:spPr>
            <a:xfrm>
              <a:off x="9226948" y="106318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3"/>
            <p:cNvSpPr/>
            <p:nvPr/>
          </p:nvSpPr>
          <p:spPr>
            <a:xfrm>
              <a:off x="10524707" y="1048975"/>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3"/>
            <p:cNvSpPr/>
            <p:nvPr/>
          </p:nvSpPr>
          <p:spPr>
            <a:xfrm>
              <a:off x="8753449" y="1078689"/>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3"/>
            <p:cNvSpPr/>
            <p:nvPr/>
          </p:nvSpPr>
          <p:spPr>
            <a:xfrm>
              <a:off x="11051998" y="924310"/>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50" name="Google Shape;250;p23"/>
          <p:cNvSpPr txBox="1"/>
          <p:nvPr/>
        </p:nvSpPr>
        <p:spPr>
          <a:xfrm>
            <a:off x="898020" y="1025277"/>
            <a:ext cx="8341800" cy="72939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200" b="0" i="0" dirty="0">
                <a:solidFill>
                  <a:srgbClr val="0C0C0C"/>
                </a:solidFill>
                <a:latin typeface="Calibri"/>
                <a:ea typeface="Calibri"/>
                <a:cs typeface="Calibri"/>
                <a:sym typeface="Calibri"/>
              </a:rPr>
              <a:t>Zomato is a leading food tech platform that offers a wide range of services to enhance the dining experience—from swift food delivery to convenient table reservations. Users can explore restaurants through powerful discovery tools, unlock exciting deals and offers, and access several other features designed to make eating out or ordering in seamless, personalized, and rewarding.</a:t>
            </a:r>
            <a:endParaRPr lang="en-US" sz="1200" dirty="0">
              <a:solidFill>
                <a:srgbClr val="0C0C0C"/>
              </a:solidFill>
              <a:latin typeface="Calibri"/>
              <a:ea typeface="Calibri"/>
              <a:cs typeface="Calibri"/>
              <a:sym typeface="Calibri"/>
            </a:endParaRPr>
          </a:p>
        </p:txBody>
      </p:sp>
      <p:sp>
        <p:nvSpPr>
          <p:cNvPr id="251" name="Google Shape;251;p23"/>
          <p:cNvSpPr/>
          <p:nvPr/>
        </p:nvSpPr>
        <p:spPr>
          <a:xfrm>
            <a:off x="803275" y="2100585"/>
            <a:ext cx="3133725" cy="1574800"/>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23"/>
          <p:cNvSpPr/>
          <p:nvPr/>
        </p:nvSpPr>
        <p:spPr>
          <a:xfrm>
            <a:off x="2078195" y="1813407"/>
            <a:ext cx="583884" cy="583882"/>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23"/>
          <p:cNvSpPr/>
          <p:nvPr/>
        </p:nvSpPr>
        <p:spPr>
          <a:xfrm>
            <a:off x="2212301" y="1916580"/>
            <a:ext cx="315672" cy="377536"/>
          </a:xfrm>
          <a:custGeom>
            <a:avLst/>
            <a:gdLst/>
            <a:ahLst/>
            <a:cxnLst/>
            <a:rect l="l" t="t" r="r" b="b"/>
            <a:pathLst>
              <a:path w="460171" h="550354" extrusionOk="0">
                <a:moveTo>
                  <a:pt x="358712" y="333756"/>
                </a:moveTo>
                <a:lnTo>
                  <a:pt x="3048" y="333756"/>
                </a:lnTo>
                <a:cubicBezTo>
                  <a:pt x="2191" y="325469"/>
                  <a:pt x="1238" y="317087"/>
                  <a:pt x="0" y="308420"/>
                </a:cubicBezTo>
                <a:lnTo>
                  <a:pt x="361760" y="308420"/>
                </a:lnTo>
                <a:cubicBezTo>
                  <a:pt x="360521" y="317087"/>
                  <a:pt x="359569" y="325565"/>
                  <a:pt x="358712" y="333756"/>
                </a:cubicBezTo>
                <a:close/>
                <a:moveTo>
                  <a:pt x="451961" y="455771"/>
                </a:moveTo>
                <a:cubicBezTo>
                  <a:pt x="441674" y="475298"/>
                  <a:pt x="420053" y="488823"/>
                  <a:pt x="394145" y="491966"/>
                </a:cubicBezTo>
                <a:cubicBezTo>
                  <a:pt x="389573" y="492538"/>
                  <a:pt x="384239" y="492824"/>
                  <a:pt x="378428" y="492824"/>
                </a:cubicBezTo>
                <a:cubicBezTo>
                  <a:pt x="365284" y="492824"/>
                  <a:pt x="349568" y="491490"/>
                  <a:pt x="334232" y="489109"/>
                </a:cubicBezTo>
                <a:cubicBezTo>
                  <a:pt x="321659" y="509969"/>
                  <a:pt x="300419" y="524828"/>
                  <a:pt x="263462" y="533019"/>
                </a:cubicBezTo>
                <a:lnTo>
                  <a:pt x="263462" y="550355"/>
                </a:lnTo>
                <a:lnTo>
                  <a:pt x="98393" y="550355"/>
                </a:lnTo>
                <a:lnTo>
                  <a:pt x="98393" y="533019"/>
                </a:lnTo>
                <a:cubicBezTo>
                  <a:pt x="3524" y="512064"/>
                  <a:pt x="12287" y="446913"/>
                  <a:pt x="4477" y="350330"/>
                </a:cubicBezTo>
                <a:lnTo>
                  <a:pt x="357188" y="350330"/>
                </a:lnTo>
                <a:cubicBezTo>
                  <a:pt x="356997" y="352616"/>
                  <a:pt x="356807" y="354901"/>
                  <a:pt x="356711" y="357188"/>
                </a:cubicBezTo>
                <a:cubicBezTo>
                  <a:pt x="391859" y="352901"/>
                  <a:pt x="432149" y="356616"/>
                  <a:pt x="450628" y="389858"/>
                </a:cubicBezTo>
                <a:cubicBezTo>
                  <a:pt x="466820" y="419005"/>
                  <a:pt x="459010" y="442436"/>
                  <a:pt x="451961" y="455771"/>
                </a:cubicBezTo>
                <a:close/>
                <a:moveTo>
                  <a:pt x="430721" y="398240"/>
                </a:moveTo>
                <a:cubicBezTo>
                  <a:pt x="417386" y="378143"/>
                  <a:pt x="384905" y="372618"/>
                  <a:pt x="355092" y="380143"/>
                </a:cubicBezTo>
                <a:cubicBezTo>
                  <a:pt x="353187" y="410242"/>
                  <a:pt x="351663" y="436531"/>
                  <a:pt x="346139" y="458819"/>
                </a:cubicBezTo>
                <a:cubicBezTo>
                  <a:pt x="360045" y="462344"/>
                  <a:pt x="374428" y="464630"/>
                  <a:pt x="386048" y="463963"/>
                </a:cubicBezTo>
                <a:cubicBezTo>
                  <a:pt x="399479" y="463201"/>
                  <a:pt x="417862" y="462153"/>
                  <a:pt x="430530" y="446627"/>
                </a:cubicBezTo>
                <a:cubicBezTo>
                  <a:pt x="437007" y="438626"/>
                  <a:pt x="441770" y="415004"/>
                  <a:pt x="430625" y="398336"/>
                </a:cubicBezTo>
                <a:close/>
                <a:moveTo>
                  <a:pt x="97250" y="142875"/>
                </a:moveTo>
                <a:cubicBezTo>
                  <a:pt x="72295" y="201835"/>
                  <a:pt x="81629" y="251651"/>
                  <a:pt x="104394" y="280035"/>
                </a:cubicBezTo>
                <a:cubicBezTo>
                  <a:pt x="100203" y="221552"/>
                  <a:pt x="100679" y="196691"/>
                  <a:pt x="124016" y="147638"/>
                </a:cubicBezTo>
                <a:cubicBezTo>
                  <a:pt x="147352" y="98584"/>
                  <a:pt x="103346" y="66199"/>
                  <a:pt x="73533" y="52673"/>
                </a:cubicBezTo>
                <a:cubicBezTo>
                  <a:pt x="73533" y="52673"/>
                  <a:pt x="122301" y="83915"/>
                  <a:pt x="97346" y="142875"/>
                </a:cubicBezTo>
                <a:close/>
                <a:moveTo>
                  <a:pt x="231077" y="139256"/>
                </a:moveTo>
                <a:cubicBezTo>
                  <a:pt x="206121" y="198215"/>
                  <a:pt x="215456" y="247936"/>
                  <a:pt x="238220" y="276416"/>
                </a:cubicBezTo>
                <a:cubicBezTo>
                  <a:pt x="234029" y="217932"/>
                  <a:pt x="234506" y="193072"/>
                  <a:pt x="257842" y="144018"/>
                </a:cubicBezTo>
                <a:cubicBezTo>
                  <a:pt x="281178" y="94964"/>
                  <a:pt x="237173" y="62579"/>
                  <a:pt x="207359" y="49054"/>
                </a:cubicBezTo>
                <a:cubicBezTo>
                  <a:pt x="207359" y="49054"/>
                  <a:pt x="256127" y="80296"/>
                  <a:pt x="231172" y="139256"/>
                </a:cubicBezTo>
                <a:close/>
                <a:moveTo>
                  <a:pt x="164402" y="90202"/>
                </a:moveTo>
                <a:cubicBezTo>
                  <a:pt x="139446" y="149162"/>
                  <a:pt x="148781" y="198882"/>
                  <a:pt x="171545" y="227362"/>
                </a:cubicBezTo>
                <a:cubicBezTo>
                  <a:pt x="167354" y="168878"/>
                  <a:pt x="167831" y="144018"/>
                  <a:pt x="191167" y="94964"/>
                </a:cubicBezTo>
                <a:cubicBezTo>
                  <a:pt x="214503" y="45911"/>
                  <a:pt x="170498" y="13526"/>
                  <a:pt x="140684" y="0"/>
                </a:cubicBezTo>
                <a:cubicBezTo>
                  <a:pt x="140684" y="0"/>
                  <a:pt x="189452" y="31242"/>
                  <a:pt x="164497" y="902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p23"/>
          <p:cNvSpPr txBox="1"/>
          <p:nvPr/>
        </p:nvSpPr>
        <p:spPr>
          <a:xfrm>
            <a:off x="946739" y="2744534"/>
            <a:ext cx="2846700" cy="94175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b="0" i="0" dirty="0">
                <a:solidFill>
                  <a:schemeClr val="lt1"/>
                </a:solidFill>
                <a:latin typeface="Calibri"/>
                <a:ea typeface="Calibri"/>
                <a:cs typeface="Calibri"/>
                <a:sym typeface="Calibri"/>
              </a:rPr>
              <a:t>Zomato is India’s leading food delivery platform that connects users with thousands of restaurants for quick, reliable </a:t>
            </a:r>
            <a:r>
              <a:rPr lang="en-US" sz="1200" b="1" i="0" dirty="0">
                <a:solidFill>
                  <a:schemeClr val="lt1"/>
                </a:solidFill>
                <a:latin typeface="Calibri"/>
                <a:ea typeface="Calibri"/>
                <a:cs typeface="Calibri"/>
                <a:sym typeface="Calibri"/>
              </a:rPr>
              <a:t>doorstep service</a:t>
            </a:r>
            <a:r>
              <a:rPr lang="en-US" sz="1200" b="0" i="0" dirty="0">
                <a:solidFill>
                  <a:schemeClr val="lt1"/>
                </a:solidFill>
                <a:latin typeface="Calibri"/>
                <a:ea typeface="Calibri"/>
                <a:cs typeface="Calibri"/>
                <a:sym typeface="Calibri"/>
              </a:rPr>
              <a:t>. </a:t>
            </a:r>
            <a:endParaRPr lang="en-US" sz="1200" dirty="0">
              <a:solidFill>
                <a:schemeClr val="lt1"/>
              </a:solidFill>
              <a:latin typeface="Calibri"/>
              <a:ea typeface="Calibri"/>
              <a:cs typeface="Calibri"/>
              <a:sym typeface="Calibri"/>
            </a:endParaRPr>
          </a:p>
        </p:txBody>
      </p:sp>
      <p:sp>
        <p:nvSpPr>
          <p:cNvPr id="255" name="Google Shape;255;p23"/>
          <p:cNvSpPr/>
          <p:nvPr/>
        </p:nvSpPr>
        <p:spPr>
          <a:xfrm>
            <a:off x="803275" y="4326260"/>
            <a:ext cx="3133725" cy="1574800"/>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23"/>
          <p:cNvSpPr/>
          <p:nvPr/>
        </p:nvSpPr>
        <p:spPr>
          <a:xfrm>
            <a:off x="2078195" y="4039082"/>
            <a:ext cx="583884" cy="583882"/>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23"/>
          <p:cNvSpPr txBox="1"/>
          <p:nvPr/>
        </p:nvSpPr>
        <p:spPr>
          <a:xfrm>
            <a:off x="667263" y="4948532"/>
            <a:ext cx="3482224" cy="1154122"/>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b="0" i="0" dirty="0">
                <a:solidFill>
                  <a:schemeClr val="lt1"/>
                </a:solidFill>
                <a:latin typeface="Calibri"/>
                <a:ea typeface="Calibri"/>
                <a:cs typeface="Calibri"/>
                <a:sym typeface="Calibri"/>
              </a:rPr>
              <a:t> It uses smart filters, personalized recommendations, and machine learning to surface the most relevant options—whether you're </a:t>
            </a:r>
            <a:r>
              <a:rPr lang="en-US" sz="1200" b="1" i="0" dirty="0">
                <a:solidFill>
                  <a:schemeClr val="lt1"/>
                </a:solidFill>
                <a:latin typeface="Calibri"/>
                <a:ea typeface="Calibri"/>
                <a:cs typeface="Calibri"/>
                <a:sym typeface="Calibri"/>
              </a:rPr>
              <a:t>craving </a:t>
            </a:r>
            <a:r>
              <a:rPr lang="en-US" sz="1200" b="0" i="0" dirty="0">
                <a:solidFill>
                  <a:schemeClr val="lt1"/>
                </a:solidFill>
                <a:latin typeface="Calibri"/>
                <a:ea typeface="Calibri"/>
                <a:cs typeface="Calibri"/>
                <a:sym typeface="Calibri"/>
              </a:rPr>
              <a:t>sushi in South Mumbai or budget-friendly biryani in Bandra.</a:t>
            </a:r>
          </a:p>
          <a:p>
            <a:pPr marL="0" marR="0" lvl="0" indent="0" algn="ctr" rtl="0">
              <a:lnSpc>
                <a:spcPct val="115000"/>
              </a:lnSpc>
              <a:spcBef>
                <a:spcPts val="0"/>
              </a:spcBef>
              <a:spcAft>
                <a:spcPts val="0"/>
              </a:spcAft>
              <a:buNone/>
            </a:pPr>
            <a:endParaRPr lang="en-US" sz="1200" b="0" i="0" dirty="0">
              <a:solidFill>
                <a:schemeClr val="lt1"/>
              </a:solidFill>
              <a:latin typeface="Calibri"/>
              <a:ea typeface="Calibri"/>
              <a:cs typeface="Calibri"/>
              <a:sym typeface="Calibri"/>
            </a:endParaRPr>
          </a:p>
        </p:txBody>
      </p:sp>
      <p:sp>
        <p:nvSpPr>
          <p:cNvPr id="258" name="Google Shape;258;p23"/>
          <p:cNvSpPr/>
          <p:nvPr/>
        </p:nvSpPr>
        <p:spPr>
          <a:xfrm>
            <a:off x="2177469" y="4223435"/>
            <a:ext cx="385336" cy="215176"/>
          </a:xfrm>
          <a:custGeom>
            <a:avLst/>
            <a:gdLst/>
            <a:ahLst/>
            <a:cxnLst/>
            <a:rect l="l" t="t" r="r" b="b"/>
            <a:pathLst>
              <a:path w="693705" h="387381" extrusionOk="0">
                <a:moveTo>
                  <a:pt x="693706" y="361188"/>
                </a:moveTo>
                <a:cubicBezTo>
                  <a:pt x="693706" y="375571"/>
                  <a:pt x="680847" y="387382"/>
                  <a:pt x="665131" y="387382"/>
                </a:cubicBezTo>
                <a:lnTo>
                  <a:pt x="28575" y="387382"/>
                </a:lnTo>
                <a:cubicBezTo>
                  <a:pt x="12859" y="387382"/>
                  <a:pt x="0" y="375571"/>
                  <a:pt x="0" y="361188"/>
                </a:cubicBezTo>
                <a:cubicBezTo>
                  <a:pt x="0" y="346805"/>
                  <a:pt x="12859" y="334994"/>
                  <a:pt x="28575" y="334994"/>
                </a:cubicBezTo>
                <a:lnTo>
                  <a:pt x="665131" y="334994"/>
                </a:lnTo>
                <a:cubicBezTo>
                  <a:pt x="680847" y="334994"/>
                  <a:pt x="693706" y="346805"/>
                  <a:pt x="693706" y="361188"/>
                </a:cubicBezTo>
                <a:close/>
                <a:moveTo>
                  <a:pt x="380238" y="31814"/>
                </a:moveTo>
                <a:cubicBezTo>
                  <a:pt x="379381" y="14097"/>
                  <a:pt x="364808" y="0"/>
                  <a:pt x="346900" y="0"/>
                </a:cubicBezTo>
                <a:cubicBezTo>
                  <a:pt x="328994" y="0"/>
                  <a:pt x="314611" y="14002"/>
                  <a:pt x="313563" y="31623"/>
                </a:cubicBezTo>
                <a:cubicBezTo>
                  <a:pt x="324231" y="30290"/>
                  <a:pt x="335185" y="29623"/>
                  <a:pt x="346139" y="29623"/>
                </a:cubicBezTo>
                <a:cubicBezTo>
                  <a:pt x="357092" y="29623"/>
                  <a:pt x="368999" y="30480"/>
                  <a:pt x="380143" y="31814"/>
                </a:cubicBezTo>
                <a:close/>
                <a:moveTo>
                  <a:pt x="639604" y="311753"/>
                </a:moveTo>
                <a:lnTo>
                  <a:pt x="54197" y="311753"/>
                </a:lnTo>
                <a:cubicBezTo>
                  <a:pt x="66008" y="160401"/>
                  <a:pt x="192500" y="41243"/>
                  <a:pt x="346900" y="41243"/>
                </a:cubicBezTo>
                <a:cubicBezTo>
                  <a:pt x="501301" y="41243"/>
                  <a:pt x="627793" y="160401"/>
                  <a:pt x="639604" y="311753"/>
                </a:cubicBezTo>
                <a:close/>
                <a:moveTo>
                  <a:pt x="313373" y="66961"/>
                </a:moveTo>
                <a:cubicBezTo>
                  <a:pt x="313373" y="66961"/>
                  <a:pt x="149257" y="102775"/>
                  <a:pt x="100298" y="284417"/>
                </a:cubicBezTo>
                <a:lnTo>
                  <a:pt x="162306" y="284417"/>
                </a:lnTo>
                <a:cubicBezTo>
                  <a:pt x="162306" y="284417"/>
                  <a:pt x="196596" y="132874"/>
                  <a:pt x="313373" y="6696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23"/>
          <p:cNvSpPr/>
          <p:nvPr/>
        </p:nvSpPr>
        <p:spPr>
          <a:xfrm>
            <a:off x="4295775" y="4326260"/>
            <a:ext cx="3133725" cy="1574800"/>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23"/>
          <p:cNvSpPr/>
          <p:nvPr/>
        </p:nvSpPr>
        <p:spPr>
          <a:xfrm>
            <a:off x="5570695" y="4039082"/>
            <a:ext cx="583884" cy="583882"/>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23"/>
          <p:cNvSpPr txBox="1"/>
          <p:nvPr/>
        </p:nvSpPr>
        <p:spPr>
          <a:xfrm>
            <a:off x="4439239" y="5020264"/>
            <a:ext cx="2846700" cy="72939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b="0" i="0" dirty="0">
                <a:solidFill>
                  <a:schemeClr val="lt1"/>
                </a:solidFill>
                <a:latin typeface="Calibri"/>
                <a:ea typeface="Calibri"/>
                <a:cs typeface="Calibri"/>
                <a:sym typeface="Calibri"/>
              </a:rPr>
              <a:t>Zomato offers a wide range of </a:t>
            </a:r>
            <a:r>
              <a:rPr lang="en-US" sz="1200" b="1" i="0" dirty="0">
                <a:solidFill>
                  <a:schemeClr val="lt1"/>
                </a:solidFill>
                <a:latin typeface="Calibri"/>
                <a:ea typeface="Calibri"/>
                <a:cs typeface="Calibri"/>
                <a:sym typeface="Calibri"/>
              </a:rPr>
              <a:t>discounts</a:t>
            </a:r>
            <a:r>
              <a:rPr lang="en-US" sz="1200" b="0" i="0" dirty="0">
                <a:solidFill>
                  <a:schemeClr val="lt1"/>
                </a:solidFill>
                <a:latin typeface="Calibri"/>
                <a:ea typeface="Calibri"/>
                <a:cs typeface="Calibri"/>
                <a:sym typeface="Calibri"/>
              </a:rPr>
              <a:t>, </a:t>
            </a:r>
            <a:r>
              <a:rPr lang="en-US" sz="1200" b="1" i="0" dirty="0">
                <a:solidFill>
                  <a:schemeClr val="lt1"/>
                </a:solidFill>
                <a:latin typeface="Calibri"/>
                <a:ea typeface="Calibri"/>
                <a:cs typeface="Calibri"/>
                <a:sym typeface="Calibri"/>
              </a:rPr>
              <a:t>promo codes, and cashback deals </a:t>
            </a:r>
            <a:r>
              <a:rPr lang="en-US" sz="1200" b="0" i="0" dirty="0">
                <a:solidFill>
                  <a:schemeClr val="lt1"/>
                </a:solidFill>
                <a:latin typeface="Calibri"/>
                <a:ea typeface="Calibri"/>
                <a:cs typeface="Calibri"/>
                <a:sym typeface="Calibri"/>
              </a:rPr>
              <a:t>to make your food orders more affordable</a:t>
            </a:r>
          </a:p>
        </p:txBody>
      </p:sp>
      <p:sp>
        <p:nvSpPr>
          <p:cNvPr id="262" name="Google Shape;262;p23"/>
          <p:cNvSpPr/>
          <p:nvPr/>
        </p:nvSpPr>
        <p:spPr>
          <a:xfrm>
            <a:off x="5698647" y="4167103"/>
            <a:ext cx="327980" cy="327840"/>
          </a:xfrm>
          <a:custGeom>
            <a:avLst/>
            <a:gdLst/>
            <a:ahLst/>
            <a:cxnLst/>
            <a:rect l="l" t="t" r="r" b="b"/>
            <a:pathLst>
              <a:path w="601380" h="601122" extrusionOk="0">
                <a:moveTo>
                  <a:pt x="527674" y="528947"/>
                </a:moveTo>
                <a:cubicBezTo>
                  <a:pt x="543200" y="544473"/>
                  <a:pt x="544248" y="568952"/>
                  <a:pt x="529960" y="583145"/>
                </a:cubicBezTo>
                <a:cubicBezTo>
                  <a:pt x="515673" y="597432"/>
                  <a:pt x="491289" y="596384"/>
                  <a:pt x="475763" y="580763"/>
                </a:cubicBezTo>
                <a:lnTo>
                  <a:pt x="315743" y="405027"/>
                </a:lnTo>
                <a:cubicBezTo>
                  <a:pt x="304789" y="404932"/>
                  <a:pt x="292502" y="402360"/>
                  <a:pt x="278691" y="396835"/>
                </a:cubicBezTo>
                <a:lnTo>
                  <a:pt x="337174" y="338352"/>
                </a:lnTo>
                <a:lnTo>
                  <a:pt x="375274" y="376452"/>
                </a:lnTo>
                <a:lnTo>
                  <a:pt x="527674" y="528852"/>
                </a:lnTo>
                <a:close/>
                <a:moveTo>
                  <a:pt x="190775" y="336066"/>
                </a:moveTo>
                <a:lnTo>
                  <a:pt x="262689" y="264152"/>
                </a:lnTo>
                <a:lnTo>
                  <a:pt x="189727" y="191191"/>
                </a:lnTo>
                <a:cubicBezTo>
                  <a:pt x="132006" y="133279"/>
                  <a:pt x="74284" y="75652"/>
                  <a:pt x="39518" y="40886"/>
                </a:cubicBezTo>
                <a:cubicBezTo>
                  <a:pt x="34660" y="36028"/>
                  <a:pt x="28469" y="33742"/>
                  <a:pt x="21611" y="34600"/>
                </a:cubicBezTo>
                <a:cubicBezTo>
                  <a:pt x="16753" y="35171"/>
                  <a:pt x="9705" y="39838"/>
                  <a:pt x="8371" y="51745"/>
                </a:cubicBezTo>
                <a:cubicBezTo>
                  <a:pt x="3323" y="100608"/>
                  <a:pt x="39137" y="185476"/>
                  <a:pt x="166486" y="312825"/>
                </a:cubicBezTo>
                <a:cubicBezTo>
                  <a:pt x="174868" y="321207"/>
                  <a:pt x="182965" y="328922"/>
                  <a:pt x="190680" y="335971"/>
                </a:cubicBezTo>
                <a:close/>
                <a:moveTo>
                  <a:pt x="324411" y="135565"/>
                </a:moveTo>
                <a:lnTo>
                  <a:pt x="333650" y="126325"/>
                </a:lnTo>
                <a:cubicBezTo>
                  <a:pt x="333650" y="126325"/>
                  <a:pt x="333650" y="126230"/>
                  <a:pt x="333841" y="126135"/>
                </a:cubicBezTo>
                <a:lnTo>
                  <a:pt x="324411" y="135565"/>
                </a:lnTo>
                <a:close/>
                <a:moveTo>
                  <a:pt x="593683" y="119277"/>
                </a:moveTo>
                <a:cubicBezTo>
                  <a:pt x="585586" y="111181"/>
                  <a:pt x="574347" y="109180"/>
                  <a:pt x="568727" y="114895"/>
                </a:cubicBezTo>
                <a:lnTo>
                  <a:pt x="454713" y="228910"/>
                </a:lnTo>
                <a:cubicBezTo>
                  <a:pt x="448998" y="234625"/>
                  <a:pt x="438425" y="233291"/>
                  <a:pt x="431186" y="225957"/>
                </a:cubicBezTo>
                <a:cubicBezTo>
                  <a:pt x="423947" y="218718"/>
                  <a:pt x="422614" y="208145"/>
                  <a:pt x="428233" y="202430"/>
                </a:cubicBezTo>
                <a:lnTo>
                  <a:pt x="542248" y="88416"/>
                </a:lnTo>
                <a:cubicBezTo>
                  <a:pt x="547867" y="82701"/>
                  <a:pt x="545962" y="71461"/>
                  <a:pt x="537866" y="63460"/>
                </a:cubicBezTo>
                <a:cubicBezTo>
                  <a:pt x="529770" y="55364"/>
                  <a:pt x="518530" y="53364"/>
                  <a:pt x="512911" y="59079"/>
                </a:cubicBezTo>
                <a:lnTo>
                  <a:pt x="398801" y="172998"/>
                </a:lnTo>
                <a:cubicBezTo>
                  <a:pt x="393086" y="178713"/>
                  <a:pt x="382513" y="177379"/>
                  <a:pt x="375274" y="170045"/>
                </a:cubicBezTo>
                <a:cubicBezTo>
                  <a:pt x="367940" y="162806"/>
                  <a:pt x="366702" y="152138"/>
                  <a:pt x="372322" y="146518"/>
                </a:cubicBezTo>
                <a:lnTo>
                  <a:pt x="486431" y="32599"/>
                </a:lnTo>
                <a:cubicBezTo>
                  <a:pt x="492051" y="26884"/>
                  <a:pt x="490146" y="15645"/>
                  <a:pt x="482050" y="7644"/>
                </a:cubicBezTo>
                <a:cubicBezTo>
                  <a:pt x="473953" y="-452"/>
                  <a:pt x="462714" y="-2453"/>
                  <a:pt x="457094" y="3262"/>
                </a:cubicBezTo>
                <a:lnTo>
                  <a:pt x="333936" y="126421"/>
                </a:lnTo>
                <a:cubicBezTo>
                  <a:pt x="293836" y="166711"/>
                  <a:pt x="306694" y="194715"/>
                  <a:pt x="329554" y="220051"/>
                </a:cubicBezTo>
                <a:lnTo>
                  <a:pt x="12372" y="536853"/>
                </a:lnTo>
                <a:cubicBezTo>
                  <a:pt x="-3154" y="552379"/>
                  <a:pt x="-4202" y="576858"/>
                  <a:pt x="9991" y="591050"/>
                </a:cubicBezTo>
                <a:cubicBezTo>
                  <a:pt x="24278" y="605338"/>
                  <a:pt x="48662" y="604290"/>
                  <a:pt x="64188" y="588764"/>
                </a:cubicBezTo>
                <a:lnTo>
                  <a:pt x="381275" y="271772"/>
                </a:lnTo>
                <a:cubicBezTo>
                  <a:pt x="406707" y="294727"/>
                  <a:pt x="434710" y="307586"/>
                  <a:pt x="475096" y="267200"/>
                </a:cubicBezTo>
                <a:lnTo>
                  <a:pt x="598159" y="144137"/>
                </a:lnTo>
                <a:cubicBezTo>
                  <a:pt x="603779" y="138422"/>
                  <a:pt x="601874" y="127183"/>
                  <a:pt x="593778" y="11918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23"/>
          <p:cNvSpPr/>
          <p:nvPr/>
        </p:nvSpPr>
        <p:spPr>
          <a:xfrm>
            <a:off x="4295775" y="2100585"/>
            <a:ext cx="3133725" cy="1574800"/>
          </a:xfrm>
          <a:prstGeom prst="rect">
            <a:avLst/>
          </a:prstGeom>
          <a:solidFill>
            <a:schemeClr val="accent1"/>
          </a:solidFill>
          <a:ln>
            <a:noFill/>
          </a:ln>
          <a:effectLst>
            <a:outerShdw blurRad="50800" dist="38100" dir="27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23"/>
          <p:cNvSpPr/>
          <p:nvPr/>
        </p:nvSpPr>
        <p:spPr>
          <a:xfrm>
            <a:off x="5570695" y="1813407"/>
            <a:ext cx="583884" cy="583882"/>
          </a:xfrm>
          <a:prstGeom prst="rect">
            <a:avLst/>
          </a:prstGeom>
          <a:solidFill>
            <a:srgbClr val="F2F2F2"/>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23"/>
          <p:cNvSpPr txBox="1"/>
          <p:nvPr/>
        </p:nvSpPr>
        <p:spPr>
          <a:xfrm>
            <a:off x="4439239" y="2794589"/>
            <a:ext cx="2846700" cy="72939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1200" b="0" i="0" dirty="0">
                <a:solidFill>
                  <a:schemeClr val="lt1"/>
                </a:solidFill>
                <a:latin typeface="Calibri"/>
                <a:ea typeface="Calibri"/>
                <a:cs typeface="Calibri"/>
                <a:sym typeface="Calibri"/>
              </a:rPr>
              <a:t>Zomato’s Table booking product called as </a:t>
            </a:r>
            <a:r>
              <a:rPr lang="en-US" sz="1200" b="1" i="0" dirty="0">
                <a:solidFill>
                  <a:schemeClr val="lt1"/>
                </a:solidFill>
                <a:latin typeface="Calibri"/>
                <a:ea typeface="Calibri"/>
                <a:cs typeface="Calibri"/>
                <a:sym typeface="Calibri"/>
              </a:rPr>
              <a:t>Zomato District </a:t>
            </a:r>
            <a:r>
              <a:rPr lang="en-US" sz="1200" b="0" i="0" dirty="0">
                <a:solidFill>
                  <a:schemeClr val="lt1"/>
                </a:solidFill>
                <a:latin typeface="Calibri"/>
                <a:ea typeface="Calibri"/>
                <a:cs typeface="Calibri"/>
                <a:sym typeface="Calibri"/>
              </a:rPr>
              <a:t>gives users great offers and discounts.</a:t>
            </a:r>
            <a:endParaRPr sz="1200" dirty="0">
              <a:solidFill>
                <a:schemeClr val="lt1"/>
              </a:solidFill>
              <a:latin typeface="Calibri"/>
              <a:ea typeface="Calibri"/>
              <a:cs typeface="Calibri"/>
              <a:sym typeface="Calibri"/>
            </a:endParaRPr>
          </a:p>
        </p:txBody>
      </p:sp>
      <p:sp>
        <p:nvSpPr>
          <p:cNvPr id="266" name="Google Shape;266;p23"/>
          <p:cNvSpPr/>
          <p:nvPr/>
        </p:nvSpPr>
        <p:spPr>
          <a:xfrm>
            <a:off x="5662611" y="1962480"/>
            <a:ext cx="400052" cy="285736"/>
          </a:xfrm>
          <a:custGeom>
            <a:avLst/>
            <a:gdLst/>
            <a:ahLst/>
            <a:cxnLst/>
            <a:rect l="l" t="t" r="r" b="b"/>
            <a:pathLst>
              <a:path w="767334" h="548068" extrusionOk="0">
                <a:moveTo>
                  <a:pt x="395954" y="0"/>
                </a:moveTo>
                <a:cubicBezTo>
                  <a:pt x="244602" y="0"/>
                  <a:pt x="121920" y="122682"/>
                  <a:pt x="121920" y="274034"/>
                </a:cubicBezTo>
                <a:cubicBezTo>
                  <a:pt x="121920" y="425387"/>
                  <a:pt x="244602" y="548069"/>
                  <a:pt x="395954" y="548069"/>
                </a:cubicBezTo>
                <a:cubicBezTo>
                  <a:pt x="547307" y="548069"/>
                  <a:pt x="669989" y="425387"/>
                  <a:pt x="669989" y="274034"/>
                </a:cubicBezTo>
                <a:cubicBezTo>
                  <a:pt x="669989" y="122682"/>
                  <a:pt x="547307" y="0"/>
                  <a:pt x="395954" y="0"/>
                </a:cubicBezTo>
                <a:close/>
                <a:moveTo>
                  <a:pt x="595598" y="223933"/>
                </a:moveTo>
                <a:cubicBezTo>
                  <a:pt x="596360" y="226790"/>
                  <a:pt x="597218" y="229648"/>
                  <a:pt x="597789" y="232601"/>
                </a:cubicBezTo>
                <a:cubicBezTo>
                  <a:pt x="598646" y="236792"/>
                  <a:pt x="599123" y="241173"/>
                  <a:pt x="599789" y="245459"/>
                </a:cubicBezTo>
                <a:cubicBezTo>
                  <a:pt x="600170" y="248031"/>
                  <a:pt x="600647" y="250508"/>
                  <a:pt x="600932" y="252984"/>
                </a:cubicBezTo>
                <a:cubicBezTo>
                  <a:pt x="601599" y="259937"/>
                  <a:pt x="601980" y="266891"/>
                  <a:pt x="601980" y="274034"/>
                </a:cubicBezTo>
                <a:cubicBezTo>
                  <a:pt x="601980" y="281178"/>
                  <a:pt x="601599" y="288131"/>
                  <a:pt x="600932" y="295085"/>
                </a:cubicBezTo>
                <a:cubicBezTo>
                  <a:pt x="600647" y="297656"/>
                  <a:pt x="600170" y="300133"/>
                  <a:pt x="599789" y="302705"/>
                </a:cubicBezTo>
                <a:cubicBezTo>
                  <a:pt x="599218" y="306991"/>
                  <a:pt x="598646" y="311372"/>
                  <a:pt x="597789" y="315563"/>
                </a:cubicBezTo>
                <a:cubicBezTo>
                  <a:pt x="597218" y="318516"/>
                  <a:pt x="596265" y="321374"/>
                  <a:pt x="595598" y="324231"/>
                </a:cubicBezTo>
                <a:cubicBezTo>
                  <a:pt x="594646" y="327946"/>
                  <a:pt x="593884" y="331661"/>
                  <a:pt x="592741" y="335280"/>
                </a:cubicBezTo>
                <a:cubicBezTo>
                  <a:pt x="591788" y="338423"/>
                  <a:pt x="590455" y="341471"/>
                  <a:pt x="589312" y="344615"/>
                </a:cubicBezTo>
                <a:cubicBezTo>
                  <a:pt x="588169" y="347853"/>
                  <a:pt x="587121" y="351092"/>
                  <a:pt x="585788" y="354140"/>
                </a:cubicBezTo>
                <a:cubicBezTo>
                  <a:pt x="584359" y="357378"/>
                  <a:pt x="582740" y="360521"/>
                  <a:pt x="581216" y="363665"/>
                </a:cubicBezTo>
                <a:cubicBezTo>
                  <a:pt x="579882" y="366427"/>
                  <a:pt x="578644" y="369380"/>
                  <a:pt x="577120" y="372047"/>
                </a:cubicBezTo>
                <a:cubicBezTo>
                  <a:pt x="575310" y="375380"/>
                  <a:pt x="573215" y="378524"/>
                  <a:pt x="571214" y="381762"/>
                </a:cubicBezTo>
                <a:cubicBezTo>
                  <a:pt x="569786" y="384143"/>
                  <a:pt x="568452" y="386620"/>
                  <a:pt x="566833" y="388906"/>
                </a:cubicBezTo>
                <a:cubicBezTo>
                  <a:pt x="564547" y="392335"/>
                  <a:pt x="561975" y="395478"/>
                  <a:pt x="559499" y="398717"/>
                </a:cubicBezTo>
                <a:cubicBezTo>
                  <a:pt x="557975" y="400717"/>
                  <a:pt x="556546" y="402812"/>
                  <a:pt x="555022" y="404717"/>
                </a:cubicBezTo>
                <a:cubicBezTo>
                  <a:pt x="552260" y="408051"/>
                  <a:pt x="549307" y="411099"/>
                  <a:pt x="546354" y="414242"/>
                </a:cubicBezTo>
                <a:cubicBezTo>
                  <a:pt x="544830" y="415862"/>
                  <a:pt x="543401" y="417671"/>
                  <a:pt x="541782" y="419291"/>
                </a:cubicBezTo>
                <a:cubicBezTo>
                  <a:pt x="538639" y="422434"/>
                  <a:pt x="535210" y="425387"/>
                  <a:pt x="531876" y="428339"/>
                </a:cubicBezTo>
                <a:cubicBezTo>
                  <a:pt x="530352" y="429673"/>
                  <a:pt x="528828" y="431197"/>
                  <a:pt x="527304" y="432530"/>
                </a:cubicBezTo>
                <a:cubicBezTo>
                  <a:pt x="523685" y="435483"/>
                  <a:pt x="519970" y="438150"/>
                  <a:pt x="516160" y="440912"/>
                </a:cubicBezTo>
                <a:cubicBezTo>
                  <a:pt x="514636" y="442055"/>
                  <a:pt x="513112" y="443294"/>
                  <a:pt x="511493" y="444341"/>
                </a:cubicBezTo>
                <a:cubicBezTo>
                  <a:pt x="507587" y="447008"/>
                  <a:pt x="503492" y="449390"/>
                  <a:pt x="499396" y="451771"/>
                </a:cubicBezTo>
                <a:cubicBezTo>
                  <a:pt x="497777" y="452723"/>
                  <a:pt x="496253" y="453771"/>
                  <a:pt x="494633" y="454628"/>
                </a:cubicBezTo>
                <a:cubicBezTo>
                  <a:pt x="490442" y="456914"/>
                  <a:pt x="486061" y="458915"/>
                  <a:pt x="481679" y="460915"/>
                </a:cubicBezTo>
                <a:cubicBezTo>
                  <a:pt x="479965" y="461677"/>
                  <a:pt x="478441" y="462534"/>
                  <a:pt x="476726" y="463296"/>
                </a:cubicBezTo>
                <a:cubicBezTo>
                  <a:pt x="472345" y="465201"/>
                  <a:pt x="467773" y="466725"/>
                  <a:pt x="463201" y="468344"/>
                </a:cubicBezTo>
                <a:cubicBezTo>
                  <a:pt x="461391" y="469011"/>
                  <a:pt x="459677" y="469678"/>
                  <a:pt x="457867" y="470249"/>
                </a:cubicBezTo>
                <a:cubicBezTo>
                  <a:pt x="453295" y="471678"/>
                  <a:pt x="448628" y="472821"/>
                  <a:pt x="443960" y="473869"/>
                </a:cubicBezTo>
                <a:cubicBezTo>
                  <a:pt x="442055" y="474345"/>
                  <a:pt x="440150" y="474917"/>
                  <a:pt x="438150" y="475393"/>
                </a:cubicBezTo>
                <a:cubicBezTo>
                  <a:pt x="433578" y="476345"/>
                  <a:pt x="428911" y="477012"/>
                  <a:pt x="424244" y="477584"/>
                </a:cubicBezTo>
                <a:cubicBezTo>
                  <a:pt x="422053" y="477869"/>
                  <a:pt x="419957" y="478346"/>
                  <a:pt x="417767" y="478536"/>
                </a:cubicBezTo>
                <a:cubicBezTo>
                  <a:pt x="413195" y="479012"/>
                  <a:pt x="408623" y="479108"/>
                  <a:pt x="404051" y="479298"/>
                </a:cubicBezTo>
                <a:cubicBezTo>
                  <a:pt x="401764" y="479298"/>
                  <a:pt x="399574" y="479679"/>
                  <a:pt x="397288" y="479679"/>
                </a:cubicBezTo>
                <a:lnTo>
                  <a:pt x="397288" y="479679"/>
                </a:lnTo>
                <a:cubicBezTo>
                  <a:pt x="396812" y="479679"/>
                  <a:pt x="396335" y="479679"/>
                  <a:pt x="395764" y="479679"/>
                </a:cubicBezTo>
                <a:cubicBezTo>
                  <a:pt x="282035" y="479679"/>
                  <a:pt x="189833" y="387477"/>
                  <a:pt x="189833" y="273749"/>
                </a:cubicBezTo>
                <a:cubicBezTo>
                  <a:pt x="189833" y="160020"/>
                  <a:pt x="282226" y="68104"/>
                  <a:pt x="395954" y="68104"/>
                </a:cubicBezTo>
                <a:cubicBezTo>
                  <a:pt x="396431" y="68104"/>
                  <a:pt x="396907" y="68104"/>
                  <a:pt x="397478" y="68104"/>
                </a:cubicBezTo>
                <a:lnTo>
                  <a:pt x="397478" y="68104"/>
                </a:lnTo>
                <a:cubicBezTo>
                  <a:pt x="399288" y="68104"/>
                  <a:pt x="401098" y="68294"/>
                  <a:pt x="403003" y="68390"/>
                </a:cubicBezTo>
                <a:cubicBezTo>
                  <a:pt x="408051" y="68580"/>
                  <a:pt x="413099" y="68771"/>
                  <a:pt x="418148" y="69247"/>
                </a:cubicBezTo>
                <a:cubicBezTo>
                  <a:pt x="419957" y="69437"/>
                  <a:pt x="421672" y="69818"/>
                  <a:pt x="423482" y="70009"/>
                </a:cubicBezTo>
                <a:cubicBezTo>
                  <a:pt x="428530" y="70676"/>
                  <a:pt x="433578" y="71342"/>
                  <a:pt x="438531" y="72390"/>
                </a:cubicBezTo>
                <a:cubicBezTo>
                  <a:pt x="440150" y="72771"/>
                  <a:pt x="441770" y="73247"/>
                  <a:pt x="443294" y="73628"/>
                </a:cubicBezTo>
                <a:cubicBezTo>
                  <a:pt x="448247" y="74771"/>
                  <a:pt x="453295" y="76010"/>
                  <a:pt x="458153" y="77534"/>
                </a:cubicBezTo>
                <a:cubicBezTo>
                  <a:pt x="459677" y="78010"/>
                  <a:pt x="461105" y="78677"/>
                  <a:pt x="462629" y="79153"/>
                </a:cubicBezTo>
                <a:cubicBezTo>
                  <a:pt x="467487" y="80772"/>
                  <a:pt x="472345" y="82487"/>
                  <a:pt x="477012" y="84487"/>
                </a:cubicBezTo>
                <a:cubicBezTo>
                  <a:pt x="478441" y="85058"/>
                  <a:pt x="479870" y="85916"/>
                  <a:pt x="481298" y="86487"/>
                </a:cubicBezTo>
                <a:cubicBezTo>
                  <a:pt x="485870" y="88583"/>
                  <a:pt x="490538" y="90678"/>
                  <a:pt x="494919" y="93155"/>
                </a:cubicBezTo>
                <a:cubicBezTo>
                  <a:pt x="496348" y="93917"/>
                  <a:pt x="497681" y="94869"/>
                  <a:pt x="499110" y="95726"/>
                </a:cubicBezTo>
                <a:cubicBezTo>
                  <a:pt x="503396" y="98203"/>
                  <a:pt x="507683" y="100679"/>
                  <a:pt x="511778" y="103537"/>
                </a:cubicBezTo>
                <a:cubicBezTo>
                  <a:pt x="513207" y="104489"/>
                  <a:pt x="514540" y="105632"/>
                  <a:pt x="515969" y="106680"/>
                </a:cubicBezTo>
                <a:cubicBezTo>
                  <a:pt x="519875" y="109442"/>
                  <a:pt x="523780" y="112300"/>
                  <a:pt x="527495" y="115348"/>
                </a:cubicBezTo>
                <a:cubicBezTo>
                  <a:pt x="529019" y="116586"/>
                  <a:pt x="530352" y="118015"/>
                  <a:pt x="531781" y="119253"/>
                </a:cubicBezTo>
                <a:cubicBezTo>
                  <a:pt x="535305" y="122301"/>
                  <a:pt x="538734" y="125349"/>
                  <a:pt x="542068" y="128588"/>
                </a:cubicBezTo>
                <a:cubicBezTo>
                  <a:pt x="543592" y="130112"/>
                  <a:pt x="544925" y="131826"/>
                  <a:pt x="546449" y="133445"/>
                </a:cubicBezTo>
                <a:cubicBezTo>
                  <a:pt x="549402" y="136684"/>
                  <a:pt x="552450" y="139827"/>
                  <a:pt x="555308" y="143256"/>
                </a:cubicBezTo>
                <a:cubicBezTo>
                  <a:pt x="556832" y="145161"/>
                  <a:pt x="558165" y="147161"/>
                  <a:pt x="559689" y="149066"/>
                </a:cubicBezTo>
                <a:cubicBezTo>
                  <a:pt x="562166" y="152400"/>
                  <a:pt x="564833" y="155639"/>
                  <a:pt x="567119" y="159068"/>
                </a:cubicBezTo>
                <a:cubicBezTo>
                  <a:pt x="568643" y="161354"/>
                  <a:pt x="569976" y="163830"/>
                  <a:pt x="571405" y="166116"/>
                </a:cubicBezTo>
                <a:cubicBezTo>
                  <a:pt x="573405" y="169355"/>
                  <a:pt x="575501" y="172593"/>
                  <a:pt x="577406" y="176022"/>
                </a:cubicBezTo>
                <a:cubicBezTo>
                  <a:pt x="578834" y="178784"/>
                  <a:pt x="580073" y="181547"/>
                  <a:pt x="581406" y="184404"/>
                </a:cubicBezTo>
                <a:cubicBezTo>
                  <a:pt x="582930" y="187643"/>
                  <a:pt x="584645" y="190691"/>
                  <a:pt x="585978" y="194024"/>
                </a:cubicBezTo>
                <a:cubicBezTo>
                  <a:pt x="587312" y="197168"/>
                  <a:pt x="588359" y="200406"/>
                  <a:pt x="589502" y="203549"/>
                </a:cubicBezTo>
                <a:cubicBezTo>
                  <a:pt x="590645" y="206693"/>
                  <a:pt x="591884" y="209645"/>
                  <a:pt x="592931" y="212884"/>
                </a:cubicBezTo>
                <a:cubicBezTo>
                  <a:pt x="594074" y="216503"/>
                  <a:pt x="594836" y="220218"/>
                  <a:pt x="595789" y="223933"/>
                </a:cubicBezTo>
                <a:close/>
                <a:moveTo>
                  <a:pt x="589788" y="274034"/>
                </a:moveTo>
                <a:cubicBezTo>
                  <a:pt x="589788" y="381095"/>
                  <a:pt x="503015" y="467773"/>
                  <a:pt x="396050" y="467773"/>
                </a:cubicBezTo>
                <a:cubicBezTo>
                  <a:pt x="289084" y="467773"/>
                  <a:pt x="202311" y="381000"/>
                  <a:pt x="202311" y="274034"/>
                </a:cubicBezTo>
                <a:cubicBezTo>
                  <a:pt x="202311" y="167069"/>
                  <a:pt x="289084" y="80296"/>
                  <a:pt x="396050" y="80296"/>
                </a:cubicBezTo>
                <a:cubicBezTo>
                  <a:pt x="503015" y="80296"/>
                  <a:pt x="589788" y="167069"/>
                  <a:pt x="589788" y="274034"/>
                </a:cubicBezTo>
                <a:close/>
                <a:moveTo>
                  <a:pt x="767334" y="60103"/>
                </a:moveTo>
                <a:lnTo>
                  <a:pt x="767334" y="512921"/>
                </a:lnTo>
                <a:cubicBezTo>
                  <a:pt x="767334" y="525018"/>
                  <a:pt x="759619" y="535115"/>
                  <a:pt x="749332" y="538067"/>
                </a:cubicBezTo>
                <a:lnTo>
                  <a:pt x="749332" y="538067"/>
                </a:lnTo>
                <a:cubicBezTo>
                  <a:pt x="747332" y="538734"/>
                  <a:pt x="745331" y="539115"/>
                  <a:pt x="743236" y="539115"/>
                </a:cubicBezTo>
                <a:cubicBezTo>
                  <a:pt x="729996" y="539115"/>
                  <a:pt x="717614" y="527209"/>
                  <a:pt x="719138" y="512921"/>
                </a:cubicBezTo>
                <a:cubicBezTo>
                  <a:pt x="723805" y="469773"/>
                  <a:pt x="748760" y="377000"/>
                  <a:pt x="735902" y="339947"/>
                </a:cubicBezTo>
                <a:cubicBezTo>
                  <a:pt x="728567" y="318802"/>
                  <a:pt x="701612" y="280511"/>
                  <a:pt x="701612" y="216980"/>
                </a:cubicBezTo>
                <a:cubicBezTo>
                  <a:pt x="701612" y="98774"/>
                  <a:pt x="729234" y="56579"/>
                  <a:pt x="748475" y="46673"/>
                </a:cubicBezTo>
                <a:cubicBezTo>
                  <a:pt x="748760" y="46577"/>
                  <a:pt x="749046" y="46482"/>
                  <a:pt x="749237" y="46387"/>
                </a:cubicBezTo>
                <a:cubicBezTo>
                  <a:pt x="757714" y="42767"/>
                  <a:pt x="767239" y="49625"/>
                  <a:pt x="767239" y="60103"/>
                </a:cubicBezTo>
                <a:close/>
                <a:moveTo>
                  <a:pt x="87630" y="47911"/>
                </a:moveTo>
                <a:cubicBezTo>
                  <a:pt x="93250" y="84392"/>
                  <a:pt x="98679" y="152876"/>
                  <a:pt x="98679" y="188405"/>
                </a:cubicBezTo>
                <a:cubicBezTo>
                  <a:pt x="98679" y="232029"/>
                  <a:pt x="89821" y="231458"/>
                  <a:pt x="63913" y="241840"/>
                </a:cubicBezTo>
                <a:lnTo>
                  <a:pt x="73438" y="514160"/>
                </a:lnTo>
                <a:cubicBezTo>
                  <a:pt x="73438" y="528638"/>
                  <a:pt x="62579" y="540353"/>
                  <a:pt x="49340" y="540353"/>
                </a:cubicBezTo>
                <a:cubicBezTo>
                  <a:pt x="48197" y="540353"/>
                  <a:pt x="46958" y="540163"/>
                  <a:pt x="45815" y="539972"/>
                </a:cubicBezTo>
                <a:lnTo>
                  <a:pt x="45815" y="539972"/>
                </a:lnTo>
                <a:cubicBezTo>
                  <a:pt x="34195" y="537972"/>
                  <a:pt x="25241" y="527209"/>
                  <a:pt x="25241" y="514160"/>
                </a:cubicBezTo>
                <a:lnTo>
                  <a:pt x="34766" y="241840"/>
                </a:lnTo>
                <a:cubicBezTo>
                  <a:pt x="8954" y="231553"/>
                  <a:pt x="0" y="232029"/>
                  <a:pt x="0" y="188405"/>
                </a:cubicBezTo>
                <a:cubicBezTo>
                  <a:pt x="0" y="152876"/>
                  <a:pt x="5334" y="83630"/>
                  <a:pt x="10954" y="47911"/>
                </a:cubicBezTo>
                <a:lnTo>
                  <a:pt x="17050" y="47911"/>
                </a:lnTo>
                <a:lnTo>
                  <a:pt x="18479" y="201930"/>
                </a:lnTo>
                <a:lnTo>
                  <a:pt x="31147" y="201930"/>
                </a:lnTo>
                <a:lnTo>
                  <a:pt x="34290" y="47911"/>
                </a:lnTo>
                <a:lnTo>
                  <a:pt x="40196" y="47911"/>
                </a:lnTo>
                <a:lnTo>
                  <a:pt x="42958" y="201930"/>
                </a:lnTo>
                <a:lnTo>
                  <a:pt x="55626" y="201930"/>
                </a:lnTo>
                <a:lnTo>
                  <a:pt x="58674" y="47911"/>
                </a:lnTo>
                <a:lnTo>
                  <a:pt x="65246" y="47911"/>
                </a:lnTo>
                <a:lnTo>
                  <a:pt x="68104" y="201930"/>
                </a:lnTo>
                <a:lnTo>
                  <a:pt x="80772" y="201930"/>
                </a:lnTo>
                <a:lnTo>
                  <a:pt x="81820" y="47911"/>
                </a:lnTo>
                <a:lnTo>
                  <a:pt x="87535" y="4791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23"/>
          <p:cNvSpPr txBox="1">
            <a:spLocks noGrp="1"/>
          </p:cNvSpPr>
          <p:nvPr>
            <p:ph type="title"/>
          </p:nvPr>
        </p:nvSpPr>
        <p:spPr>
          <a:xfrm>
            <a:off x="714376" y="501650"/>
            <a:ext cx="3724864"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Services Offered</a:t>
            </a:r>
            <a:endParaRPr dirty="0"/>
          </a:p>
        </p:txBody>
      </p:sp>
      <p:sp>
        <p:nvSpPr>
          <p:cNvPr id="268" name="Google Shape;268;p23"/>
          <p:cNvSpPr txBox="1">
            <a:spLocks noGrp="1"/>
          </p:cNvSpPr>
          <p:nvPr>
            <p:ph type="body" idx="1"/>
          </p:nvPr>
        </p:nvSpPr>
        <p:spPr>
          <a:xfrm>
            <a:off x="1296889" y="2499861"/>
            <a:ext cx="2270910" cy="315984"/>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chemeClr val="lt1"/>
              </a:buClr>
              <a:buSzPts val="1600"/>
              <a:buNone/>
            </a:pPr>
            <a:r>
              <a:rPr lang="en-US" sz="1600" b="1" dirty="0">
                <a:solidFill>
                  <a:schemeClr val="lt1"/>
                </a:solidFill>
                <a:latin typeface="Poppins"/>
                <a:ea typeface="Poppins"/>
                <a:cs typeface="Poppins"/>
                <a:sym typeface="Poppins"/>
              </a:rPr>
              <a:t>Food Delivery</a:t>
            </a:r>
            <a:endParaRPr sz="1600" b="1" dirty="0">
              <a:solidFill>
                <a:schemeClr val="lt1"/>
              </a:solidFill>
              <a:latin typeface="Poppins"/>
              <a:ea typeface="Poppins"/>
              <a:cs typeface="Poppins"/>
              <a:sym typeface="Poppins"/>
            </a:endParaRPr>
          </a:p>
        </p:txBody>
      </p:sp>
      <p:sp>
        <p:nvSpPr>
          <p:cNvPr id="269" name="Google Shape;269;p23"/>
          <p:cNvSpPr txBox="1">
            <a:spLocks noGrp="1"/>
          </p:cNvSpPr>
          <p:nvPr>
            <p:ph type="body" idx="2"/>
          </p:nvPr>
        </p:nvSpPr>
        <p:spPr>
          <a:xfrm>
            <a:off x="4784294" y="2493493"/>
            <a:ext cx="2270910" cy="315984"/>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chemeClr val="lt1"/>
              </a:buClr>
              <a:buSzPts val="1600"/>
              <a:buNone/>
            </a:pPr>
            <a:r>
              <a:rPr lang="en-US" sz="1600" b="1" dirty="0">
                <a:solidFill>
                  <a:schemeClr val="lt1"/>
                </a:solidFill>
                <a:latin typeface="Poppins"/>
                <a:ea typeface="Poppins"/>
                <a:cs typeface="Poppins"/>
                <a:sym typeface="Poppins"/>
              </a:rPr>
              <a:t>Table Reservation</a:t>
            </a:r>
            <a:endParaRPr sz="1600" b="1" dirty="0">
              <a:solidFill>
                <a:schemeClr val="lt1"/>
              </a:solidFill>
              <a:latin typeface="Poppins"/>
              <a:ea typeface="Poppins"/>
              <a:cs typeface="Poppins"/>
              <a:sym typeface="Poppins"/>
            </a:endParaRPr>
          </a:p>
        </p:txBody>
      </p:sp>
      <p:sp>
        <p:nvSpPr>
          <p:cNvPr id="270" name="Google Shape;270;p23"/>
          <p:cNvSpPr txBox="1">
            <a:spLocks noGrp="1"/>
          </p:cNvSpPr>
          <p:nvPr>
            <p:ph type="body" idx="3"/>
          </p:nvPr>
        </p:nvSpPr>
        <p:spPr>
          <a:xfrm>
            <a:off x="4785549" y="4722166"/>
            <a:ext cx="2270910" cy="315984"/>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chemeClr val="lt1"/>
              </a:buClr>
              <a:buSzPts val="1600"/>
              <a:buNone/>
            </a:pPr>
            <a:r>
              <a:rPr lang="en-US" dirty="0"/>
              <a:t>Deals and offers</a:t>
            </a:r>
            <a:endParaRPr sz="1600" b="1" dirty="0">
              <a:solidFill>
                <a:schemeClr val="lt1"/>
              </a:solidFill>
              <a:latin typeface="Poppins"/>
              <a:ea typeface="Poppins"/>
              <a:cs typeface="Poppins"/>
              <a:sym typeface="Poppins"/>
            </a:endParaRPr>
          </a:p>
        </p:txBody>
      </p:sp>
      <p:sp>
        <p:nvSpPr>
          <p:cNvPr id="271" name="Google Shape;271;p23"/>
          <p:cNvSpPr txBox="1">
            <a:spLocks noGrp="1"/>
          </p:cNvSpPr>
          <p:nvPr>
            <p:ph type="body" idx="4"/>
          </p:nvPr>
        </p:nvSpPr>
        <p:spPr>
          <a:xfrm>
            <a:off x="1226324" y="4675520"/>
            <a:ext cx="2514097" cy="313892"/>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chemeClr val="lt1"/>
              </a:buClr>
              <a:buSzPts val="1600"/>
              <a:buNone/>
            </a:pPr>
            <a:r>
              <a:rPr lang="en-US" sz="1600" b="1" dirty="0">
                <a:solidFill>
                  <a:schemeClr val="lt1"/>
                </a:solidFill>
                <a:latin typeface="Poppins"/>
                <a:ea typeface="Poppins"/>
                <a:cs typeface="Poppins"/>
                <a:sym typeface="Poppins"/>
              </a:rPr>
              <a:t>Restaurant Discovery</a:t>
            </a:r>
            <a:endParaRPr sz="1600" b="1" dirty="0">
              <a:solidFill>
                <a:schemeClr val="lt1"/>
              </a:solidFill>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51"/>
                                        </p:tgtEl>
                                        <p:attrNameLst>
                                          <p:attrName>style.visibility</p:attrName>
                                        </p:attrNameLst>
                                      </p:cBhvr>
                                      <p:to>
                                        <p:strVal val="visible"/>
                                      </p:to>
                                    </p:set>
                                    <p:anim calcmode="lin" valueType="num">
                                      <p:cBhvr>
                                        <p:cTn id="7" dur="1000" fill="hold"/>
                                        <p:tgtEl>
                                          <p:spTgt spid="251"/>
                                        </p:tgtEl>
                                        <p:attrNameLst>
                                          <p:attrName>ppt_w</p:attrName>
                                        </p:attrNameLst>
                                      </p:cBhvr>
                                      <p:tavLst>
                                        <p:tav tm="0">
                                          <p:val>
                                            <p:fltVal val="0"/>
                                          </p:val>
                                        </p:tav>
                                        <p:tav tm="100000">
                                          <p:val>
                                            <p:strVal val="#ppt_w"/>
                                          </p:val>
                                        </p:tav>
                                      </p:tavLst>
                                    </p:anim>
                                    <p:anim calcmode="lin" valueType="num">
                                      <p:cBhvr>
                                        <p:cTn id="8" dur="1000" fill="hold"/>
                                        <p:tgtEl>
                                          <p:spTgt spid="251"/>
                                        </p:tgtEl>
                                        <p:attrNameLst>
                                          <p:attrName>ppt_h</p:attrName>
                                        </p:attrNameLst>
                                      </p:cBhvr>
                                      <p:tavLst>
                                        <p:tav tm="0">
                                          <p:val>
                                            <p:fltVal val="0"/>
                                          </p:val>
                                        </p:tav>
                                        <p:tav tm="100000">
                                          <p:val>
                                            <p:strVal val="#ppt_h"/>
                                          </p:val>
                                        </p:tav>
                                      </p:tavLst>
                                    </p:anim>
                                    <p:anim calcmode="lin" valueType="num">
                                      <p:cBhvr>
                                        <p:cTn id="9" dur="1000" fill="hold"/>
                                        <p:tgtEl>
                                          <p:spTgt spid="251"/>
                                        </p:tgtEl>
                                        <p:attrNameLst>
                                          <p:attrName>style.rotation</p:attrName>
                                        </p:attrNameLst>
                                      </p:cBhvr>
                                      <p:tavLst>
                                        <p:tav tm="0">
                                          <p:val>
                                            <p:fltVal val="90"/>
                                          </p:val>
                                        </p:tav>
                                        <p:tav tm="100000">
                                          <p:val>
                                            <p:fltVal val="0"/>
                                          </p:val>
                                        </p:tav>
                                      </p:tavLst>
                                    </p:anim>
                                    <p:animEffect transition="in" filter="fade">
                                      <p:cBhvr>
                                        <p:cTn id="10" dur="1000"/>
                                        <p:tgtEl>
                                          <p:spTgt spid="251"/>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52"/>
                                        </p:tgtEl>
                                        <p:attrNameLst>
                                          <p:attrName>style.visibility</p:attrName>
                                        </p:attrNameLst>
                                      </p:cBhvr>
                                      <p:to>
                                        <p:strVal val="visible"/>
                                      </p:to>
                                    </p:set>
                                    <p:anim calcmode="lin" valueType="num">
                                      <p:cBhvr>
                                        <p:cTn id="13" dur="1000" fill="hold"/>
                                        <p:tgtEl>
                                          <p:spTgt spid="252"/>
                                        </p:tgtEl>
                                        <p:attrNameLst>
                                          <p:attrName>ppt_w</p:attrName>
                                        </p:attrNameLst>
                                      </p:cBhvr>
                                      <p:tavLst>
                                        <p:tav tm="0">
                                          <p:val>
                                            <p:fltVal val="0"/>
                                          </p:val>
                                        </p:tav>
                                        <p:tav tm="100000">
                                          <p:val>
                                            <p:strVal val="#ppt_w"/>
                                          </p:val>
                                        </p:tav>
                                      </p:tavLst>
                                    </p:anim>
                                    <p:anim calcmode="lin" valueType="num">
                                      <p:cBhvr>
                                        <p:cTn id="14" dur="1000" fill="hold"/>
                                        <p:tgtEl>
                                          <p:spTgt spid="252"/>
                                        </p:tgtEl>
                                        <p:attrNameLst>
                                          <p:attrName>ppt_h</p:attrName>
                                        </p:attrNameLst>
                                      </p:cBhvr>
                                      <p:tavLst>
                                        <p:tav tm="0">
                                          <p:val>
                                            <p:fltVal val="0"/>
                                          </p:val>
                                        </p:tav>
                                        <p:tav tm="100000">
                                          <p:val>
                                            <p:strVal val="#ppt_h"/>
                                          </p:val>
                                        </p:tav>
                                      </p:tavLst>
                                    </p:anim>
                                    <p:anim calcmode="lin" valueType="num">
                                      <p:cBhvr>
                                        <p:cTn id="15" dur="1000" fill="hold"/>
                                        <p:tgtEl>
                                          <p:spTgt spid="252"/>
                                        </p:tgtEl>
                                        <p:attrNameLst>
                                          <p:attrName>style.rotation</p:attrName>
                                        </p:attrNameLst>
                                      </p:cBhvr>
                                      <p:tavLst>
                                        <p:tav tm="0">
                                          <p:val>
                                            <p:fltVal val="90"/>
                                          </p:val>
                                        </p:tav>
                                        <p:tav tm="100000">
                                          <p:val>
                                            <p:fltVal val="0"/>
                                          </p:val>
                                        </p:tav>
                                      </p:tavLst>
                                    </p:anim>
                                    <p:animEffect transition="in" filter="fade">
                                      <p:cBhvr>
                                        <p:cTn id="16" dur="1000"/>
                                        <p:tgtEl>
                                          <p:spTgt spid="252"/>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264"/>
                                        </p:tgtEl>
                                        <p:attrNameLst>
                                          <p:attrName>style.visibility</p:attrName>
                                        </p:attrNameLst>
                                      </p:cBhvr>
                                      <p:to>
                                        <p:strVal val="visible"/>
                                      </p:to>
                                    </p:set>
                                    <p:anim calcmode="lin" valueType="num">
                                      <p:cBhvr>
                                        <p:cTn id="21" dur="1000" fill="hold"/>
                                        <p:tgtEl>
                                          <p:spTgt spid="264"/>
                                        </p:tgtEl>
                                        <p:attrNameLst>
                                          <p:attrName>ppt_w</p:attrName>
                                        </p:attrNameLst>
                                      </p:cBhvr>
                                      <p:tavLst>
                                        <p:tav tm="0">
                                          <p:val>
                                            <p:fltVal val="0"/>
                                          </p:val>
                                        </p:tav>
                                        <p:tav tm="100000">
                                          <p:val>
                                            <p:strVal val="#ppt_w"/>
                                          </p:val>
                                        </p:tav>
                                      </p:tavLst>
                                    </p:anim>
                                    <p:anim calcmode="lin" valueType="num">
                                      <p:cBhvr>
                                        <p:cTn id="22" dur="1000" fill="hold"/>
                                        <p:tgtEl>
                                          <p:spTgt spid="264"/>
                                        </p:tgtEl>
                                        <p:attrNameLst>
                                          <p:attrName>ppt_h</p:attrName>
                                        </p:attrNameLst>
                                      </p:cBhvr>
                                      <p:tavLst>
                                        <p:tav tm="0">
                                          <p:val>
                                            <p:fltVal val="0"/>
                                          </p:val>
                                        </p:tav>
                                        <p:tav tm="100000">
                                          <p:val>
                                            <p:strVal val="#ppt_h"/>
                                          </p:val>
                                        </p:tav>
                                      </p:tavLst>
                                    </p:anim>
                                    <p:anim calcmode="lin" valueType="num">
                                      <p:cBhvr>
                                        <p:cTn id="23" dur="1000" fill="hold"/>
                                        <p:tgtEl>
                                          <p:spTgt spid="264"/>
                                        </p:tgtEl>
                                        <p:attrNameLst>
                                          <p:attrName>style.rotation</p:attrName>
                                        </p:attrNameLst>
                                      </p:cBhvr>
                                      <p:tavLst>
                                        <p:tav tm="0">
                                          <p:val>
                                            <p:fltVal val="90"/>
                                          </p:val>
                                        </p:tav>
                                        <p:tav tm="100000">
                                          <p:val>
                                            <p:fltVal val="0"/>
                                          </p:val>
                                        </p:tav>
                                      </p:tavLst>
                                    </p:anim>
                                    <p:animEffect transition="in" filter="fade">
                                      <p:cBhvr>
                                        <p:cTn id="24" dur="1000"/>
                                        <p:tgtEl>
                                          <p:spTgt spid="264"/>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263"/>
                                        </p:tgtEl>
                                        <p:attrNameLst>
                                          <p:attrName>style.visibility</p:attrName>
                                        </p:attrNameLst>
                                      </p:cBhvr>
                                      <p:to>
                                        <p:strVal val="visible"/>
                                      </p:to>
                                    </p:set>
                                    <p:anim calcmode="lin" valueType="num">
                                      <p:cBhvr>
                                        <p:cTn id="27" dur="1000" fill="hold"/>
                                        <p:tgtEl>
                                          <p:spTgt spid="263"/>
                                        </p:tgtEl>
                                        <p:attrNameLst>
                                          <p:attrName>ppt_w</p:attrName>
                                        </p:attrNameLst>
                                      </p:cBhvr>
                                      <p:tavLst>
                                        <p:tav tm="0">
                                          <p:val>
                                            <p:fltVal val="0"/>
                                          </p:val>
                                        </p:tav>
                                        <p:tav tm="100000">
                                          <p:val>
                                            <p:strVal val="#ppt_w"/>
                                          </p:val>
                                        </p:tav>
                                      </p:tavLst>
                                    </p:anim>
                                    <p:anim calcmode="lin" valueType="num">
                                      <p:cBhvr>
                                        <p:cTn id="28" dur="1000" fill="hold"/>
                                        <p:tgtEl>
                                          <p:spTgt spid="263"/>
                                        </p:tgtEl>
                                        <p:attrNameLst>
                                          <p:attrName>ppt_h</p:attrName>
                                        </p:attrNameLst>
                                      </p:cBhvr>
                                      <p:tavLst>
                                        <p:tav tm="0">
                                          <p:val>
                                            <p:fltVal val="0"/>
                                          </p:val>
                                        </p:tav>
                                        <p:tav tm="100000">
                                          <p:val>
                                            <p:strVal val="#ppt_h"/>
                                          </p:val>
                                        </p:tav>
                                      </p:tavLst>
                                    </p:anim>
                                    <p:anim calcmode="lin" valueType="num">
                                      <p:cBhvr>
                                        <p:cTn id="29" dur="1000" fill="hold"/>
                                        <p:tgtEl>
                                          <p:spTgt spid="263"/>
                                        </p:tgtEl>
                                        <p:attrNameLst>
                                          <p:attrName>style.rotation</p:attrName>
                                        </p:attrNameLst>
                                      </p:cBhvr>
                                      <p:tavLst>
                                        <p:tav tm="0">
                                          <p:val>
                                            <p:fltVal val="90"/>
                                          </p:val>
                                        </p:tav>
                                        <p:tav tm="100000">
                                          <p:val>
                                            <p:fltVal val="0"/>
                                          </p:val>
                                        </p:tav>
                                      </p:tavLst>
                                    </p:anim>
                                    <p:animEffect transition="in" filter="fade">
                                      <p:cBhvr>
                                        <p:cTn id="30" dur="1000"/>
                                        <p:tgtEl>
                                          <p:spTgt spid="263"/>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56"/>
                                        </p:tgtEl>
                                        <p:attrNameLst>
                                          <p:attrName>style.visibility</p:attrName>
                                        </p:attrNameLst>
                                      </p:cBhvr>
                                      <p:to>
                                        <p:strVal val="visible"/>
                                      </p:to>
                                    </p:set>
                                    <p:anim calcmode="lin" valueType="num">
                                      <p:cBhvr>
                                        <p:cTn id="35" dur="1000" fill="hold"/>
                                        <p:tgtEl>
                                          <p:spTgt spid="256"/>
                                        </p:tgtEl>
                                        <p:attrNameLst>
                                          <p:attrName>ppt_w</p:attrName>
                                        </p:attrNameLst>
                                      </p:cBhvr>
                                      <p:tavLst>
                                        <p:tav tm="0">
                                          <p:val>
                                            <p:fltVal val="0"/>
                                          </p:val>
                                        </p:tav>
                                        <p:tav tm="100000">
                                          <p:val>
                                            <p:strVal val="#ppt_w"/>
                                          </p:val>
                                        </p:tav>
                                      </p:tavLst>
                                    </p:anim>
                                    <p:anim calcmode="lin" valueType="num">
                                      <p:cBhvr>
                                        <p:cTn id="36" dur="1000" fill="hold"/>
                                        <p:tgtEl>
                                          <p:spTgt spid="256"/>
                                        </p:tgtEl>
                                        <p:attrNameLst>
                                          <p:attrName>ppt_h</p:attrName>
                                        </p:attrNameLst>
                                      </p:cBhvr>
                                      <p:tavLst>
                                        <p:tav tm="0">
                                          <p:val>
                                            <p:fltVal val="0"/>
                                          </p:val>
                                        </p:tav>
                                        <p:tav tm="100000">
                                          <p:val>
                                            <p:strVal val="#ppt_h"/>
                                          </p:val>
                                        </p:tav>
                                      </p:tavLst>
                                    </p:anim>
                                    <p:anim calcmode="lin" valueType="num">
                                      <p:cBhvr>
                                        <p:cTn id="37" dur="1000" fill="hold"/>
                                        <p:tgtEl>
                                          <p:spTgt spid="256"/>
                                        </p:tgtEl>
                                        <p:attrNameLst>
                                          <p:attrName>style.rotation</p:attrName>
                                        </p:attrNameLst>
                                      </p:cBhvr>
                                      <p:tavLst>
                                        <p:tav tm="0">
                                          <p:val>
                                            <p:fltVal val="90"/>
                                          </p:val>
                                        </p:tav>
                                        <p:tav tm="100000">
                                          <p:val>
                                            <p:fltVal val="0"/>
                                          </p:val>
                                        </p:tav>
                                      </p:tavLst>
                                    </p:anim>
                                    <p:animEffect transition="in" filter="fade">
                                      <p:cBhvr>
                                        <p:cTn id="38" dur="1000"/>
                                        <p:tgtEl>
                                          <p:spTgt spid="256"/>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255"/>
                                        </p:tgtEl>
                                        <p:attrNameLst>
                                          <p:attrName>style.visibility</p:attrName>
                                        </p:attrNameLst>
                                      </p:cBhvr>
                                      <p:to>
                                        <p:strVal val="visible"/>
                                      </p:to>
                                    </p:set>
                                    <p:anim calcmode="lin" valueType="num">
                                      <p:cBhvr>
                                        <p:cTn id="41" dur="1000" fill="hold"/>
                                        <p:tgtEl>
                                          <p:spTgt spid="255"/>
                                        </p:tgtEl>
                                        <p:attrNameLst>
                                          <p:attrName>ppt_w</p:attrName>
                                        </p:attrNameLst>
                                      </p:cBhvr>
                                      <p:tavLst>
                                        <p:tav tm="0">
                                          <p:val>
                                            <p:fltVal val="0"/>
                                          </p:val>
                                        </p:tav>
                                        <p:tav tm="100000">
                                          <p:val>
                                            <p:strVal val="#ppt_w"/>
                                          </p:val>
                                        </p:tav>
                                      </p:tavLst>
                                    </p:anim>
                                    <p:anim calcmode="lin" valueType="num">
                                      <p:cBhvr>
                                        <p:cTn id="42" dur="1000" fill="hold"/>
                                        <p:tgtEl>
                                          <p:spTgt spid="255"/>
                                        </p:tgtEl>
                                        <p:attrNameLst>
                                          <p:attrName>ppt_h</p:attrName>
                                        </p:attrNameLst>
                                      </p:cBhvr>
                                      <p:tavLst>
                                        <p:tav tm="0">
                                          <p:val>
                                            <p:fltVal val="0"/>
                                          </p:val>
                                        </p:tav>
                                        <p:tav tm="100000">
                                          <p:val>
                                            <p:strVal val="#ppt_h"/>
                                          </p:val>
                                        </p:tav>
                                      </p:tavLst>
                                    </p:anim>
                                    <p:anim calcmode="lin" valueType="num">
                                      <p:cBhvr>
                                        <p:cTn id="43" dur="1000" fill="hold"/>
                                        <p:tgtEl>
                                          <p:spTgt spid="255"/>
                                        </p:tgtEl>
                                        <p:attrNameLst>
                                          <p:attrName>style.rotation</p:attrName>
                                        </p:attrNameLst>
                                      </p:cBhvr>
                                      <p:tavLst>
                                        <p:tav tm="0">
                                          <p:val>
                                            <p:fltVal val="90"/>
                                          </p:val>
                                        </p:tav>
                                        <p:tav tm="100000">
                                          <p:val>
                                            <p:fltVal val="0"/>
                                          </p:val>
                                        </p:tav>
                                      </p:tavLst>
                                    </p:anim>
                                    <p:animEffect transition="in" filter="fade">
                                      <p:cBhvr>
                                        <p:cTn id="44" dur="1000"/>
                                        <p:tgtEl>
                                          <p:spTgt spid="255"/>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260"/>
                                        </p:tgtEl>
                                        <p:attrNameLst>
                                          <p:attrName>style.visibility</p:attrName>
                                        </p:attrNameLst>
                                      </p:cBhvr>
                                      <p:to>
                                        <p:strVal val="visible"/>
                                      </p:to>
                                    </p:set>
                                    <p:anim calcmode="lin" valueType="num">
                                      <p:cBhvr>
                                        <p:cTn id="49" dur="1000" fill="hold"/>
                                        <p:tgtEl>
                                          <p:spTgt spid="260"/>
                                        </p:tgtEl>
                                        <p:attrNameLst>
                                          <p:attrName>ppt_w</p:attrName>
                                        </p:attrNameLst>
                                      </p:cBhvr>
                                      <p:tavLst>
                                        <p:tav tm="0">
                                          <p:val>
                                            <p:fltVal val="0"/>
                                          </p:val>
                                        </p:tav>
                                        <p:tav tm="100000">
                                          <p:val>
                                            <p:strVal val="#ppt_w"/>
                                          </p:val>
                                        </p:tav>
                                      </p:tavLst>
                                    </p:anim>
                                    <p:anim calcmode="lin" valueType="num">
                                      <p:cBhvr>
                                        <p:cTn id="50" dur="1000" fill="hold"/>
                                        <p:tgtEl>
                                          <p:spTgt spid="260"/>
                                        </p:tgtEl>
                                        <p:attrNameLst>
                                          <p:attrName>ppt_h</p:attrName>
                                        </p:attrNameLst>
                                      </p:cBhvr>
                                      <p:tavLst>
                                        <p:tav tm="0">
                                          <p:val>
                                            <p:fltVal val="0"/>
                                          </p:val>
                                        </p:tav>
                                        <p:tav tm="100000">
                                          <p:val>
                                            <p:strVal val="#ppt_h"/>
                                          </p:val>
                                        </p:tav>
                                      </p:tavLst>
                                    </p:anim>
                                    <p:anim calcmode="lin" valueType="num">
                                      <p:cBhvr>
                                        <p:cTn id="51" dur="1000" fill="hold"/>
                                        <p:tgtEl>
                                          <p:spTgt spid="260"/>
                                        </p:tgtEl>
                                        <p:attrNameLst>
                                          <p:attrName>style.rotation</p:attrName>
                                        </p:attrNameLst>
                                      </p:cBhvr>
                                      <p:tavLst>
                                        <p:tav tm="0">
                                          <p:val>
                                            <p:fltVal val="90"/>
                                          </p:val>
                                        </p:tav>
                                        <p:tav tm="100000">
                                          <p:val>
                                            <p:fltVal val="0"/>
                                          </p:val>
                                        </p:tav>
                                      </p:tavLst>
                                    </p:anim>
                                    <p:animEffect transition="in" filter="fade">
                                      <p:cBhvr>
                                        <p:cTn id="52" dur="1000"/>
                                        <p:tgtEl>
                                          <p:spTgt spid="260"/>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259"/>
                                        </p:tgtEl>
                                        <p:attrNameLst>
                                          <p:attrName>style.visibility</p:attrName>
                                        </p:attrNameLst>
                                      </p:cBhvr>
                                      <p:to>
                                        <p:strVal val="visible"/>
                                      </p:to>
                                    </p:set>
                                    <p:anim calcmode="lin" valueType="num">
                                      <p:cBhvr>
                                        <p:cTn id="55" dur="1000" fill="hold"/>
                                        <p:tgtEl>
                                          <p:spTgt spid="259"/>
                                        </p:tgtEl>
                                        <p:attrNameLst>
                                          <p:attrName>ppt_w</p:attrName>
                                        </p:attrNameLst>
                                      </p:cBhvr>
                                      <p:tavLst>
                                        <p:tav tm="0">
                                          <p:val>
                                            <p:fltVal val="0"/>
                                          </p:val>
                                        </p:tav>
                                        <p:tav tm="100000">
                                          <p:val>
                                            <p:strVal val="#ppt_w"/>
                                          </p:val>
                                        </p:tav>
                                      </p:tavLst>
                                    </p:anim>
                                    <p:anim calcmode="lin" valueType="num">
                                      <p:cBhvr>
                                        <p:cTn id="56" dur="1000" fill="hold"/>
                                        <p:tgtEl>
                                          <p:spTgt spid="259"/>
                                        </p:tgtEl>
                                        <p:attrNameLst>
                                          <p:attrName>ppt_h</p:attrName>
                                        </p:attrNameLst>
                                      </p:cBhvr>
                                      <p:tavLst>
                                        <p:tav tm="0">
                                          <p:val>
                                            <p:fltVal val="0"/>
                                          </p:val>
                                        </p:tav>
                                        <p:tav tm="100000">
                                          <p:val>
                                            <p:strVal val="#ppt_h"/>
                                          </p:val>
                                        </p:tav>
                                      </p:tavLst>
                                    </p:anim>
                                    <p:anim calcmode="lin" valueType="num">
                                      <p:cBhvr>
                                        <p:cTn id="57" dur="1000" fill="hold"/>
                                        <p:tgtEl>
                                          <p:spTgt spid="259"/>
                                        </p:tgtEl>
                                        <p:attrNameLst>
                                          <p:attrName>style.rotation</p:attrName>
                                        </p:attrNameLst>
                                      </p:cBhvr>
                                      <p:tavLst>
                                        <p:tav tm="0">
                                          <p:val>
                                            <p:fltVal val="90"/>
                                          </p:val>
                                        </p:tav>
                                        <p:tav tm="100000">
                                          <p:val>
                                            <p:fltVal val="0"/>
                                          </p:val>
                                        </p:tav>
                                      </p:tavLst>
                                    </p:anim>
                                    <p:animEffect transition="in" filter="fade">
                                      <p:cBhvr>
                                        <p:cTn id="58" dur="10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animBg="1"/>
      <p:bldP spid="252" grpId="0" animBg="1"/>
      <p:bldP spid="255" grpId="0" animBg="1"/>
      <p:bldP spid="256" grpId="0" animBg="1"/>
      <p:bldP spid="259" grpId="0" animBg="1"/>
      <p:bldP spid="260" grpId="0" animBg="1"/>
      <p:bldP spid="263" grpId="0" animBg="1"/>
      <p:bldP spid="26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19" name="Heart 18">
            <a:extLst>
              <a:ext uri="{FF2B5EF4-FFF2-40B4-BE49-F238E27FC236}">
                <a16:creationId xmlns:a16="http://schemas.microsoft.com/office/drawing/2014/main" id="{FDAA2924-EB69-F1ED-FC8B-6DCB56FBFDE3}"/>
              </a:ext>
            </a:extLst>
          </p:cNvPr>
          <p:cNvSpPr/>
          <p:nvPr/>
        </p:nvSpPr>
        <p:spPr>
          <a:xfrm>
            <a:off x="6427890" y="273553"/>
            <a:ext cx="5503678" cy="5951259"/>
          </a:xfrm>
          <a:prstGeom prst="heart">
            <a:avLst/>
          </a:prstGeom>
          <a:blipFill dpi="0" rotWithShape="1">
            <a:blip r:embed="rId3">
              <a:alphaModFix amt="20000"/>
              <a:extLst>
                <a:ext uri="{BEBA8EAE-BF5A-486C-A8C5-ECC9F3942E4B}">
                  <a14:imgProps xmlns:a14="http://schemas.microsoft.com/office/drawing/2010/main">
                    <a14:imgLayer r:embed="rId4">
                      <a14:imgEffect>
                        <a14:saturation sat="300000"/>
                      </a14:imgEffect>
                    </a14:imgLayer>
                  </a14:imgProps>
                </a:ex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2" name="Google Shape;372;p27"/>
          <p:cNvPicPr preferRelativeResize="0"/>
          <p:nvPr/>
        </p:nvPicPr>
        <p:blipFill rotWithShape="1">
          <a:blip r:embed="rId5">
            <a:alphaModFix/>
          </a:blip>
          <a:srcRect/>
          <a:stretch/>
        </p:blipFill>
        <p:spPr>
          <a:xfrm rot="-589488">
            <a:off x="93352" y="198474"/>
            <a:ext cx="202415" cy="158251"/>
          </a:xfrm>
          <a:prstGeom prst="rect">
            <a:avLst/>
          </a:prstGeom>
          <a:noFill/>
          <a:ln>
            <a:noFill/>
          </a:ln>
        </p:spPr>
      </p:pic>
      <p:pic>
        <p:nvPicPr>
          <p:cNvPr id="373" name="Google Shape;373;p27"/>
          <p:cNvPicPr preferRelativeResize="0"/>
          <p:nvPr/>
        </p:nvPicPr>
        <p:blipFill rotWithShape="1">
          <a:blip r:embed="rId6">
            <a:alphaModFix/>
          </a:blip>
          <a:srcRect/>
          <a:stretch/>
        </p:blipFill>
        <p:spPr>
          <a:xfrm rot="-605715">
            <a:off x="4785534" y="166394"/>
            <a:ext cx="124112" cy="97032"/>
          </a:xfrm>
          <a:prstGeom prst="rect">
            <a:avLst/>
          </a:prstGeom>
          <a:noFill/>
          <a:ln>
            <a:noFill/>
          </a:ln>
        </p:spPr>
      </p:pic>
      <p:sp>
        <p:nvSpPr>
          <p:cNvPr id="421" name="Google Shape;421;p27"/>
          <p:cNvSpPr txBox="1">
            <a:spLocks noGrp="1"/>
          </p:cNvSpPr>
          <p:nvPr>
            <p:ph type="title"/>
          </p:nvPr>
        </p:nvSpPr>
        <p:spPr>
          <a:xfrm>
            <a:off x="273421" y="64059"/>
            <a:ext cx="4827694" cy="507791"/>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CSR Activities Zomato</a:t>
            </a:r>
            <a:endParaRPr dirty="0"/>
          </a:p>
        </p:txBody>
      </p:sp>
      <p:sp>
        <p:nvSpPr>
          <p:cNvPr id="12" name="Rectangle 11">
            <a:extLst>
              <a:ext uri="{FF2B5EF4-FFF2-40B4-BE49-F238E27FC236}">
                <a16:creationId xmlns:a16="http://schemas.microsoft.com/office/drawing/2014/main" id="{1567372B-BCF9-B789-93E5-0788362AE324}"/>
              </a:ext>
            </a:extLst>
          </p:cNvPr>
          <p:cNvSpPr/>
          <p:nvPr/>
        </p:nvSpPr>
        <p:spPr>
          <a:xfrm>
            <a:off x="1559857" y="1255059"/>
            <a:ext cx="7342093" cy="779929"/>
          </a:xfrm>
          <a:prstGeom prst="rect">
            <a:avLst/>
          </a:prstGeom>
          <a:noFill/>
          <a:ln w="3175">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Calibri" panose="020F0502020204030204" pitchFamily="34" charset="0"/>
                <a:cs typeface="Calibri" panose="020F0502020204030204" pitchFamily="34" charset="0"/>
              </a:rPr>
              <a:t>                          Reduced ~92% Scope 3 emission generated from food delivery operation</a:t>
            </a:r>
          </a:p>
          <a:p>
            <a:pPr algn="just"/>
            <a:r>
              <a:rPr lang="en-US" dirty="0">
                <a:solidFill>
                  <a:schemeClr val="tx1"/>
                </a:solidFill>
                <a:latin typeface="Calibri" panose="020F0502020204030204" pitchFamily="34" charset="0"/>
                <a:cs typeface="Calibri" panose="020F0502020204030204" pitchFamily="34" charset="0"/>
              </a:rPr>
              <a:t>                          Reduced ~5% Scope 3 emission generated from purchasing goods and services</a:t>
            </a:r>
          </a:p>
        </p:txBody>
      </p:sp>
      <p:sp>
        <p:nvSpPr>
          <p:cNvPr id="8" name="Flowchart: Terminator 7">
            <a:extLst>
              <a:ext uri="{FF2B5EF4-FFF2-40B4-BE49-F238E27FC236}">
                <a16:creationId xmlns:a16="http://schemas.microsoft.com/office/drawing/2014/main" id="{22CADF9C-BA19-CF6D-1AA4-A541C7949422}"/>
              </a:ext>
            </a:extLst>
          </p:cNvPr>
          <p:cNvSpPr/>
          <p:nvPr/>
        </p:nvSpPr>
        <p:spPr>
          <a:xfrm>
            <a:off x="233082" y="1255059"/>
            <a:ext cx="2294965" cy="779929"/>
          </a:xfrm>
          <a:prstGeom prst="flowChartTermina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Climate Management</a:t>
            </a:r>
          </a:p>
        </p:txBody>
      </p:sp>
      <p:sp>
        <p:nvSpPr>
          <p:cNvPr id="13" name="Rectangle 12">
            <a:extLst>
              <a:ext uri="{FF2B5EF4-FFF2-40B4-BE49-F238E27FC236}">
                <a16:creationId xmlns:a16="http://schemas.microsoft.com/office/drawing/2014/main" id="{FF4D66F5-228E-5BE5-ECA9-88A2BBEDC33F}"/>
              </a:ext>
            </a:extLst>
          </p:cNvPr>
          <p:cNvSpPr/>
          <p:nvPr/>
        </p:nvSpPr>
        <p:spPr>
          <a:xfrm>
            <a:off x="1559858" y="2391658"/>
            <a:ext cx="7342094" cy="763919"/>
          </a:xfrm>
          <a:prstGeom prst="rect">
            <a:avLst/>
          </a:prstGeom>
          <a:noFill/>
          <a:ln w="3175">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Calibri" panose="020F0502020204030204" pitchFamily="34" charset="0"/>
                <a:cs typeface="Calibri" panose="020F0502020204030204" pitchFamily="34" charset="0"/>
              </a:rPr>
              <a:t>                          Completely recycled 20000MT of plastic waste in 2023</a:t>
            </a:r>
          </a:p>
          <a:p>
            <a:pPr algn="just"/>
            <a:r>
              <a:rPr lang="en-US" dirty="0">
                <a:solidFill>
                  <a:schemeClr val="tx1"/>
                </a:solidFill>
                <a:latin typeface="Calibri" panose="020F0502020204030204" pitchFamily="34" charset="0"/>
                <a:cs typeface="Calibri" panose="020F0502020204030204" pitchFamily="34" charset="0"/>
              </a:rPr>
              <a:t>                          Launched reusable packaging in selected restaurants in Bengaluru</a:t>
            </a:r>
          </a:p>
        </p:txBody>
      </p:sp>
      <p:sp>
        <p:nvSpPr>
          <p:cNvPr id="14" name="Flowchart: Terminator 13">
            <a:extLst>
              <a:ext uri="{FF2B5EF4-FFF2-40B4-BE49-F238E27FC236}">
                <a16:creationId xmlns:a16="http://schemas.microsoft.com/office/drawing/2014/main" id="{DCF26DFE-4DEC-F1DD-DBAB-79E2E7CEAD16}"/>
              </a:ext>
            </a:extLst>
          </p:cNvPr>
          <p:cNvSpPr/>
          <p:nvPr/>
        </p:nvSpPr>
        <p:spPr>
          <a:xfrm>
            <a:off x="233082" y="2391658"/>
            <a:ext cx="2294965" cy="763919"/>
          </a:xfrm>
          <a:prstGeom prst="flowChartTermina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Waste-free World</a:t>
            </a:r>
          </a:p>
        </p:txBody>
      </p:sp>
      <p:sp>
        <p:nvSpPr>
          <p:cNvPr id="15" name="Rectangle 14">
            <a:extLst>
              <a:ext uri="{FF2B5EF4-FFF2-40B4-BE49-F238E27FC236}">
                <a16:creationId xmlns:a16="http://schemas.microsoft.com/office/drawing/2014/main" id="{A267288A-DA1B-CF66-A340-5A774E79F5DB}"/>
              </a:ext>
            </a:extLst>
          </p:cNvPr>
          <p:cNvSpPr/>
          <p:nvPr/>
        </p:nvSpPr>
        <p:spPr>
          <a:xfrm>
            <a:off x="1559858" y="3512247"/>
            <a:ext cx="7342094" cy="763919"/>
          </a:xfrm>
          <a:prstGeom prst="rect">
            <a:avLst/>
          </a:prstGeom>
          <a:noFill/>
          <a:ln w="3175">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Calibri" panose="020F0502020204030204" pitchFamily="34" charset="0"/>
                <a:cs typeface="Calibri" panose="020F0502020204030204" pitchFamily="34" charset="0"/>
              </a:rPr>
              <a:t>                          150+ Million meals served since 2014, till date</a:t>
            </a:r>
          </a:p>
          <a:p>
            <a:pPr algn="just"/>
            <a:r>
              <a:rPr lang="en-US" dirty="0">
                <a:solidFill>
                  <a:schemeClr val="tx1"/>
                </a:solidFill>
                <a:latin typeface="Calibri" panose="020F0502020204030204" pitchFamily="34" charset="0"/>
                <a:cs typeface="Calibri" panose="020F0502020204030204" pitchFamily="34" charset="0"/>
              </a:rPr>
              <a:t>                          36+ Million total meals donated by feeding India</a:t>
            </a:r>
          </a:p>
        </p:txBody>
      </p:sp>
      <p:sp>
        <p:nvSpPr>
          <p:cNvPr id="16" name="Flowchart: Terminator 15">
            <a:extLst>
              <a:ext uri="{FF2B5EF4-FFF2-40B4-BE49-F238E27FC236}">
                <a16:creationId xmlns:a16="http://schemas.microsoft.com/office/drawing/2014/main" id="{F94A788E-BFE4-D02E-54BC-0ACB221EA1C0}"/>
              </a:ext>
            </a:extLst>
          </p:cNvPr>
          <p:cNvSpPr/>
          <p:nvPr/>
        </p:nvSpPr>
        <p:spPr>
          <a:xfrm>
            <a:off x="273421" y="3512247"/>
            <a:ext cx="2294965" cy="763919"/>
          </a:xfrm>
          <a:prstGeom prst="flowChartTermina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Zero Hunger</a:t>
            </a:r>
          </a:p>
        </p:txBody>
      </p:sp>
      <p:sp>
        <p:nvSpPr>
          <p:cNvPr id="20" name="Rectangle 19">
            <a:extLst>
              <a:ext uri="{FF2B5EF4-FFF2-40B4-BE49-F238E27FC236}">
                <a16:creationId xmlns:a16="http://schemas.microsoft.com/office/drawing/2014/main" id="{7B7DCD87-C1D4-6FD9-07BB-577F69F64462}"/>
              </a:ext>
            </a:extLst>
          </p:cNvPr>
          <p:cNvSpPr/>
          <p:nvPr/>
        </p:nvSpPr>
        <p:spPr>
          <a:xfrm>
            <a:off x="1594221" y="4629711"/>
            <a:ext cx="7307731" cy="763919"/>
          </a:xfrm>
          <a:prstGeom prst="rect">
            <a:avLst/>
          </a:prstGeom>
          <a:noFill/>
          <a:ln w="3175">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latin typeface="Calibri" panose="020F0502020204030204" pitchFamily="34" charset="0"/>
                <a:cs typeface="Calibri" panose="020F0502020204030204" pitchFamily="34" charset="0"/>
              </a:rPr>
              <a:t>                          Provide 250K+ road safety assets to delivery partners</a:t>
            </a:r>
          </a:p>
          <a:p>
            <a:pPr algn="just"/>
            <a:r>
              <a:rPr lang="en-US" dirty="0">
                <a:solidFill>
                  <a:schemeClr val="tx1"/>
                </a:solidFill>
                <a:latin typeface="Calibri" panose="020F0502020204030204" pitchFamily="34" charset="0"/>
                <a:cs typeface="Calibri" panose="020F0502020204030204" pitchFamily="34" charset="0"/>
              </a:rPr>
              <a:t>                          set up emergency response ambulance services and helped 380+ delivery partners</a:t>
            </a:r>
          </a:p>
        </p:txBody>
      </p:sp>
      <p:sp>
        <p:nvSpPr>
          <p:cNvPr id="21" name="Flowchart: Terminator 20">
            <a:extLst>
              <a:ext uri="{FF2B5EF4-FFF2-40B4-BE49-F238E27FC236}">
                <a16:creationId xmlns:a16="http://schemas.microsoft.com/office/drawing/2014/main" id="{9711F5DC-CDFD-13D8-F844-B0C056B00767}"/>
              </a:ext>
            </a:extLst>
          </p:cNvPr>
          <p:cNvSpPr/>
          <p:nvPr/>
        </p:nvSpPr>
        <p:spPr>
          <a:xfrm>
            <a:off x="307785" y="4629711"/>
            <a:ext cx="2294965" cy="763919"/>
          </a:xfrm>
          <a:prstGeom prst="flowChartTermina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Health &amp; Safety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animBg="1"/>
      <p:bldP spid="13" grpId="0" animBg="1"/>
      <p:bldP spid="14" grpId="0" animBg="1"/>
      <p:bldP spid="15" grpId="0" animBg="1"/>
      <p:bldP spid="16"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24"/>
          <p:cNvPicPr preferRelativeResize="0"/>
          <p:nvPr/>
        </p:nvPicPr>
        <p:blipFill>
          <a:blip r:embed="rId3">
            <a:alphaModFix/>
          </a:blip>
          <a:stretch>
            <a:fillRect/>
          </a:stretch>
        </p:blipFill>
        <p:spPr>
          <a:xfrm>
            <a:off x="11434313" y="1"/>
            <a:ext cx="761348" cy="3998258"/>
          </a:xfrm>
          <a:prstGeom prst="rect">
            <a:avLst/>
          </a:prstGeom>
          <a:noFill/>
          <a:ln>
            <a:noFill/>
          </a:ln>
        </p:spPr>
      </p:pic>
      <p:pic>
        <p:nvPicPr>
          <p:cNvPr id="277" name="Google Shape;277;p24"/>
          <p:cNvPicPr preferRelativeResize="0"/>
          <p:nvPr/>
        </p:nvPicPr>
        <p:blipFill rotWithShape="1">
          <a:blip r:embed="rId4">
            <a:alphaModFix/>
          </a:blip>
          <a:srcRect/>
          <a:stretch/>
        </p:blipFill>
        <p:spPr>
          <a:xfrm rot="-589488">
            <a:off x="40840" y="346501"/>
            <a:ext cx="202415" cy="158251"/>
          </a:xfrm>
          <a:prstGeom prst="rect">
            <a:avLst/>
          </a:prstGeom>
          <a:noFill/>
          <a:ln>
            <a:noFill/>
          </a:ln>
        </p:spPr>
      </p:pic>
      <p:pic>
        <p:nvPicPr>
          <p:cNvPr id="278" name="Google Shape;278;p24"/>
          <p:cNvPicPr preferRelativeResize="0"/>
          <p:nvPr/>
        </p:nvPicPr>
        <p:blipFill rotWithShape="1">
          <a:blip r:embed="rId5">
            <a:alphaModFix/>
          </a:blip>
          <a:srcRect/>
          <a:stretch/>
        </p:blipFill>
        <p:spPr>
          <a:xfrm rot="-605715">
            <a:off x="5408533" y="196708"/>
            <a:ext cx="124112" cy="97032"/>
          </a:xfrm>
          <a:prstGeom prst="rect">
            <a:avLst/>
          </a:prstGeom>
          <a:noFill/>
          <a:ln>
            <a:noFill/>
          </a:ln>
        </p:spPr>
      </p:pic>
      <p:pic>
        <p:nvPicPr>
          <p:cNvPr id="280" name="Google Shape;280;p24"/>
          <p:cNvPicPr preferRelativeResize="0"/>
          <p:nvPr/>
        </p:nvPicPr>
        <p:blipFill rotWithShape="1">
          <a:blip r:embed="rId6">
            <a:alphaModFix/>
          </a:blip>
          <a:srcRect/>
          <a:stretch/>
        </p:blipFill>
        <p:spPr>
          <a:xfrm>
            <a:off x="8910108" y="431800"/>
            <a:ext cx="1544422" cy="774338"/>
          </a:xfrm>
          <a:prstGeom prst="rect">
            <a:avLst/>
          </a:prstGeom>
          <a:noFill/>
          <a:ln>
            <a:noFill/>
          </a:ln>
        </p:spPr>
      </p:pic>
      <p:pic>
        <p:nvPicPr>
          <p:cNvPr id="281" name="Google Shape;281;p24" descr="A black background with a black square&#10;&#10;Description automatically generated with medium confidence"/>
          <p:cNvPicPr preferRelativeResize="0"/>
          <p:nvPr/>
        </p:nvPicPr>
        <p:blipFill rotWithShape="1">
          <a:blip r:embed="rId7">
            <a:alphaModFix/>
          </a:blip>
          <a:srcRect/>
          <a:stretch/>
        </p:blipFill>
        <p:spPr>
          <a:xfrm rot="2349536">
            <a:off x="10617015" y="3749567"/>
            <a:ext cx="1962141" cy="153115"/>
          </a:xfrm>
          <a:prstGeom prst="rect">
            <a:avLst/>
          </a:prstGeom>
          <a:noFill/>
          <a:ln>
            <a:noFill/>
          </a:ln>
        </p:spPr>
      </p:pic>
      <p:grpSp>
        <p:nvGrpSpPr>
          <p:cNvPr id="282" name="Google Shape;282;p24"/>
          <p:cNvGrpSpPr/>
          <p:nvPr/>
        </p:nvGrpSpPr>
        <p:grpSpPr>
          <a:xfrm>
            <a:off x="11481558" y="75056"/>
            <a:ext cx="685825" cy="3214201"/>
            <a:chOff x="11059391" y="2420023"/>
            <a:chExt cx="668892" cy="3134840"/>
          </a:xfrm>
        </p:grpSpPr>
        <p:sp>
          <p:nvSpPr>
            <p:cNvPr id="283" name="Google Shape;283;p24"/>
            <p:cNvSpPr/>
            <p:nvPr/>
          </p:nvSpPr>
          <p:spPr>
            <a:xfrm rot="5400000">
              <a:off x="10934570" y="3523986"/>
              <a:ext cx="793785" cy="518645"/>
            </a:xfrm>
            <a:custGeom>
              <a:avLst/>
              <a:gdLst/>
              <a:ahLst/>
              <a:cxnLst/>
              <a:rect l="l" t="t" r="r" b="b"/>
              <a:pathLst>
                <a:path w="793785" h="518645" extrusionOk="0">
                  <a:moveTo>
                    <a:pt x="280968" y="516784"/>
                  </a:moveTo>
                  <a:cubicBezTo>
                    <a:pt x="287790" y="470409"/>
                    <a:pt x="294343" y="426253"/>
                    <a:pt x="300795" y="382063"/>
                  </a:cubicBezTo>
                  <a:cubicBezTo>
                    <a:pt x="309600" y="321675"/>
                    <a:pt x="318370" y="261321"/>
                    <a:pt x="327108" y="200934"/>
                  </a:cubicBezTo>
                  <a:cubicBezTo>
                    <a:pt x="328922" y="188366"/>
                    <a:pt x="329897" y="175529"/>
                    <a:pt x="316488" y="168371"/>
                  </a:cubicBezTo>
                  <a:cubicBezTo>
                    <a:pt x="302879" y="161079"/>
                    <a:pt x="291655" y="167867"/>
                    <a:pt x="281506" y="176671"/>
                  </a:cubicBezTo>
                  <a:cubicBezTo>
                    <a:pt x="238492" y="213905"/>
                    <a:pt x="214834" y="261960"/>
                    <a:pt x="205929" y="317172"/>
                  </a:cubicBezTo>
                  <a:cubicBezTo>
                    <a:pt x="196386" y="376283"/>
                    <a:pt x="188522" y="435696"/>
                    <a:pt x="180625" y="495075"/>
                  </a:cubicBezTo>
                  <a:cubicBezTo>
                    <a:pt x="178474" y="511205"/>
                    <a:pt x="172392" y="518363"/>
                    <a:pt x="154884" y="517994"/>
                  </a:cubicBezTo>
                  <a:cubicBezTo>
                    <a:pt x="104040" y="516985"/>
                    <a:pt x="53163" y="517624"/>
                    <a:pt x="0" y="517624"/>
                  </a:cubicBezTo>
                  <a:cubicBezTo>
                    <a:pt x="706" y="510399"/>
                    <a:pt x="1109" y="504014"/>
                    <a:pt x="1983" y="497730"/>
                  </a:cubicBezTo>
                  <a:cubicBezTo>
                    <a:pt x="18785" y="377459"/>
                    <a:pt x="36259" y="257255"/>
                    <a:pt x="52020" y="136850"/>
                  </a:cubicBezTo>
                  <a:cubicBezTo>
                    <a:pt x="56153" y="105362"/>
                    <a:pt x="55347" y="73169"/>
                    <a:pt x="56053" y="41278"/>
                  </a:cubicBezTo>
                  <a:cubicBezTo>
                    <a:pt x="56288" y="29987"/>
                    <a:pt x="59312" y="23233"/>
                    <a:pt x="71679" y="22258"/>
                  </a:cubicBezTo>
                  <a:cubicBezTo>
                    <a:pt x="121346" y="18461"/>
                    <a:pt x="171014" y="14294"/>
                    <a:pt x="220682" y="10362"/>
                  </a:cubicBezTo>
                  <a:cubicBezTo>
                    <a:pt x="222765" y="10194"/>
                    <a:pt x="224916" y="10900"/>
                    <a:pt x="229318" y="11505"/>
                  </a:cubicBezTo>
                  <a:lnTo>
                    <a:pt x="229318" y="147973"/>
                  </a:lnTo>
                  <a:cubicBezTo>
                    <a:pt x="237148" y="136716"/>
                    <a:pt x="245986" y="124047"/>
                    <a:pt x="254790" y="111378"/>
                  </a:cubicBezTo>
                  <a:cubicBezTo>
                    <a:pt x="280061" y="74950"/>
                    <a:pt x="311649" y="45244"/>
                    <a:pt x="349656" y="22493"/>
                  </a:cubicBezTo>
                  <a:cubicBezTo>
                    <a:pt x="358259" y="17352"/>
                    <a:pt x="367400" y="12849"/>
                    <a:pt x="376742" y="9220"/>
                  </a:cubicBezTo>
                  <a:cubicBezTo>
                    <a:pt x="448051" y="-18471"/>
                    <a:pt x="506052" y="18024"/>
                    <a:pt x="511832" y="94407"/>
                  </a:cubicBezTo>
                  <a:cubicBezTo>
                    <a:pt x="512941" y="109261"/>
                    <a:pt x="512000" y="124282"/>
                    <a:pt x="515562" y="140681"/>
                  </a:cubicBezTo>
                  <a:cubicBezTo>
                    <a:pt x="526719" y="126533"/>
                    <a:pt x="536901" y="111445"/>
                    <a:pt x="549201" y="98373"/>
                  </a:cubicBezTo>
                  <a:cubicBezTo>
                    <a:pt x="572489" y="73606"/>
                    <a:pt x="595071" y="47596"/>
                    <a:pt x="621484" y="26560"/>
                  </a:cubicBezTo>
                  <a:cubicBezTo>
                    <a:pt x="650586" y="3372"/>
                    <a:pt x="686644" y="-2441"/>
                    <a:pt x="723542" y="3137"/>
                  </a:cubicBezTo>
                  <a:cubicBezTo>
                    <a:pt x="769647" y="10093"/>
                    <a:pt x="796464" y="39833"/>
                    <a:pt x="793574" y="86342"/>
                  </a:cubicBezTo>
                  <a:cubicBezTo>
                    <a:pt x="790112" y="142126"/>
                    <a:pt x="784097" y="197876"/>
                    <a:pt x="776099" y="253223"/>
                  </a:cubicBezTo>
                  <a:cubicBezTo>
                    <a:pt x="764573" y="332967"/>
                    <a:pt x="750291" y="412307"/>
                    <a:pt x="737118" y="491849"/>
                  </a:cubicBezTo>
                  <a:cubicBezTo>
                    <a:pt x="733455" y="514028"/>
                    <a:pt x="730195" y="517456"/>
                    <a:pt x="708050" y="517758"/>
                  </a:cubicBezTo>
                  <a:cubicBezTo>
                    <a:pt x="666615" y="518363"/>
                    <a:pt x="625181" y="517758"/>
                    <a:pt x="583780" y="518632"/>
                  </a:cubicBezTo>
                  <a:cubicBezTo>
                    <a:pt x="568691" y="518968"/>
                    <a:pt x="566104" y="513121"/>
                    <a:pt x="567986" y="499545"/>
                  </a:cubicBezTo>
                  <a:cubicBezTo>
                    <a:pt x="581293" y="403066"/>
                    <a:pt x="594063" y="306486"/>
                    <a:pt x="606933" y="209940"/>
                  </a:cubicBezTo>
                  <a:cubicBezTo>
                    <a:pt x="607908" y="202715"/>
                    <a:pt x="608714" y="195490"/>
                    <a:pt x="609017" y="188231"/>
                  </a:cubicBezTo>
                  <a:cubicBezTo>
                    <a:pt x="609991" y="165616"/>
                    <a:pt x="601254" y="159768"/>
                    <a:pt x="580352" y="169514"/>
                  </a:cubicBezTo>
                  <a:cubicBezTo>
                    <a:pt x="551015" y="183191"/>
                    <a:pt x="532835" y="207924"/>
                    <a:pt x="517444" y="235009"/>
                  </a:cubicBezTo>
                  <a:cubicBezTo>
                    <a:pt x="490762" y="282022"/>
                    <a:pt x="484747" y="334378"/>
                    <a:pt x="478328" y="386734"/>
                  </a:cubicBezTo>
                  <a:cubicBezTo>
                    <a:pt x="473489" y="426186"/>
                    <a:pt x="467407" y="465470"/>
                    <a:pt x="462265" y="504854"/>
                  </a:cubicBezTo>
                  <a:cubicBezTo>
                    <a:pt x="461257" y="512617"/>
                    <a:pt x="459308" y="516985"/>
                    <a:pt x="450235" y="516918"/>
                  </a:cubicBezTo>
                  <a:cubicBezTo>
                    <a:pt x="394855" y="516616"/>
                    <a:pt x="339474" y="516784"/>
                    <a:pt x="281036" y="51678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24"/>
            <p:cNvSpPr/>
            <p:nvPr/>
          </p:nvSpPr>
          <p:spPr>
            <a:xfrm rot="5400000">
              <a:off x="11081233" y="5041760"/>
              <a:ext cx="492264" cy="533941"/>
            </a:xfrm>
            <a:custGeom>
              <a:avLst/>
              <a:gdLst/>
              <a:ahLst/>
              <a:cxnLst/>
              <a:rect l="l" t="t" r="r" b="b"/>
              <a:pathLst>
                <a:path w="492264" h="533941" extrusionOk="0">
                  <a:moveTo>
                    <a:pt x="263042" y="100"/>
                  </a:moveTo>
                  <a:cubicBezTo>
                    <a:pt x="400048" y="-3327"/>
                    <a:pt x="488730" y="81457"/>
                    <a:pt x="492091" y="204484"/>
                  </a:cubicBezTo>
                  <a:cubicBezTo>
                    <a:pt x="494914" y="308389"/>
                    <a:pt x="463594" y="398550"/>
                    <a:pt x="385094" y="469288"/>
                  </a:cubicBezTo>
                  <a:cubicBezTo>
                    <a:pt x="308072" y="538648"/>
                    <a:pt x="186961" y="554073"/>
                    <a:pt x="101672" y="506455"/>
                  </a:cubicBezTo>
                  <a:cubicBezTo>
                    <a:pt x="38798" y="471372"/>
                    <a:pt x="9562" y="414042"/>
                    <a:pt x="2303" y="345993"/>
                  </a:cubicBezTo>
                  <a:cubicBezTo>
                    <a:pt x="-10870" y="222798"/>
                    <a:pt x="32514" y="121850"/>
                    <a:pt x="131244" y="46273"/>
                  </a:cubicBezTo>
                  <a:cubicBezTo>
                    <a:pt x="174023" y="13509"/>
                    <a:pt x="223892" y="67"/>
                    <a:pt x="263109" y="100"/>
                  </a:cubicBezTo>
                  <a:close/>
                  <a:moveTo>
                    <a:pt x="171906" y="303516"/>
                  </a:moveTo>
                  <a:cubicBezTo>
                    <a:pt x="177585" y="326065"/>
                    <a:pt x="180979" y="349588"/>
                    <a:pt x="189582" y="370961"/>
                  </a:cubicBezTo>
                  <a:cubicBezTo>
                    <a:pt x="199730" y="396198"/>
                    <a:pt x="223489" y="403053"/>
                    <a:pt x="246273" y="388133"/>
                  </a:cubicBezTo>
                  <a:cubicBezTo>
                    <a:pt x="258875" y="379866"/>
                    <a:pt x="271073" y="368071"/>
                    <a:pt x="278365" y="355032"/>
                  </a:cubicBezTo>
                  <a:cubicBezTo>
                    <a:pt x="309954" y="298610"/>
                    <a:pt x="314591" y="238424"/>
                    <a:pt x="297486" y="176457"/>
                  </a:cubicBezTo>
                  <a:cubicBezTo>
                    <a:pt x="292378" y="157975"/>
                    <a:pt x="279777" y="146784"/>
                    <a:pt x="260555" y="144533"/>
                  </a:cubicBezTo>
                  <a:cubicBezTo>
                    <a:pt x="241467" y="142315"/>
                    <a:pt x="226950" y="150279"/>
                    <a:pt x="216634" y="166376"/>
                  </a:cubicBezTo>
                  <a:cubicBezTo>
                    <a:pt x="190086" y="207911"/>
                    <a:pt x="175535" y="253076"/>
                    <a:pt x="171939" y="30351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24"/>
            <p:cNvSpPr/>
            <p:nvPr/>
          </p:nvSpPr>
          <p:spPr>
            <a:xfrm rot="5400000">
              <a:off x="11081802" y="2871110"/>
              <a:ext cx="485200" cy="530022"/>
            </a:xfrm>
            <a:custGeom>
              <a:avLst/>
              <a:gdLst/>
              <a:ahLst/>
              <a:cxnLst/>
              <a:rect l="l" t="t" r="r" b="b"/>
              <a:pathLst>
                <a:path w="485200" h="530022" extrusionOk="0">
                  <a:moveTo>
                    <a:pt x="485200" y="223253"/>
                  </a:moveTo>
                  <a:cubicBezTo>
                    <a:pt x="484125" y="348766"/>
                    <a:pt x="431970" y="445413"/>
                    <a:pt x="319496" y="503751"/>
                  </a:cubicBezTo>
                  <a:cubicBezTo>
                    <a:pt x="254739" y="537355"/>
                    <a:pt x="185111" y="537994"/>
                    <a:pt x="117666" y="509833"/>
                  </a:cubicBezTo>
                  <a:cubicBezTo>
                    <a:pt x="50255" y="481706"/>
                    <a:pt x="16281" y="426763"/>
                    <a:pt x="4620" y="356226"/>
                  </a:cubicBezTo>
                  <a:cubicBezTo>
                    <a:pt x="-17021" y="225370"/>
                    <a:pt x="38460" y="100495"/>
                    <a:pt x="148112" y="34328"/>
                  </a:cubicBezTo>
                  <a:cubicBezTo>
                    <a:pt x="238408" y="-20145"/>
                    <a:pt x="361064" y="-8720"/>
                    <a:pt x="429887" y="61010"/>
                  </a:cubicBezTo>
                  <a:cubicBezTo>
                    <a:pt x="470582" y="102209"/>
                    <a:pt x="484192" y="153691"/>
                    <a:pt x="485133" y="209777"/>
                  </a:cubicBezTo>
                  <a:cubicBezTo>
                    <a:pt x="485200" y="214247"/>
                    <a:pt x="485133" y="218750"/>
                    <a:pt x="485133" y="223219"/>
                  </a:cubicBezTo>
                  <a:close/>
                  <a:moveTo>
                    <a:pt x="306759" y="223824"/>
                  </a:moveTo>
                  <a:cubicBezTo>
                    <a:pt x="305281" y="213642"/>
                    <a:pt x="303668" y="195764"/>
                    <a:pt x="299837" y="178391"/>
                  </a:cubicBezTo>
                  <a:cubicBezTo>
                    <a:pt x="295267" y="157623"/>
                    <a:pt x="283001" y="143274"/>
                    <a:pt x="260587" y="140048"/>
                  </a:cubicBezTo>
                  <a:cubicBezTo>
                    <a:pt x="239550" y="137023"/>
                    <a:pt x="224764" y="147273"/>
                    <a:pt x="213977" y="163638"/>
                  </a:cubicBezTo>
                  <a:cubicBezTo>
                    <a:pt x="173920" y="224530"/>
                    <a:pt x="165956" y="290563"/>
                    <a:pt x="185884" y="359788"/>
                  </a:cubicBezTo>
                  <a:cubicBezTo>
                    <a:pt x="194520" y="389764"/>
                    <a:pt x="229233" y="400181"/>
                    <a:pt x="253698" y="380254"/>
                  </a:cubicBezTo>
                  <a:cubicBezTo>
                    <a:pt x="265426" y="370710"/>
                    <a:pt x="274768" y="357067"/>
                    <a:pt x="282161" y="343625"/>
                  </a:cubicBezTo>
                  <a:cubicBezTo>
                    <a:pt x="301315" y="308911"/>
                    <a:pt x="305247" y="270367"/>
                    <a:pt x="306759" y="22379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24"/>
            <p:cNvSpPr/>
            <p:nvPr/>
          </p:nvSpPr>
          <p:spPr>
            <a:xfrm rot="5400000">
              <a:off x="11093113" y="4169783"/>
              <a:ext cx="489008" cy="532002"/>
            </a:xfrm>
            <a:custGeom>
              <a:avLst/>
              <a:gdLst/>
              <a:ahLst/>
              <a:cxnLst/>
              <a:rect l="l" t="t" r="r" b="b"/>
              <a:pathLst>
                <a:path w="489008" h="532002" extrusionOk="0">
                  <a:moveTo>
                    <a:pt x="288799" y="525382"/>
                  </a:moveTo>
                  <a:cubicBezTo>
                    <a:pt x="292765" y="500717"/>
                    <a:pt x="296327" y="478403"/>
                    <a:pt x="299687" y="457602"/>
                  </a:cubicBezTo>
                  <a:cubicBezTo>
                    <a:pt x="292294" y="464020"/>
                    <a:pt x="284162" y="470741"/>
                    <a:pt x="276433" y="477933"/>
                  </a:cubicBezTo>
                  <a:cubicBezTo>
                    <a:pt x="229857" y="521047"/>
                    <a:pt x="173603" y="536808"/>
                    <a:pt x="112173" y="530759"/>
                  </a:cubicBezTo>
                  <a:cubicBezTo>
                    <a:pt x="41267" y="523769"/>
                    <a:pt x="-3931" y="464726"/>
                    <a:pt x="270" y="389989"/>
                  </a:cubicBezTo>
                  <a:cubicBezTo>
                    <a:pt x="5579" y="295359"/>
                    <a:pt x="66437" y="229494"/>
                    <a:pt x="167050" y="216690"/>
                  </a:cubicBezTo>
                  <a:cubicBezTo>
                    <a:pt x="215003" y="210608"/>
                    <a:pt x="264167" y="212590"/>
                    <a:pt x="312726" y="213330"/>
                  </a:cubicBezTo>
                  <a:cubicBezTo>
                    <a:pt x="331175" y="213599"/>
                    <a:pt x="335644" y="206239"/>
                    <a:pt x="337022" y="190680"/>
                  </a:cubicBezTo>
                  <a:cubicBezTo>
                    <a:pt x="340181" y="155026"/>
                    <a:pt x="318170" y="129049"/>
                    <a:pt x="280062" y="125857"/>
                  </a:cubicBezTo>
                  <a:cubicBezTo>
                    <a:pt x="236174" y="122160"/>
                    <a:pt x="194370" y="131805"/>
                    <a:pt x="153843" y="147767"/>
                  </a:cubicBezTo>
                  <a:cubicBezTo>
                    <a:pt x="138351" y="153850"/>
                    <a:pt x="123229" y="160873"/>
                    <a:pt x="105620" y="168434"/>
                  </a:cubicBezTo>
                  <a:cubicBezTo>
                    <a:pt x="95371" y="136644"/>
                    <a:pt x="84618" y="106198"/>
                    <a:pt x="76351" y="75080"/>
                  </a:cubicBezTo>
                  <a:cubicBezTo>
                    <a:pt x="74771" y="69065"/>
                    <a:pt x="81055" y="56564"/>
                    <a:pt x="86970" y="53641"/>
                  </a:cubicBezTo>
                  <a:cubicBezTo>
                    <a:pt x="178005" y="8610"/>
                    <a:pt x="273207" y="-14409"/>
                    <a:pt x="374491" y="9753"/>
                  </a:cubicBezTo>
                  <a:cubicBezTo>
                    <a:pt x="454806" y="28908"/>
                    <a:pt x="494594" y="83414"/>
                    <a:pt x="488377" y="167695"/>
                  </a:cubicBezTo>
                  <a:cubicBezTo>
                    <a:pt x="483168" y="238533"/>
                    <a:pt x="472986" y="308969"/>
                    <a:pt x="465526" y="379639"/>
                  </a:cubicBezTo>
                  <a:cubicBezTo>
                    <a:pt x="461225" y="420200"/>
                    <a:pt x="457696" y="460861"/>
                    <a:pt x="454369" y="501523"/>
                  </a:cubicBezTo>
                  <a:cubicBezTo>
                    <a:pt x="452689" y="522257"/>
                    <a:pt x="450034" y="525382"/>
                    <a:pt x="429065" y="525382"/>
                  </a:cubicBezTo>
                  <a:cubicBezTo>
                    <a:pt x="383262" y="525416"/>
                    <a:pt x="337492" y="525382"/>
                    <a:pt x="288866" y="525382"/>
                  </a:cubicBezTo>
                  <a:close/>
                  <a:moveTo>
                    <a:pt x="322908" y="299593"/>
                  </a:moveTo>
                  <a:cubicBezTo>
                    <a:pt x="284263" y="291897"/>
                    <a:pt x="247701" y="288839"/>
                    <a:pt x="211038" y="297106"/>
                  </a:cubicBezTo>
                  <a:cubicBezTo>
                    <a:pt x="187582" y="302416"/>
                    <a:pt x="166814" y="313270"/>
                    <a:pt x="151121" y="331954"/>
                  </a:cubicBezTo>
                  <a:cubicBezTo>
                    <a:pt x="119633" y="369490"/>
                    <a:pt x="138385" y="422014"/>
                    <a:pt x="186204" y="431625"/>
                  </a:cubicBezTo>
                  <a:cubicBezTo>
                    <a:pt x="209963" y="436397"/>
                    <a:pt x="232041" y="432398"/>
                    <a:pt x="252237" y="419662"/>
                  </a:cubicBezTo>
                  <a:cubicBezTo>
                    <a:pt x="295621" y="392274"/>
                    <a:pt x="316086" y="351109"/>
                    <a:pt x="322908" y="2995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24"/>
            <p:cNvSpPr/>
            <p:nvPr/>
          </p:nvSpPr>
          <p:spPr>
            <a:xfrm rot="5400000">
              <a:off x="11086918" y="2411877"/>
              <a:ext cx="478841" cy="495132"/>
            </a:xfrm>
            <a:custGeom>
              <a:avLst/>
              <a:gdLst/>
              <a:ahLst/>
              <a:cxnLst/>
              <a:rect l="l" t="t" r="r" b="b"/>
              <a:pathLst>
                <a:path w="478841" h="495132" extrusionOk="0">
                  <a:moveTo>
                    <a:pt x="232200" y="149406"/>
                  </a:moveTo>
                  <a:lnTo>
                    <a:pt x="54297" y="149406"/>
                  </a:lnTo>
                  <a:cubicBezTo>
                    <a:pt x="61891" y="98495"/>
                    <a:pt x="69184" y="49634"/>
                    <a:pt x="76577" y="0"/>
                  </a:cubicBezTo>
                  <a:lnTo>
                    <a:pt x="478522" y="0"/>
                  </a:lnTo>
                  <a:cubicBezTo>
                    <a:pt x="478522" y="23893"/>
                    <a:pt x="479395" y="46744"/>
                    <a:pt x="478253" y="69461"/>
                  </a:cubicBezTo>
                  <a:cubicBezTo>
                    <a:pt x="477211" y="90497"/>
                    <a:pt x="466122" y="106964"/>
                    <a:pt x="451873" y="122321"/>
                  </a:cubicBezTo>
                  <a:cubicBezTo>
                    <a:pt x="385941" y="193260"/>
                    <a:pt x="320613" y="264737"/>
                    <a:pt x="255084" y="336046"/>
                  </a:cubicBezTo>
                  <a:cubicBezTo>
                    <a:pt x="253606" y="337659"/>
                    <a:pt x="252430" y="339541"/>
                    <a:pt x="249304" y="343742"/>
                  </a:cubicBezTo>
                  <a:lnTo>
                    <a:pt x="438163" y="343742"/>
                  </a:lnTo>
                  <a:cubicBezTo>
                    <a:pt x="436382" y="354764"/>
                    <a:pt x="435138" y="363400"/>
                    <a:pt x="433626" y="371970"/>
                  </a:cubicBezTo>
                  <a:cubicBezTo>
                    <a:pt x="427476" y="406112"/>
                    <a:pt x="420453" y="440153"/>
                    <a:pt x="415412" y="474464"/>
                  </a:cubicBezTo>
                  <a:cubicBezTo>
                    <a:pt x="413093" y="490291"/>
                    <a:pt x="407280" y="495231"/>
                    <a:pt x="390847" y="495131"/>
                  </a:cubicBezTo>
                  <a:cubicBezTo>
                    <a:pt x="267653" y="494358"/>
                    <a:pt x="144492" y="494727"/>
                    <a:pt x="21297" y="494727"/>
                  </a:cubicBezTo>
                  <a:cubicBezTo>
                    <a:pt x="18508" y="494727"/>
                    <a:pt x="15685" y="494458"/>
                    <a:pt x="12896" y="494727"/>
                  </a:cubicBezTo>
                  <a:cubicBezTo>
                    <a:pt x="3318" y="495769"/>
                    <a:pt x="-109" y="491098"/>
                    <a:pt x="59" y="482058"/>
                  </a:cubicBezTo>
                  <a:cubicBezTo>
                    <a:pt x="462" y="459106"/>
                    <a:pt x="-983" y="435986"/>
                    <a:pt x="1504" y="413303"/>
                  </a:cubicBezTo>
                  <a:cubicBezTo>
                    <a:pt x="2613" y="403323"/>
                    <a:pt x="9905" y="392771"/>
                    <a:pt x="17063" y="384907"/>
                  </a:cubicBezTo>
                  <a:cubicBezTo>
                    <a:pt x="83298" y="311952"/>
                    <a:pt x="150137" y="239534"/>
                    <a:pt x="216775" y="166948"/>
                  </a:cubicBezTo>
                  <a:cubicBezTo>
                    <a:pt x="220909" y="162445"/>
                    <a:pt x="224840" y="157774"/>
                    <a:pt x="232166" y="14940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24"/>
            <p:cNvSpPr/>
            <p:nvPr/>
          </p:nvSpPr>
          <p:spPr>
            <a:xfrm rot="5400000">
              <a:off x="11219643" y="4563687"/>
              <a:ext cx="353756" cy="663525"/>
            </a:xfrm>
            <a:custGeom>
              <a:avLst/>
              <a:gdLst/>
              <a:ahLst/>
              <a:cxnLst/>
              <a:rect l="l" t="t" r="r" b="b"/>
              <a:pathLst>
                <a:path w="353756" h="663525" extrusionOk="0">
                  <a:moveTo>
                    <a:pt x="353756" y="158950"/>
                  </a:moveTo>
                  <a:cubicBezTo>
                    <a:pt x="347069" y="200216"/>
                    <a:pt x="341255" y="238257"/>
                    <a:pt x="334232" y="276096"/>
                  </a:cubicBezTo>
                  <a:cubicBezTo>
                    <a:pt x="333627" y="279456"/>
                    <a:pt x="325360" y="283455"/>
                    <a:pt x="320521" y="283589"/>
                  </a:cubicBezTo>
                  <a:cubicBezTo>
                    <a:pt x="295351" y="284262"/>
                    <a:pt x="270148" y="284530"/>
                    <a:pt x="244978" y="283455"/>
                  </a:cubicBezTo>
                  <a:cubicBezTo>
                    <a:pt x="231234" y="282884"/>
                    <a:pt x="224647" y="286748"/>
                    <a:pt x="222832" y="301198"/>
                  </a:cubicBezTo>
                  <a:cubicBezTo>
                    <a:pt x="215137" y="363367"/>
                    <a:pt x="206198" y="425401"/>
                    <a:pt x="198503" y="487603"/>
                  </a:cubicBezTo>
                  <a:cubicBezTo>
                    <a:pt x="194537" y="519662"/>
                    <a:pt x="208080" y="531558"/>
                    <a:pt x="239870" y="524367"/>
                  </a:cubicBezTo>
                  <a:cubicBezTo>
                    <a:pt x="262183" y="519326"/>
                    <a:pt x="284094" y="512571"/>
                    <a:pt x="308793" y="505850"/>
                  </a:cubicBezTo>
                  <a:cubicBezTo>
                    <a:pt x="308255" y="512302"/>
                    <a:pt x="307987" y="517444"/>
                    <a:pt x="307348" y="522552"/>
                  </a:cubicBezTo>
                  <a:cubicBezTo>
                    <a:pt x="304626" y="544193"/>
                    <a:pt x="301232" y="565734"/>
                    <a:pt x="299115" y="587442"/>
                  </a:cubicBezTo>
                  <a:cubicBezTo>
                    <a:pt x="296931" y="610025"/>
                    <a:pt x="286816" y="627734"/>
                    <a:pt x="266082" y="636337"/>
                  </a:cubicBezTo>
                  <a:cubicBezTo>
                    <a:pt x="210365" y="659424"/>
                    <a:pt x="152800" y="671622"/>
                    <a:pt x="92480" y="657508"/>
                  </a:cubicBezTo>
                  <a:cubicBezTo>
                    <a:pt x="45400" y="646486"/>
                    <a:pt x="19692" y="614662"/>
                    <a:pt x="23759" y="566372"/>
                  </a:cubicBezTo>
                  <a:cubicBezTo>
                    <a:pt x="31286" y="477219"/>
                    <a:pt x="41569" y="388301"/>
                    <a:pt x="50709" y="299316"/>
                  </a:cubicBezTo>
                  <a:cubicBezTo>
                    <a:pt x="51180" y="294914"/>
                    <a:pt x="51785" y="290512"/>
                    <a:pt x="52558" y="283925"/>
                  </a:cubicBezTo>
                  <a:lnTo>
                    <a:pt x="0" y="283925"/>
                  </a:lnTo>
                  <a:cubicBezTo>
                    <a:pt x="3562" y="254051"/>
                    <a:pt x="6855" y="226495"/>
                    <a:pt x="10149" y="198939"/>
                  </a:cubicBezTo>
                  <a:cubicBezTo>
                    <a:pt x="10216" y="198368"/>
                    <a:pt x="10350" y="197830"/>
                    <a:pt x="10418" y="197293"/>
                  </a:cubicBezTo>
                  <a:cubicBezTo>
                    <a:pt x="16298" y="156799"/>
                    <a:pt x="16231" y="156564"/>
                    <a:pt x="56826" y="149305"/>
                  </a:cubicBezTo>
                  <a:cubicBezTo>
                    <a:pt x="68856" y="147155"/>
                    <a:pt x="76081" y="140971"/>
                    <a:pt x="78635" y="129311"/>
                  </a:cubicBezTo>
                  <a:cubicBezTo>
                    <a:pt x="81290" y="117314"/>
                    <a:pt x="83104" y="105082"/>
                    <a:pt x="86095" y="93186"/>
                  </a:cubicBezTo>
                  <a:cubicBezTo>
                    <a:pt x="91136" y="73090"/>
                    <a:pt x="102326" y="56489"/>
                    <a:pt x="121850" y="49298"/>
                  </a:cubicBezTo>
                  <a:cubicBezTo>
                    <a:pt x="167889" y="32328"/>
                    <a:pt x="214532" y="17071"/>
                    <a:pt x="264200" y="0"/>
                  </a:cubicBezTo>
                  <a:cubicBezTo>
                    <a:pt x="257613" y="53566"/>
                    <a:pt x="251296" y="105250"/>
                    <a:pt x="244709" y="158950"/>
                  </a:cubicBezTo>
                  <a:lnTo>
                    <a:pt x="353622" y="158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1" name="Google Shape;311;p24"/>
          <p:cNvSpPr txBox="1">
            <a:spLocks noGrp="1"/>
          </p:cNvSpPr>
          <p:nvPr>
            <p:ph type="title"/>
          </p:nvPr>
        </p:nvSpPr>
        <p:spPr>
          <a:xfrm>
            <a:off x="227658" y="147516"/>
            <a:ext cx="5312530" cy="511679"/>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3000" b="1" dirty="0">
                <a:solidFill>
                  <a:schemeClr val="accent1"/>
                </a:solidFill>
                <a:latin typeface="Poppins"/>
                <a:ea typeface="Poppins"/>
                <a:cs typeface="Poppins"/>
                <a:sym typeface="Poppins"/>
              </a:rPr>
              <a:t>SWOT Analysis of </a:t>
            </a:r>
            <a:r>
              <a:rPr lang="en-US" dirty="0"/>
              <a:t>Z</a:t>
            </a:r>
            <a:r>
              <a:rPr lang="en-US" sz="3000" b="1" dirty="0">
                <a:solidFill>
                  <a:schemeClr val="accent1"/>
                </a:solidFill>
                <a:latin typeface="Poppins"/>
                <a:ea typeface="Poppins"/>
                <a:cs typeface="Poppins"/>
                <a:sym typeface="Poppins"/>
              </a:rPr>
              <a:t>omato</a:t>
            </a:r>
            <a:endParaRPr dirty="0"/>
          </a:p>
        </p:txBody>
      </p:sp>
      <p:sp>
        <p:nvSpPr>
          <p:cNvPr id="10" name="Oval 9">
            <a:extLst>
              <a:ext uri="{FF2B5EF4-FFF2-40B4-BE49-F238E27FC236}">
                <a16:creationId xmlns:a16="http://schemas.microsoft.com/office/drawing/2014/main" id="{EAE001C3-B148-D9CB-932A-B8D40A287202}"/>
              </a:ext>
            </a:extLst>
          </p:cNvPr>
          <p:cNvSpPr/>
          <p:nvPr/>
        </p:nvSpPr>
        <p:spPr>
          <a:xfrm>
            <a:off x="484095" y="2337666"/>
            <a:ext cx="1622611" cy="149710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latin typeface="Calibri" panose="020F0502020204030204" pitchFamily="34" charset="0"/>
                <a:cs typeface="Calibri" panose="020F0502020204030204" pitchFamily="34" charset="0"/>
              </a:rPr>
              <a:t>S</a:t>
            </a:r>
          </a:p>
          <a:p>
            <a:pPr algn="ctr"/>
            <a:r>
              <a:rPr lang="en-US" sz="1200" dirty="0">
                <a:latin typeface="Calibri" panose="020F0502020204030204" pitchFamily="34" charset="0"/>
                <a:cs typeface="Calibri" panose="020F0502020204030204" pitchFamily="34" charset="0"/>
              </a:rPr>
              <a:t>Strength</a:t>
            </a:r>
          </a:p>
        </p:txBody>
      </p:sp>
      <p:sp>
        <p:nvSpPr>
          <p:cNvPr id="12" name="Oval 11">
            <a:extLst>
              <a:ext uri="{FF2B5EF4-FFF2-40B4-BE49-F238E27FC236}">
                <a16:creationId xmlns:a16="http://schemas.microsoft.com/office/drawing/2014/main" id="{0B888A3E-3930-31D6-97F1-5E5C05EBD73D}"/>
              </a:ext>
            </a:extLst>
          </p:cNvPr>
          <p:cNvSpPr/>
          <p:nvPr/>
        </p:nvSpPr>
        <p:spPr>
          <a:xfrm>
            <a:off x="3256374" y="2337666"/>
            <a:ext cx="1622611" cy="149710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latin typeface="Calibri" panose="020F0502020204030204" pitchFamily="34" charset="0"/>
                <a:cs typeface="Calibri" panose="020F0502020204030204" pitchFamily="34" charset="0"/>
              </a:rPr>
              <a:t>W</a:t>
            </a:r>
          </a:p>
          <a:p>
            <a:pPr algn="ctr"/>
            <a:r>
              <a:rPr lang="en-US" sz="1200" dirty="0">
                <a:latin typeface="Calibri" panose="020F0502020204030204" pitchFamily="34" charset="0"/>
                <a:cs typeface="Calibri" panose="020F0502020204030204" pitchFamily="34" charset="0"/>
              </a:rPr>
              <a:t>Weakness</a:t>
            </a:r>
          </a:p>
        </p:txBody>
      </p:sp>
      <p:sp>
        <p:nvSpPr>
          <p:cNvPr id="13" name="Oval 12">
            <a:extLst>
              <a:ext uri="{FF2B5EF4-FFF2-40B4-BE49-F238E27FC236}">
                <a16:creationId xmlns:a16="http://schemas.microsoft.com/office/drawing/2014/main" id="{CE5BD245-5A03-E02D-98AF-81B3A6B9A813}"/>
              </a:ext>
            </a:extLst>
          </p:cNvPr>
          <p:cNvSpPr/>
          <p:nvPr/>
        </p:nvSpPr>
        <p:spPr>
          <a:xfrm>
            <a:off x="6306673" y="2337666"/>
            <a:ext cx="1622611" cy="149710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latin typeface="Calibri" panose="020F0502020204030204" pitchFamily="34" charset="0"/>
                <a:cs typeface="Calibri" panose="020F0502020204030204" pitchFamily="34" charset="0"/>
              </a:rPr>
              <a:t>O</a:t>
            </a:r>
          </a:p>
          <a:p>
            <a:pPr algn="ctr"/>
            <a:r>
              <a:rPr lang="en-US" sz="1200" dirty="0">
                <a:latin typeface="Calibri" panose="020F0502020204030204" pitchFamily="34" charset="0"/>
                <a:cs typeface="Calibri" panose="020F0502020204030204" pitchFamily="34" charset="0"/>
              </a:rPr>
              <a:t>Opportunities</a:t>
            </a:r>
          </a:p>
        </p:txBody>
      </p:sp>
      <p:sp>
        <p:nvSpPr>
          <p:cNvPr id="14" name="Oval 13">
            <a:extLst>
              <a:ext uri="{FF2B5EF4-FFF2-40B4-BE49-F238E27FC236}">
                <a16:creationId xmlns:a16="http://schemas.microsoft.com/office/drawing/2014/main" id="{BE989CF6-DDD6-02BF-2F95-DC330BFC4820}"/>
              </a:ext>
            </a:extLst>
          </p:cNvPr>
          <p:cNvSpPr/>
          <p:nvPr/>
        </p:nvSpPr>
        <p:spPr>
          <a:xfrm>
            <a:off x="9298535" y="2337666"/>
            <a:ext cx="1622611" cy="149710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latin typeface="Calibri" panose="020F0502020204030204" pitchFamily="34" charset="0"/>
                <a:cs typeface="Calibri" panose="020F0502020204030204" pitchFamily="34" charset="0"/>
              </a:rPr>
              <a:t>T</a:t>
            </a:r>
          </a:p>
          <a:p>
            <a:pPr algn="ctr"/>
            <a:r>
              <a:rPr lang="en-US" sz="1200" dirty="0">
                <a:latin typeface="Calibri" panose="020F0502020204030204" pitchFamily="34" charset="0"/>
                <a:cs typeface="Calibri" panose="020F0502020204030204" pitchFamily="34" charset="0"/>
              </a:rPr>
              <a:t>Threats</a:t>
            </a:r>
          </a:p>
        </p:txBody>
      </p:sp>
      <p:sp>
        <p:nvSpPr>
          <p:cNvPr id="15" name="Google Shape;250;p23">
            <a:extLst>
              <a:ext uri="{FF2B5EF4-FFF2-40B4-BE49-F238E27FC236}">
                <a16:creationId xmlns:a16="http://schemas.microsoft.com/office/drawing/2014/main" id="{61B92AB8-5218-F67C-CF98-7AC12B697652}"/>
              </a:ext>
            </a:extLst>
          </p:cNvPr>
          <p:cNvSpPr txBox="1"/>
          <p:nvPr/>
        </p:nvSpPr>
        <p:spPr>
          <a:xfrm>
            <a:off x="221828" y="896886"/>
            <a:ext cx="10497521" cy="83557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dirty="0">
                <a:solidFill>
                  <a:srgbClr val="0C0C0C"/>
                </a:solidFill>
                <a:latin typeface="Calibri"/>
                <a:ea typeface="Calibri"/>
                <a:cs typeface="Calibri"/>
                <a:sym typeface="Calibri"/>
              </a:rPr>
              <a:t>SWOT analysis is a strategic planning tool used to evaluate the Strengths, Weaknesses, Opportunities, and Threats of a business, project, or individual. It helps organizations understand internal capabilities and external challenges to make informed decisions.</a:t>
            </a:r>
          </a:p>
          <a:p>
            <a:pPr marL="0" marR="0" lvl="0" indent="0" algn="l" rtl="0">
              <a:lnSpc>
                <a:spcPct val="115000"/>
              </a:lnSpc>
              <a:spcBef>
                <a:spcPts val="0"/>
              </a:spcBef>
              <a:spcAft>
                <a:spcPts val="0"/>
              </a:spcAft>
              <a:buNone/>
            </a:pPr>
            <a:endParaRPr lang="en-US" dirty="0">
              <a:solidFill>
                <a:srgbClr val="0C0C0C"/>
              </a:solidFill>
              <a:latin typeface="Calibri"/>
              <a:ea typeface="Calibri"/>
              <a:cs typeface="Calibri"/>
              <a:sym typeface="Calibri"/>
            </a:endParaRPr>
          </a:p>
        </p:txBody>
      </p:sp>
      <p:sp>
        <p:nvSpPr>
          <p:cNvPr id="16" name="Rectangle 15">
            <a:extLst>
              <a:ext uri="{FF2B5EF4-FFF2-40B4-BE49-F238E27FC236}">
                <a16:creationId xmlns:a16="http://schemas.microsoft.com/office/drawing/2014/main" id="{D13002A5-31A3-0F67-C0C3-BC28045BA8FC}"/>
              </a:ext>
            </a:extLst>
          </p:cNvPr>
          <p:cNvSpPr/>
          <p:nvPr/>
        </p:nvSpPr>
        <p:spPr>
          <a:xfrm>
            <a:off x="-12133" y="3960833"/>
            <a:ext cx="2940424" cy="14079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en-US" dirty="0">
                <a:solidFill>
                  <a:schemeClr val="tx1"/>
                </a:solidFill>
                <a:latin typeface="Calibri" panose="020F0502020204030204" pitchFamily="34" charset="0"/>
                <a:cs typeface="Calibri" panose="020F0502020204030204" pitchFamily="34" charset="0"/>
              </a:rPr>
              <a:t>High Brand Awareness</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Global presence</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Strong technology platform</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Simple and user-friendly app</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Large user base</a:t>
            </a:r>
          </a:p>
        </p:txBody>
      </p:sp>
      <p:sp>
        <p:nvSpPr>
          <p:cNvPr id="17" name="Rectangle 16">
            <a:extLst>
              <a:ext uri="{FF2B5EF4-FFF2-40B4-BE49-F238E27FC236}">
                <a16:creationId xmlns:a16="http://schemas.microsoft.com/office/drawing/2014/main" id="{90CC839E-CF26-4BFF-5BC6-26A8693D2BFB}"/>
              </a:ext>
            </a:extLst>
          </p:cNvPr>
          <p:cNvSpPr/>
          <p:nvPr/>
        </p:nvSpPr>
        <p:spPr>
          <a:xfrm>
            <a:off x="2956333" y="3888543"/>
            <a:ext cx="2940424" cy="12571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en-US" dirty="0">
                <a:solidFill>
                  <a:schemeClr val="tx1"/>
                </a:solidFill>
                <a:latin typeface="Calibri" panose="020F0502020204030204" pitchFamily="34" charset="0"/>
                <a:cs typeface="Calibri" panose="020F0502020204030204" pitchFamily="34" charset="0"/>
              </a:rPr>
              <a:t>Dependance on single market</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High customer acquisition cost</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Cybersecurity Risk</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Other similar apps</a:t>
            </a:r>
          </a:p>
        </p:txBody>
      </p:sp>
      <p:sp>
        <p:nvSpPr>
          <p:cNvPr id="18" name="Rectangle 17">
            <a:extLst>
              <a:ext uri="{FF2B5EF4-FFF2-40B4-BE49-F238E27FC236}">
                <a16:creationId xmlns:a16="http://schemas.microsoft.com/office/drawing/2014/main" id="{E229375A-9045-9A55-99FE-6292E37ED708}"/>
              </a:ext>
            </a:extLst>
          </p:cNvPr>
          <p:cNvSpPr/>
          <p:nvPr/>
        </p:nvSpPr>
        <p:spPr>
          <a:xfrm>
            <a:off x="5974977" y="3825915"/>
            <a:ext cx="2940424" cy="13198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en-US" dirty="0">
                <a:solidFill>
                  <a:schemeClr val="tx1"/>
                </a:solidFill>
                <a:latin typeface="Calibri" panose="020F0502020204030204" pitchFamily="34" charset="0"/>
                <a:cs typeface="Calibri" panose="020F0502020204030204" pitchFamily="34" charset="0"/>
              </a:rPr>
              <a:t>Expand into new markets</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Partner with other businesses</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Develop new service areas</a:t>
            </a:r>
          </a:p>
        </p:txBody>
      </p:sp>
      <p:sp>
        <p:nvSpPr>
          <p:cNvPr id="19" name="Rectangle 18">
            <a:extLst>
              <a:ext uri="{FF2B5EF4-FFF2-40B4-BE49-F238E27FC236}">
                <a16:creationId xmlns:a16="http://schemas.microsoft.com/office/drawing/2014/main" id="{B7CF854D-3218-C671-5045-59AE94206FB5}"/>
              </a:ext>
            </a:extLst>
          </p:cNvPr>
          <p:cNvSpPr/>
          <p:nvPr/>
        </p:nvSpPr>
        <p:spPr>
          <a:xfrm>
            <a:off x="8944479" y="3810273"/>
            <a:ext cx="2940424" cy="13198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en-US" dirty="0">
                <a:solidFill>
                  <a:schemeClr val="tx1"/>
                </a:solidFill>
                <a:latin typeface="Calibri" panose="020F0502020204030204" pitchFamily="34" charset="0"/>
                <a:cs typeface="Calibri" panose="020F0502020204030204" pitchFamily="34" charset="0"/>
              </a:rPr>
              <a:t>Intense competition</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Technology disruption</a:t>
            </a:r>
          </a:p>
          <a:p>
            <a:pPr marL="285750" indent="-285750">
              <a:buFontTx/>
              <a:buChar char="-"/>
            </a:pPr>
            <a:r>
              <a:rPr lang="en-US" dirty="0">
                <a:solidFill>
                  <a:schemeClr val="tx1"/>
                </a:solidFill>
                <a:latin typeface="Calibri" panose="020F0502020204030204" pitchFamily="34" charset="0"/>
                <a:cs typeface="Calibri" panose="020F0502020204030204" pitchFamily="34" charset="0"/>
              </a:rPr>
              <a:t>Regulatory charges</a:t>
            </a:r>
          </a:p>
        </p:txBody>
      </p:sp>
      <p:cxnSp>
        <p:nvCxnSpPr>
          <p:cNvPr id="21" name="Straight Connector 20">
            <a:extLst>
              <a:ext uri="{FF2B5EF4-FFF2-40B4-BE49-F238E27FC236}">
                <a16:creationId xmlns:a16="http://schemas.microsoft.com/office/drawing/2014/main" id="{8AEA68AA-A8CC-009C-9F6D-0EE5AFB92E48}"/>
              </a:ext>
            </a:extLst>
          </p:cNvPr>
          <p:cNvCxnSpPr/>
          <p:nvPr/>
        </p:nvCxnSpPr>
        <p:spPr>
          <a:xfrm>
            <a:off x="2743200" y="2554943"/>
            <a:ext cx="0" cy="1091212"/>
          </a:xfrm>
          <a:prstGeom prst="line">
            <a:avLst/>
          </a:prstGeom>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A8D7157-FB81-4FCE-E6A3-649579379E16}"/>
              </a:ext>
            </a:extLst>
          </p:cNvPr>
          <p:cNvCxnSpPr/>
          <p:nvPr/>
        </p:nvCxnSpPr>
        <p:spPr>
          <a:xfrm>
            <a:off x="5540188" y="2544968"/>
            <a:ext cx="0" cy="1091212"/>
          </a:xfrm>
          <a:prstGeom prst="line">
            <a:avLst/>
          </a:prstGeom>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7F37ECA-80E5-0D0B-294A-57D75BA7B401}"/>
              </a:ext>
            </a:extLst>
          </p:cNvPr>
          <p:cNvCxnSpPr/>
          <p:nvPr/>
        </p:nvCxnSpPr>
        <p:spPr>
          <a:xfrm>
            <a:off x="8498541" y="2544968"/>
            <a:ext cx="0" cy="1091212"/>
          </a:xfrm>
          <a:prstGeom prst="line">
            <a:avLst/>
          </a:prstGeom>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500" fill="hold"/>
                                        <p:tgtEl>
                                          <p:spTgt spid="18"/>
                                        </p:tgtEl>
                                        <p:attrNameLst>
                                          <p:attrName>ppt_w</p:attrName>
                                        </p:attrNameLst>
                                      </p:cBhvr>
                                      <p:tavLst>
                                        <p:tav tm="0">
                                          <p:val>
                                            <p:fltVal val="0"/>
                                          </p:val>
                                        </p:tav>
                                        <p:tav tm="100000">
                                          <p:val>
                                            <p:strVal val="#ppt_w"/>
                                          </p:val>
                                        </p:tav>
                                      </p:tavLst>
                                    </p:anim>
                                    <p:anim calcmode="lin" valueType="num">
                                      <p:cBhvr>
                                        <p:cTn id="37" dur="500" fill="hold"/>
                                        <p:tgtEl>
                                          <p:spTgt spid="18"/>
                                        </p:tgtEl>
                                        <p:attrNameLst>
                                          <p:attrName>ppt_h</p:attrName>
                                        </p:attrNameLst>
                                      </p:cBhvr>
                                      <p:tavLst>
                                        <p:tav tm="0">
                                          <p:val>
                                            <p:fltVal val="0"/>
                                          </p:val>
                                        </p:tav>
                                        <p:tav tm="100000">
                                          <p:val>
                                            <p:strVal val="#ppt_h"/>
                                          </p:val>
                                        </p:tav>
                                      </p:tavLst>
                                    </p:anim>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fltVal val="0"/>
                                          </p:val>
                                        </p:tav>
                                        <p:tav tm="100000">
                                          <p:val>
                                            <p:strVal val="#ppt_w"/>
                                          </p:val>
                                        </p:tav>
                                      </p:tavLst>
                                    </p:anim>
                                    <p:anim calcmode="lin" valueType="num">
                                      <p:cBhvr>
                                        <p:cTn id="44" dur="500" fill="hold"/>
                                        <p:tgtEl>
                                          <p:spTgt spid="14"/>
                                        </p:tgtEl>
                                        <p:attrNameLst>
                                          <p:attrName>ppt_h</p:attrName>
                                        </p:attrNameLst>
                                      </p:cBhvr>
                                      <p:tavLst>
                                        <p:tav tm="0">
                                          <p:val>
                                            <p:fltVal val="0"/>
                                          </p:val>
                                        </p:tav>
                                        <p:tav tm="100000">
                                          <p:val>
                                            <p:strVal val="#ppt_h"/>
                                          </p:val>
                                        </p:tav>
                                      </p:tavLst>
                                    </p:anim>
                                    <p:animEffect transition="in" filter="fade">
                                      <p:cBhvr>
                                        <p:cTn id="45" dur="500"/>
                                        <p:tgtEl>
                                          <p:spTgt spid="1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p:cTn id="48" dur="500" fill="hold"/>
                                        <p:tgtEl>
                                          <p:spTgt spid="19"/>
                                        </p:tgtEl>
                                        <p:attrNameLst>
                                          <p:attrName>ppt_w</p:attrName>
                                        </p:attrNameLst>
                                      </p:cBhvr>
                                      <p:tavLst>
                                        <p:tav tm="0">
                                          <p:val>
                                            <p:fltVal val="0"/>
                                          </p:val>
                                        </p:tav>
                                        <p:tav tm="100000">
                                          <p:val>
                                            <p:strVal val="#ppt_w"/>
                                          </p:val>
                                        </p:tav>
                                      </p:tavLst>
                                    </p:anim>
                                    <p:anim calcmode="lin" valueType="num">
                                      <p:cBhvr>
                                        <p:cTn id="49" dur="500" fill="hold"/>
                                        <p:tgtEl>
                                          <p:spTgt spid="19"/>
                                        </p:tgtEl>
                                        <p:attrNameLst>
                                          <p:attrName>ppt_h</p:attrName>
                                        </p:attrNameLst>
                                      </p:cBhvr>
                                      <p:tavLst>
                                        <p:tav tm="0">
                                          <p:val>
                                            <p:fltVal val="0"/>
                                          </p:val>
                                        </p:tav>
                                        <p:tav tm="100000">
                                          <p:val>
                                            <p:strVal val="#ppt_h"/>
                                          </p:val>
                                        </p:tav>
                                      </p:tavLst>
                                    </p:anim>
                                    <p:animEffect transition="in" filter="fade">
                                      <p:cBhvr>
                                        <p:cTn id="5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6" grpId="0"/>
      <p:bldP spid="17" grpId="0"/>
      <p:bldP spid="18"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72BA3695-D7D5-2514-B1F6-F8F5EED0E510}"/>
            </a:ext>
          </a:extLst>
        </p:cNvPr>
        <p:cNvGrpSpPr/>
        <p:nvPr/>
      </p:nvGrpSpPr>
      <p:grpSpPr>
        <a:xfrm>
          <a:off x="0" y="0"/>
          <a:ext cx="0" cy="0"/>
          <a:chOff x="0" y="0"/>
          <a:chExt cx="0" cy="0"/>
        </a:xfrm>
      </p:grpSpPr>
      <p:sp>
        <p:nvSpPr>
          <p:cNvPr id="421" name="Google Shape;421;p27">
            <a:extLst>
              <a:ext uri="{FF2B5EF4-FFF2-40B4-BE49-F238E27FC236}">
                <a16:creationId xmlns:a16="http://schemas.microsoft.com/office/drawing/2014/main" id="{E421334C-07DD-38DE-E6DD-49C5B1D1BCEB}"/>
              </a:ext>
            </a:extLst>
          </p:cNvPr>
          <p:cNvSpPr txBox="1">
            <a:spLocks noGrp="1"/>
          </p:cNvSpPr>
          <p:nvPr>
            <p:ph type="title"/>
          </p:nvPr>
        </p:nvSpPr>
        <p:spPr>
          <a:xfrm>
            <a:off x="0" y="0"/>
            <a:ext cx="10515600" cy="494852"/>
          </a:xfrm>
        </p:spPr>
        <p:txBody>
          <a:bodyPr spcFirstLastPara="1" wrap="square" lIns="91425" tIns="45700" rIns="91425" bIns="45700" anchor="ctr" anchorCtr="0">
            <a:normAutofit/>
          </a:bodyPr>
          <a:lstStyle/>
          <a:p>
            <a:pPr marL="0" lvl="0" indent="0" rtl="0">
              <a:spcBef>
                <a:spcPts val="0"/>
              </a:spcBef>
              <a:spcAft>
                <a:spcPts val="0"/>
              </a:spcAft>
              <a:buClr>
                <a:schemeClr val="accent1"/>
              </a:buClr>
              <a:buSzPts val="3000"/>
              <a:buFont typeface="Poppins"/>
              <a:buNone/>
            </a:pPr>
            <a:r>
              <a:rPr lang="en-US" sz="1800" b="1"/>
              <a:t>Excel Data Analysis Zomato</a:t>
            </a:r>
            <a:endParaRPr lang="en-US" sz="1800" dirty="0"/>
          </a:p>
        </p:txBody>
      </p:sp>
      <p:pic>
        <p:nvPicPr>
          <p:cNvPr id="3" name="Picture 2">
            <a:extLst>
              <a:ext uri="{FF2B5EF4-FFF2-40B4-BE49-F238E27FC236}">
                <a16:creationId xmlns:a16="http://schemas.microsoft.com/office/drawing/2014/main" id="{BB3F8B20-F830-DDB8-A04E-AEC76FA9787A}"/>
              </a:ext>
            </a:extLst>
          </p:cNvPr>
          <p:cNvPicPr>
            <a:picLocks noChangeAspect="1"/>
          </p:cNvPicPr>
          <p:nvPr/>
        </p:nvPicPr>
        <p:blipFill>
          <a:blip r:embed="rId3"/>
          <a:stretch>
            <a:fillRect/>
          </a:stretch>
        </p:blipFill>
        <p:spPr>
          <a:xfrm>
            <a:off x="0" y="494852"/>
            <a:ext cx="12192000" cy="5728148"/>
          </a:xfrm>
          <a:prstGeom prst="rect">
            <a:avLst/>
          </a:prstGeom>
        </p:spPr>
      </p:pic>
    </p:spTree>
    <p:extLst>
      <p:ext uri="{BB962C8B-B14F-4D97-AF65-F5344CB8AC3E}">
        <p14:creationId xmlns:p14="http://schemas.microsoft.com/office/powerpoint/2010/main" val="3812376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1734E9B8-F4C6-11F8-49C7-39285BA189E1}"/>
            </a:ext>
          </a:extLst>
        </p:cNvPr>
        <p:cNvGrpSpPr/>
        <p:nvPr/>
      </p:nvGrpSpPr>
      <p:grpSpPr>
        <a:xfrm>
          <a:off x="0" y="0"/>
          <a:ext cx="0" cy="0"/>
          <a:chOff x="0" y="0"/>
          <a:chExt cx="0" cy="0"/>
        </a:xfrm>
      </p:grpSpPr>
      <p:sp>
        <p:nvSpPr>
          <p:cNvPr id="421" name="Google Shape;421;p27">
            <a:extLst>
              <a:ext uri="{FF2B5EF4-FFF2-40B4-BE49-F238E27FC236}">
                <a16:creationId xmlns:a16="http://schemas.microsoft.com/office/drawing/2014/main" id="{A41FEEA8-F909-6EC0-6EC4-EAD0FEDF108B}"/>
              </a:ext>
            </a:extLst>
          </p:cNvPr>
          <p:cNvSpPr txBox="1">
            <a:spLocks noGrp="1"/>
          </p:cNvSpPr>
          <p:nvPr>
            <p:ph type="title"/>
          </p:nvPr>
        </p:nvSpPr>
        <p:spPr>
          <a:xfrm>
            <a:off x="0" y="0"/>
            <a:ext cx="10515600" cy="494852"/>
          </a:xfrm>
        </p:spPr>
        <p:txBody>
          <a:bodyPr spcFirstLastPara="1" wrap="square" lIns="91425" tIns="45700" rIns="91425" bIns="45700" anchor="ctr" anchorCtr="0">
            <a:normAutofit/>
          </a:bodyPr>
          <a:lstStyle/>
          <a:p>
            <a:pPr marL="0" lvl="0" indent="0" rtl="0">
              <a:spcBef>
                <a:spcPts val="0"/>
              </a:spcBef>
              <a:spcAft>
                <a:spcPts val="0"/>
              </a:spcAft>
              <a:buClr>
                <a:schemeClr val="accent1"/>
              </a:buClr>
              <a:buSzPts val="3000"/>
              <a:buFont typeface="Poppins"/>
              <a:buNone/>
            </a:pPr>
            <a:r>
              <a:rPr lang="en-US" sz="1800" b="1" dirty="0"/>
              <a:t>Tableau Data Analysis Zomato</a:t>
            </a:r>
            <a:endParaRPr lang="en-US" sz="1800" dirty="0"/>
          </a:p>
        </p:txBody>
      </p:sp>
      <p:pic>
        <p:nvPicPr>
          <p:cNvPr id="1026" name="Picture 2" descr="A screenshot of a computer&#10;&#10;AI-generated content may be incorrect.">
            <a:extLst>
              <a:ext uri="{FF2B5EF4-FFF2-40B4-BE49-F238E27FC236}">
                <a16:creationId xmlns:a16="http://schemas.microsoft.com/office/drawing/2014/main" id="{01A7666C-9F57-BC6E-9B2F-1EC2F29A25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87" b="4238"/>
          <a:stretch/>
        </p:blipFill>
        <p:spPr bwMode="auto">
          <a:xfrm>
            <a:off x="0" y="390862"/>
            <a:ext cx="12192000" cy="6467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4300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2E12E625-EDDF-3A80-7DCB-47E07C1D6D49}"/>
            </a:ext>
          </a:extLst>
        </p:cNvPr>
        <p:cNvGrpSpPr/>
        <p:nvPr/>
      </p:nvGrpSpPr>
      <p:grpSpPr>
        <a:xfrm>
          <a:off x="0" y="0"/>
          <a:ext cx="0" cy="0"/>
          <a:chOff x="0" y="0"/>
          <a:chExt cx="0" cy="0"/>
        </a:xfrm>
      </p:grpSpPr>
      <p:pic>
        <p:nvPicPr>
          <p:cNvPr id="373" name="Google Shape;373;p27">
            <a:extLst>
              <a:ext uri="{FF2B5EF4-FFF2-40B4-BE49-F238E27FC236}">
                <a16:creationId xmlns:a16="http://schemas.microsoft.com/office/drawing/2014/main" id="{18E9985B-5CDF-777C-A675-B31F15D143A8}"/>
              </a:ext>
            </a:extLst>
          </p:cNvPr>
          <p:cNvPicPr preferRelativeResize="0"/>
          <p:nvPr/>
        </p:nvPicPr>
        <p:blipFill rotWithShape="1">
          <a:blip r:embed="rId3">
            <a:alphaModFix/>
          </a:blip>
          <a:srcRect/>
          <a:stretch/>
        </p:blipFill>
        <p:spPr>
          <a:xfrm rot="-605715">
            <a:off x="3718736" y="25285"/>
            <a:ext cx="124112" cy="97032"/>
          </a:xfrm>
          <a:prstGeom prst="rect">
            <a:avLst/>
          </a:prstGeom>
          <a:noFill/>
          <a:ln>
            <a:noFill/>
          </a:ln>
        </p:spPr>
      </p:pic>
      <p:sp>
        <p:nvSpPr>
          <p:cNvPr id="421" name="Google Shape;421;p27">
            <a:extLst>
              <a:ext uri="{FF2B5EF4-FFF2-40B4-BE49-F238E27FC236}">
                <a16:creationId xmlns:a16="http://schemas.microsoft.com/office/drawing/2014/main" id="{E6ABC056-5B62-211F-1512-95B03787D782}"/>
              </a:ext>
            </a:extLst>
          </p:cNvPr>
          <p:cNvSpPr txBox="1">
            <a:spLocks noGrp="1"/>
          </p:cNvSpPr>
          <p:nvPr>
            <p:ph type="title"/>
          </p:nvPr>
        </p:nvSpPr>
        <p:spPr>
          <a:xfrm>
            <a:off x="0" y="15158"/>
            <a:ext cx="9825318" cy="34159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1800" dirty="0"/>
              <a:t>Power BI</a:t>
            </a:r>
            <a:r>
              <a:rPr lang="en-US" sz="1800" b="1" dirty="0">
                <a:solidFill>
                  <a:schemeClr val="accent1"/>
                </a:solidFill>
                <a:latin typeface="Poppins"/>
                <a:ea typeface="Poppins"/>
                <a:cs typeface="Poppins"/>
                <a:sym typeface="Poppins"/>
              </a:rPr>
              <a:t> Data Analysis Zomato</a:t>
            </a:r>
            <a:endParaRPr sz="1800" dirty="0"/>
          </a:p>
        </p:txBody>
      </p:sp>
      <p:pic>
        <p:nvPicPr>
          <p:cNvPr id="3" name="Picture 2" descr="A screenshot of a computer">
            <a:extLst>
              <a:ext uri="{FF2B5EF4-FFF2-40B4-BE49-F238E27FC236}">
                <a16:creationId xmlns:a16="http://schemas.microsoft.com/office/drawing/2014/main" id="{A28796E4-4B06-6F10-A1B6-C2F63E88B00E}"/>
              </a:ext>
            </a:extLst>
          </p:cNvPr>
          <p:cNvPicPr>
            <a:picLocks noChangeAspect="1"/>
          </p:cNvPicPr>
          <p:nvPr/>
        </p:nvPicPr>
        <p:blipFill>
          <a:blip r:embed="rId4"/>
          <a:stretch>
            <a:fillRect/>
          </a:stretch>
        </p:blipFill>
        <p:spPr>
          <a:xfrm>
            <a:off x="0" y="429768"/>
            <a:ext cx="12192000" cy="6413074"/>
          </a:xfrm>
          <a:prstGeom prst="rect">
            <a:avLst/>
          </a:prstGeom>
        </p:spPr>
      </p:pic>
    </p:spTree>
    <p:extLst>
      <p:ext uri="{BB962C8B-B14F-4D97-AF65-F5344CB8AC3E}">
        <p14:creationId xmlns:p14="http://schemas.microsoft.com/office/powerpoint/2010/main" val="1801921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1">
          <a:extLst>
            <a:ext uri="{FF2B5EF4-FFF2-40B4-BE49-F238E27FC236}">
              <a16:creationId xmlns:a16="http://schemas.microsoft.com/office/drawing/2014/main" id="{125CDFE1-EBD9-6DE1-2FE6-2A74ECAEF0BA}"/>
            </a:ext>
          </a:extLst>
        </p:cNvPr>
        <p:cNvGrpSpPr/>
        <p:nvPr/>
      </p:nvGrpSpPr>
      <p:grpSpPr>
        <a:xfrm>
          <a:off x="0" y="0"/>
          <a:ext cx="0" cy="0"/>
          <a:chOff x="0" y="0"/>
          <a:chExt cx="0" cy="0"/>
        </a:xfrm>
      </p:grpSpPr>
      <p:pic>
        <p:nvPicPr>
          <p:cNvPr id="373" name="Google Shape;373;p27">
            <a:extLst>
              <a:ext uri="{FF2B5EF4-FFF2-40B4-BE49-F238E27FC236}">
                <a16:creationId xmlns:a16="http://schemas.microsoft.com/office/drawing/2014/main" id="{1C6E2114-16B8-AFE7-AE14-48861F7109A1}"/>
              </a:ext>
            </a:extLst>
          </p:cNvPr>
          <p:cNvPicPr preferRelativeResize="0"/>
          <p:nvPr/>
        </p:nvPicPr>
        <p:blipFill rotWithShape="1">
          <a:blip r:embed="rId3">
            <a:alphaModFix/>
          </a:blip>
          <a:srcRect/>
          <a:stretch/>
        </p:blipFill>
        <p:spPr>
          <a:xfrm rot="-605715">
            <a:off x="3718736" y="25285"/>
            <a:ext cx="124112" cy="97032"/>
          </a:xfrm>
          <a:prstGeom prst="rect">
            <a:avLst/>
          </a:prstGeom>
          <a:noFill/>
          <a:ln>
            <a:noFill/>
          </a:ln>
        </p:spPr>
      </p:pic>
      <p:sp>
        <p:nvSpPr>
          <p:cNvPr id="421" name="Google Shape;421;p27">
            <a:extLst>
              <a:ext uri="{FF2B5EF4-FFF2-40B4-BE49-F238E27FC236}">
                <a16:creationId xmlns:a16="http://schemas.microsoft.com/office/drawing/2014/main" id="{52BD7063-54D0-F230-E1EE-078283283C2E}"/>
              </a:ext>
            </a:extLst>
          </p:cNvPr>
          <p:cNvSpPr txBox="1">
            <a:spLocks noGrp="1"/>
          </p:cNvSpPr>
          <p:nvPr>
            <p:ph type="title"/>
          </p:nvPr>
        </p:nvSpPr>
        <p:spPr>
          <a:xfrm>
            <a:off x="0" y="15158"/>
            <a:ext cx="9825318" cy="34159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1800" b="1" dirty="0">
                <a:solidFill>
                  <a:schemeClr val="accent1"/>
                </a:solidFill>
                <a:latin typeface="Poppins"/>
                <a:ea typeface="Poppins"/>
                <a:cs typeface="Poppins"/>
                <a:sym typeface="Poppins"/>
              </a:rPr>
              <a:t>SQL Data Analysis Zomato</a:t>
            </a:r>
            <a:endParaRPr sz="1800" dirty="0"/>
          </a:p>
        </p:txBody>
      </p:sp>
      <p:pic>
        <p:nvPicPr>
          <p:cNvPr id="7" name="Picture 6" descr="A screenshot of a computer">
            <a:extLst>
              <a:ext uri="{FF2B5EF4-FFF2-40B4-BE49-F238E27FC236}">
                <a16:creationId xmlns:a16="http://schemas.microsoft.com/office/drawing/2014/main" id="{3E36C1FF-30BF-0412-A1F4-22DBE21C4C43}"/>
              </a:ext>
            </a:extLst>
          </p:cNvPr>
          <p:cNvPicPr>
            <a:picLocks noChangeAspect="1"/>
          </p:cNvPicPr>
          <p:nvPr/>
        </p:nvPicPr>
        <p:blipFill>
          <a:blip r:embed="rId4"/>
          <a:srcRect r="20822" b="6668"/>
          <a:stretch/>
        </p:blipFill>
        <p:spPr>
          <a:xfrm>
            <a:off x="2803532" y="419350"/>
            <a:ext cx="3348901" cy="2222538"/>
          </a:xfrm>
          <a:prstGeom prst="rect">
            <a:avLst/>
          </a:prstGeom>
          <a:ln w="3175">
            <a:solidFill>
              <a:schemeClr val="bg2"/>
            </a:solidFill>
          </a:ln>
        </p:spPr>
      </p:pic>
      <p:pic>
        <p:nvPicPr>
          <p:cNvPr id="9" name="Picture 8" descr="A screenshot of a computer">
            <a:extLst>
              <a:ext uri="{FF2B5EF4-FFF2-40B4-BE49-F238E27FC236}">
                <a16:creationId xmlns:a16="http://schemas.microsoft.com/office/drawing/2014/main" id="{5BA35539-BA48-691B-60FE-A1A979BA9142}"/>
              </a:ext>
            </a:extLst>
          </p:cNvPr>
          <p:cNvPicPr>
            <a:picLocks noChangeAspect="1"/>
          </p:cNvPicPr>
          <p:nvPr/>
        </p:nvPicPr>
        <p:blipFill>
          <a:blip r:embed="rId5"/>
          <a:srcRect r="10591"/>
          <a:stretch/>
        </p:blipFill>
        <p:spPr>
          <a:xfrm>
            <a:off x="9621994" y="419350"/>
            <a:ext cx="2509669" cy="2222537"/>
          </a:xfrm>
          <a:prstGeom prst="rect">
            <a:avLst/>
          </a:prstGeom>
          <a:ln w="3175">
            <a:solidFill>
              <a:schemeClr val="bg2"/>
            </a:solidFill>
          </a:ln>
        </p:spPr>
      </p:pic>
      <p:pic>
        <p:nvPicPr>
          <p:cNvPr id="11" name="Picture 10" descr="A screenshot of a computer program">
            <a:extLst>
              <a:ext uri="{FF2B5EF4-FFF2-40B4-BE49-F238E27FC236}">
                <a16:creationId xmlns:a16="http://schemas.microsoft.com/office/drawing/2014/main" id="{18910A8E-692C-989D-3289-311109BF68B7}"/>
              </a:ext>
            </a:extLst>
          </p:cNvPr>
          <p:cNvPicPr>
            <a:picLocks noChangeAspect="1"/>
          </p:cNvPicPr>
          <p:nvPr/>
        </p:nvPicPr>
        <p:blipFill>
          <a:blip r:embed="rId6"/>
          <a:srcRect r="27776"/>
          <a:stretch/>
        </p:blipFill>
        <p:spPr>
          <a:xfrm>
            <a:off x="6212763" y="419350"/>
            <a:ext cx="3348901" cy="2222537"/>
          </a:xfrm>
          <a:prstGeom prst="rect">
            <a:avLst/>
          </a:prstGeom>
          <a:ln w="3175">
            <a:solidFill>
              <a:schemeClr val="bg2"/>
            </a:solidFill>
          </a:ln>
        </p:spPr>
      </p:pic>
      <p:pic>
        <p:nvPicPr>
          <p:cNvPr id="13" name="Picture 12" descr="A screenshot of a computer">
            <a:extLst>
              <a:ext uri="{FF2B5EF4-FFF2-40B4-BE49-F238E27FC236}">
                <a16:creationId xmlns:a16="http://schemas.microsoft.com/office/drawing/2014/main" id="{8E362460-A7FE-D4A8-A7FB-A77701199C2E}"/>
              </a:ext>
            </a:extLst>
          </p:cNvPr>
          <p:cNvPicPr>
            <a:picLocks noChangeAspect="1"/>
          </p:cNvPicPr>
          <p:nvPr/>
        </p:nvPicPr>
        <p:blipFill>
          <a:blip r:embed="rId7"/>
          <a:srcRect r="5432"/>
          <a:stretch/>
        </p:blipFill>
        <p:spPr>
          <a:xfrm>
            <a:off x="4614530" y="2704487"/>
            <a:ext cx="4635305" cy="1734380"/>
          </a:xfrm>
          <a:prstGeom prst="rect">
            <a:avLst/>
          </a:prstGeom>
          <a:ln w="3175">
            <a:solidFill>
              <a:schemeClr val="bg2"/>
            </a:solidFill>
          </a:ln>
        </p:spPr>
      </p:pic>
      <p:pic>
        <p:nvPicPr>
          <p:cNvPr id="15" name="Picture 14" descr="A screenshot of a computer code">
            <a:extLst>
              <a:ext uri="{FF2B5EF4-FFF2-40B4-BE49-F238E27FC236}">
                <a16:creationId xmlns:a16="http://schemas.microsoft.com/office/drawing/2014/main" id="{CD2ABB43-01B5-AACA-73C4-E8848DC7DC89}"/>
              </a:ext>
            </a:extLst>
          </p:cNvPr>
          <p:cNvPicPr>
            <a:picLocks noChangeAspect="1"/>
          </p:cNvPicPr>
          <p:nvPr/>
        </p:nvPicPr>
        <p:blipFill>
          <a:blip r:embed="rId8"/>
          <a:stretch>
            <a:fillRect/>
          </a:stretch>
        </p:blipFill>
        <p:spPr>
          <a:xfrm>
            <a:off x="60334" y="2704488"/>
            <a:ext cx="4488237" cy="1734380"/>
          </a:xfrm>
          <a:prstGeom prst="rect">
            <a:avLst/>
          </a:prstGeom>
          <a:ln w="3175">
            <a:solidFill>
              <a:schemeClr val="bg2"/>
            </a:solidFill>
          </a:ln>
        </p:spPr>
      </p:pic>
      <p:pic>
        <p:nvPicPr>
          <p:cNvPr id="17" name="Picture 16" descr="A screenshot of a computer&#10;&#10;AI-generated content may be incorrect.">
            <a:extLst>
              <a:ext uri="{FF2B5EF4-FFF2-40B4-BE49-F238E27FC236}">
                <a16:creationId xmlns:a16="http://schemas.microsoft.com/office/drawing/2014/main" id="{A79C106B-1029-B614-2B66-FC714FB9EF70}"/>
              </a:ext>
            </a:extLst>
          </p:cNvPr>
          <p:cNvPicPr>
            <a:picLocks noChangeAspect="1"/>
          </p:cNvPicPr>
          <p:nvPr/>
        </p:nvPicPr>
        <p:blipFill>
          <a:blip r:embed="rId9"/>
          <a:srcRect r="14212" b="9423"/>
          <a:stretch/>
        </p:blipFill>
        <p:spPr>
          <a:xfrm>
            <a:off x="9315794" y="2704487"/>
            <a:ext cx="2815871" cy="1734379"/>
          </a:xfrm>
          <a:prstGeom prst="rect">
            <a:avLst/>
          </a:prstGeom>
          <a:ln w="3175">
            <a:solidFill>
              <a:schemeClr val="bg2"/>
            </a:solidFill>
          </a:ln>
        </p:spPr>
      </p:pic>
      <p:pic>
        <p:nvPicPr>
          <p:cNvPr id="2" name="Picture 1" descr="A screenshot of a computer program">
            <a:extLst>
              <a:ext uri="{FF2B5EF4-FFF2-40B4-BE49-F238E27FC236}">
                <a16:creationId xmlns:a16="http://schemas.microsoft.com/office/drawing/2014/main" id="{02EB9BAE-18DF-2BFF-AAC4-05697859F134}"/>
              </a:ext>
            </a:extLst>
          </p:cNvPr>
          <p:cNvPicPr>
            <a:picLocks noChangeAspect="1"/>
          </p:cNvPicPr>
          <p:nvPr/>
        </p:nvPicPr>
        <p:blipFill>
          <a:blip r:embed="rId10"/>
          <a:srcRect r="11891"/>
          <a:stretch/>
        </p:blipFill>
        <p:spPr>
          <a:xfrm>
            <a:off x="60334" y="400746"/>
            <a:ext cx="2682868" cy="2222538"/>
          </a:xfrm>
          <a:prstGeom prst="rect">
            <a:avLst/>
          </a:prstGeom>
          <a:ln w="3175">
            <a:solidFill>
              <a:schemeClr val="bg2">
                <a:lumMod val="95000"/>
                <a:lumOff val="5000"/>
              </a:schemeClr>
            </a:solidFill>
          </a:ln>
        </p:spPr>
      </p:pic>
      <p:pic>
        <p:nvPicPr>
          <p:cNvPr id="4" name="Picture 3" descr="A screenshot of a computer">
            <a:extLst>
              <a:ext uri="{FF2B5EF4-FFF2-40B4-BE49-F238E27FC236}">
                <a16:creationId xmlns:a16="http://schemas.microsoft.com/office/drawing/2014/main" id="{719C8E0A-9001-5EBD-8705-AA1EF565BFA6}"/>
              </a:ext>
            </a:extLst>
          </p:cNvPr>
          <p:cNvPicPr>
            <a:picLocks noChangeAspect="1"/>
          </p:cNvPicPr>
          <p:nvPr/>
        </p:nvPicPr>
        <p:blipFill>
          <a:blip r:embed="rId11"/>
          <a:stretch>
            <a:fillRect/>
          </a:stretch>
        </p:blipFill>
        <p:spPr>
          <a:xfrm>
            <a:off x="60334" y="4520072"/>
            <a:ext cx="6067030" cy="1642984"/>
          </a:xfrm>
          <a:prstGeom prst="rect">
            <a:avLst/>
          </a:prstGeom>
          <a:ln w="3175">
            <a:solidFill>
              <a:schemeClr val="tx1"/>
            </a:solidFill>
          </a:ln>
        </p:spPr>
      </p:pic>
      <p:pic>
        <p:nvPicPr>
          <p:cNvPr id="6" name="Picture 5" descr="A screenshot of a computer">
            <a:extLst>
              <a:ext uri="{FF2B5EF4-FFF2-40B4-BE49-F238E27FC236}">
                <a16:creationId xmlns:a16="http://schemas.microsoft.com/office/drawing/2014/main" id="{A3061C92-2AC1-9F57-BD10-AAAE4BA395ED}"/>
              </a:ext>
            </a:extLst>
          </p:cNvPr>
          <p:cNvPicPr>
            <a:picLocks noChangeAspect="1"/>
          </p:cNvPicPr>
          <p:nvPr/>
        </p:nvPicPr>
        <p:blipFill>
          <a:blip r:embed="rId12"/>
          <a:stretch>
            <a:fillRect/>
          </a:stretch>
        </p:blipFill>
        <p:spPr>
          <a:xfrm>
            <a:off x="6212763" y="4520072"/>
            <a:ext cx="3612555" cy="1642984"/>
          </a:xfrm>
          <a:prstGeom prst="rect">
            <a:avLst/>
          </a:prstGeom>
          <a:ln w="3175">
            <a:solidFill>
              <a:schemeClr val="tx1"/>
            </a:solidFill>
          </a:ln>
        </p:spPr>
      </p:pic>
    </p:spTree>
    <p:extLst>
      <p:ext uri="{BB962C8B-B14F-4D97-AF65-F5344CB8AC3E}">
        <p14:creationId xmlns:p14="http://schemas.microsoft.com/office/powerpoint/2010/main" val="324978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BAF90BAE-EE92-940E-1A35-187BB6C86CD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B225BAC-528A-4EEE-E786-247B64C975A9}"/>
              </a:ext>
            </a:extLst>
          </p:cNvPr>
          <p:cNvSpPr/>
          <p:nvPr/>
        </p:nvSpPr>
        <p:spPr>
          <a:xfrm>
            <a:off x="5928574" y="-4482"/>
            <a:ext cx="2675600" cy="6858000"/>
          </a:xfrm>
          <a:prstGeom prst="rect">
            <a:avLst/>
          </a:prstGeom>
          <a:blipFill dpi="0" rotWithShape="1">
            <a:blip r:embed="rId3">
              <a:duotone>
                <a:schemeClr val="accent1">
                  <a:shade val="45000"/>
                  <a:satMod val="135000"/>
                </a:schemeClr>
                <a:prstClr val="white"/>
              </a:duotone>
              <a:alphaModFix amt="35000"/>
              <a:extLst>
                <a:ext uri="{28A0092B-C50C-407E-A947-70E740481C1C}">
                  <a14:useLocalDpi xmlns:a14="http://schemas.microsoft.com/office/drawing/2010/main" val="0"/>
                </a:ext>
              </a:extLst>
            </a:blip>
            <a:srcRect/>
            <a:stretch>
              <a:fillRect l="-13429" r="-1121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0991678-3EDD-E2B5-D192-0F28FC7D3021}"/>
              </a:ext>
            </a:extLst>
          </p:cNvPr>
          <p:cNvSpPr/>
          <p:nvPr/>
        </p:nvSpPr>
        <p:spPr>
          <a:xfrm>
            <a:off x="3086759" y="-4482"/>
            <a:ext cx="2841815" cy="6858000"/>
          </a:xfrm>
          <a:prstGeom prst="rect">
            <a:avLst/>
          </a:prstGeom>
          <a:blipFill dpi="0" rotWithShape="1">
            <a:blip r:embed="rId4">
              <a:duotone>
                <a:schemeClr val="accent1">
                  <a:shade val="45000"/>
                  <a:satMod val="135000"/>
                </a:schemeClr>
                <a:prstClr val="white"/>
              </a:duotone>
              <a:alphaModFix amt="35000"/>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l="-17350" r="-1388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0006707-0E92-FDED-FBCA-E0E71222A81F}"/>
              </a:ext>
            </a:extLst>
          </p:cNvPr>
          <p:cNvSpPr/>
          <p:nvPr/>
        </p:nvSpPr>
        <p:spPr>
          <a:xfrm>
            <a:off x="-1" y="0"/>
            <a:ext cx="3092825" cy="6858000"/>
          </a:xfrm>
          <a:prstGeom prst="rect">
            <a:avLst/>
          </a:prstGeom>
          <a:blipFill dpi="0" rotWithShape="1">
            <a:blip r:embed="rId6">
              <a:duotone>
                <a:schemeClr val="accent1">
                  <a:shade val="45000"/>
                  <a:satMod val="135000"/>
                </a:schemeClr>
                <a:prstClr val="white"/>
              </a:duotone>
              <a:alphaModFix amt="35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2" name="Google Shape;132;p19">
            <a:extLst>
              <a:ext uri="{FF2B5EF4-FFF2-40B4-BE49-F238E27FC236}">
                <a16:creationId xmlns:a16="http://schemas.microsoft.com/office/drawing/2014/main" id="{7F17D536-41C2-BE88-4BD9-20CEC192F171}"/>
              </a:ext>
            </a:extLst>
          </p:cNvPr>
          <p:cNvPicPr preferRelativeResize="0"/>
          <p:nvPr/>
        </p:nvPicPr>
        <p:blipFill rotWithShape="1">
          <a:blip r:embed="rId7">
            <a:alphaModFix/>
          </a:blip>
          <a:srcRect/>
          <a:stretch/>
        </p:blipFill>
        <p:spPr>
          <a:xfrm>
            <a:off x="10422771" y="0"/>
            <a:ext cx="1544422" cy="774338"/>
          </a:xfrm>
          <a:prstGeom prst="rect">
            <a:avLst/>
          </a:prstGeom>
          <a:noFill/>
          <a:ln>
            <a:noFill/>
          </a:ln>
        </p:spPr>
      </p:pic>
      <p:sp>
        <p:nvSpPr>
          <p:cNvPr id="144" name="Google Shape;144;p19">
            <a:extLst>
              <a:ext uri="{FF2B5EF4-FFF2-40B4-BE49-F238E27FC236}">
                <a16:creationId xmlns:a16="http://schemas.microsoft.com/office/drawing/2014/main" id="{10BF64AD-1FC7-D6A4-69AF-77FD4AF817C9}"/>
              </a:ext>
            </a:extLst>
          </p:cNvPr>
          <p:cNvSpPr txBox="1">
            <a:spLocks noGrp="1"/>
          </p:cNvSpPr>
          <p:nvPr>
            <p:ph type="title"/>
          </p:nvPr>
        </p:nvSpPr>
        <p:spPr>
          <a:xfrm>
            <a:off x="3963375" y="1438167"/>
            <a:ext cx="4886980" cy="75709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accent1"/>
              </a:buClr>
              <a:buSzPts val="3000"/>
              <a:buFont typeface="Poppins"/>
              <a:buNone/>
            </a:pPr>
            <a:r>
              <a:rPr lang="en-US" sz="4800" b="1" dirty="0">
                <a:latin typeface="Poppins"/>
                <a:ea typeface="Poppins"/>
                <a:cs typeface="Poppins"/>
                <a:sym typeface="Poppins"/>
              </a:rPr>
              <a:t>Thank You!</a:t>
            </a:r>
            <a:endParaRPr sz="4800" dirty="0"/>
          </a:p>
        </p:txBody>
      </p:sp>
      <p:sp>
        <p:nvSpPr>
          <p:cNvPr id="17" name="Rectangle 16">
            <a:extLst>
              <a:ext uri="{FF2B5EF4-FFF2-40B4-BE49-F238E27FC236}">
                <a16:creationId xmlns:a16="http://schemas.microsoft.com/office/drawing/2014/main" id="{1FFE7170-E83F-96D5-43FC-238DDEFA2AEC}"/>
              </a:ext>
            </a:extLst>
          </p:cNvPr>
          <p:cNvSpPr/>
          <p:nvPr/>
        </p:nvSpPr>
        <p:spPr>
          <a:xfrm>
            <a:off x="8604174" y="4482"/>
            <a:ext cx="3587826" cy="6858000"/>
          </a:xfrm>
          <a:prstGeom prst="rect">
            <a:avLst/>
          </a:prstGeom>
          <a:blipFill dpi="0" rotWithShape="1">
            <a:blip r:embed="rId8">
              <a:duotone>
                <a:schemeClr val="accent1">
                  <a:shade val="45000"/>
                  <a:satMod val="135000"/>
                </a:schemeClr>
                <a:prstClr val="white"/>
              </a:duotone>
              <a:alphaModFix amt="35000"/>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282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randombar(horizontal)">
                                      <p:cBhvr>
                                        <p:cTn id="7"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p:bldLst>
  </p:timing>
</p:sld>
</file>

<file path=ppt/theme/theme1.xml><?xml version="1.0" encoding="utf-8"?>
<a:theme xmlns:a="http://schemas.openxmlformats.org/drawingml/2006/main" name="Office Theme">
  <a:themeElements>
    <a:clrScheme name="zomato">
      <a:dk1>
        <a:srgbClr val="000000"/>
      </a:dk1>
      <a:lt1>
        <a:srgbClr val="FFFFFF"/>
      </a:lt1>
      <a:dk2>
        <a:srgbClr val="000000"/>
      </a:dk2>
      <a:lt2>
        <a:srgbClr val="FFFFFF"/>
      </a:lt2>
      <a:accent1>
        <a:srgbClr val="CF142F"/>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6aeaee7-1dd3-447c-b847-acd05944d29f}" enabled="1" method="Privileged" siteId="{9b50c80f-103b-4433-a91c-b4b06c507387}" contentBits="0" removed="0"/>
</clbl:labelList>
</file>

<file path=docProps/app.xml><?xml version="1.0" encoding="utf-8"?>
<Properties xmlns="http://schemas.openxmlformats.org/officeDocument/2006/extended-properties" xmlns:vt="http://schemas.openxmlformats.org/officeDocument/2006/docPropsVTypes">
  <TotalTime>801</TotalTime>
  <Words>907</Words>
  <Application>Microsoft Office PowerPoint</Application>
  <PresentationFormat>Widescreen</PresentationFormat>
  <Paragraphs>140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Poppins</vt:lpstr>
      <vt:lpstr>Arial</vt:lpstr>
      <vt:lpstr>Office Theme</vt:lpstr>
      <vt:lpstr>Zomato Data Analysis </vt:lpstr>
      <vt:lpstr>Table Of Contents</vt:lpstr>
      <vt:lpstr>About Zomato</vt:lpstr>
      <vt:lpstr>Zomato Company Outline</vt:lpstr>
      <vt:lpstr>Timeline</vt:lpstr>
      <vt:lpstr>Zomato Social Media following</vt:lpstr>
      <vt:lpstr>Customer Centric Principles</vt:lpstr>
      <vt:lpstr>Competitors of Zomato</vt:lpstr>
      <vt:lpstr>Services Offered</vt:lpstr>
      <vt:lpstr>CSR Activities Zomato</vt:lpstr>
      <vt:lpstr>SWOT Analysis of Zomato</vt:lpstr>
      <vt:lpstr>Excel Data Analysis Zomato</vt:lpstr>
      <vt:lpstr>Tableau Data Analysis Zomato</vt:lpstr>
      <vt:lpstr>Power BI Data Analysis Zomato</vt:lpstr>
      <vt:lpstr>SQL Data Analysis Zomato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Saymin Shaikh (IN)</dc:creator>
  <cp:lastModifiedBy>MATEEN AMMARAH</cp:lastModifiedBy>
  <cp:revision>9</cp:revision>
  <dcterms:modified xsi:type="dcterms:W3CDTF">2025-07-24T07:34:23Z</dcterms:modified>
</cp:coreProperties>
</file>